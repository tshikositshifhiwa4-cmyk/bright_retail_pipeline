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7" r:id="rId11"/>
    <p:sldId id="272" r:id="rId12"/>
    <p:sldId id="274" r:id="rId13"/>
    <p:sldId id="276" r:id="rId14"/>
    <p:sldId id="278" r:id="rId15"/>
    <p:sldId id="280" r:id="rId16"/>
    <p:sldId id="28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390DB"/>
    <a:srgbClr val="E9EE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20" autoAdjust="0"/>
    <p:restoredTop sz="94248" autoAdjust="0"/>
  </p:normalViewPr>
  <p:slideViewPr>
    <p:cSldViewPr snapToGrid="0" snapToObjects="1">
      <p:cViewPr>
        <p:scale>
          <a:sx n="92" d="100"/>
          <a:sy n="92" d="100"/>
        </p:scale>
        <p:origin x="240" y="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21767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F016D-FF90-09A6-0273-AB880E6E94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3DA362-2922-0FFF-AA81-8E3C0D5935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B20623-9DF2-2E6A-2629-9459942EB2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8D11D0-A8D3-58DF-1BF4-CB17CB0712C4}"/>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2092022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F"/>
        </a:solidFill>
        <a:effectLst/>
      </p:bgPr>
    </p:bg>
    <p:spTree>
      <p:nvGrpSpPr>
        <p:cNvPr id="1" name=""/>
        <p:cNvGrpSpPr/>
        <p:nvPr/>
      </p:nvGrpSpPr>
      <p:grpSpPr>
        <a:xfrm>
          <a:off x="0" y="0"/>
          <a:ext cx="0" cy="0"/>
          <a:chOff x="0" y="0"/>
          <a:chExt cx="0" cy="0"/>
        </a:xfrm>
      </p:grpSpPr>
      <p:sp>
        <p:nvSpPr>
          <p:cNvPr id="2" name="Shape 0"/>
          <p:cNvSpPr/>
          <p:nvPr/>
        </p:nvSpPr>
        <p:spPr>
          <a:xfrm>
            <a:off x="0" y="3346548"/>
            <a:ext cx="12188952" cy="27432"/>
          </a:xfrm>
          <a:prstGeom prst="rect">
            <a:avLst/>
          </a:prstGeom>
          <a:solidFill>
            <a:srgbClr val="A78BFA"/>
          </a:solidFill>
          <a:ln/>
        </p:spPr>
        <p:txBody>
          <a:bodyPr/>
          <a:lstStyle/>
          <a:p>
            <a:endParaRPr lang="en-US"/>
          </a:p>
        </p:txBody>
      </p:sp>
      <p:sp>
        <p:nvSpPr>
          <p:cNvPr id="3" name="Text 1"/>
          <p:cNvSpPr/>
          <p:nvPr/>
        </p:nvSpPr>
        <p:spPr>
          <a:xfrm>
            <a:off x="706582" y="577735"/>
            <a:ext cx="9144000" cy="365760"/>
          </a:xfrm>
          <a:prstGeom prst="rect">
            <a:avLst/>
          </a:prstGeom>
          <a:noFill/>
          <a:ln/>
        </p:spPr>
        <p:txBody>
          <a:bodyPr wrap="square" lIns="0" tIns="0" rIns="0" bIns="0" rtlCol="0" anchor="ctr"/>
          <a:lstStyle/>
          <a:p>
            <a:pPr marL="0" indent="0">
              <a:buNone/>
            </a:pPr>
            <a:r>
              <a:rPr lang="en-US" sz="2400" b="1" kern="0" spc="300" dirty="0">
                <a:solidFill>
                  <a:srgbClr val="F472B6"/>
                </a:solidFill>
                <a:latin typeface="Consolas" pitchFamily="34" charset="0"/>
                <a:ea typeface="Consolas" pitchFamily="34" charset="-122"/>
                <a:cs typeface="Consolas" pitchFamily="34" charset="-120"/>
              </a:rPr>
              <a:t>EXAM PROJECT · DATA ENGINEERING</a:t>
            </a:r>
            <a:endParaRPr lang="en-US" sz="2400" dirty="0"/>
          </a:p>
        </p:txBody>
      </p:sp>
      <p:sp>
        <p:nvSpPr>
          <p:cNvPr id="4" name="Text 2"/>
          <p:cNvSpPr/>
          <p:nvPr/>
        </p:nvSpPr>
        <p:spPr>
          <a:xfrm>
            <a:off x="598516" y="1783236"/>
            <a:ext cx="10332720" cy="1188720"/>
          </a:xfrm>
          <a:prstGeom prst="rect">
            <a:avLst/>
          </a:prstGeom>
          <a:noFill/>
          <a:ln/>
        </p:spPr>
        <p:txBody>
          <a:bodyPr wrap="square" lIns="0" tIns="0" rIns="0" bIns="0" rtlCol="0" anchor="ctr"/>
          <a:lstStyle/>
          <a:p>
            <a:pPr marL="0" indent="0">
              <a:buNone/>
            </a:pPr>
            <a:r>
              <a:rPr lang="en-US" sz="4000" b="1" dirty="0">
                <a:solidFill>
                  <a:srgbClr val="E9ECF8"/>
                </a:solidFill>
                <a:latin typeface="Georgia" pitchFamily="34" charset="0"/>
                <a:ea typeface="Georgia" pitchFamily="34" charset="-122"/>
                <a:cs typeface="Georgia" pitchFamily="34" charset="-120"/>
              </a:rPr>
              <a:t>BrightLearn Data Warehouse Build</a:t>
            </a:r>
            <a:endParaRPr lang="en-US" sz="4000" dirty="0"/>
          </a:p>
        </p:txBody>
      </p:sp>
      <p:sp>
        <p:nvSpPr>
          <p:cNvPr id="5" name="Text 3"/>
          <p:cNvSpPr/>
          <p:nvPr/>
        </p:nvSpPr>
        <p:spPr>
          <a:xfrm>
            <a:off x="822960" y="4041544"/>
            <a:ext cx="9601200" cy="457200"/>
          </a:xfrm>
          <a:prstGeom prst="rect">
            <a:avLst/>
          </a:prstGeom>
          <a:noFill/>
          <a:ln/>
        </p:spPr>
        <p:txBody>
          <a:bodyPr wrap="square" lIns="0" tIns="0" rIns="0" bIns="0" rtlCol="0" anchor="ctr"/>
          <a:lstStyle/>
          <a:p>
            <a:pPr marL="0" indent="0">
              <a:buNone/>
            </a:pPr>
            <a:r>
              <a:rPr lang="en-US" sz="1500" i="1" dirty="0">
                <a:solidFill>
                  <a:srgbClr val="9098BD"/>
                </a:solidFill>
                <a:latin typeface="Georgia" pitchFamily="34" charset="0"/>
                <a:ea typeface="Georgia" pitchFamily="34" charset="-122"/>
                <a:cs typeface="Georgia" pitchFamily="34" charset="-120"/>
              </a:rPr>
              <a:t>A star-schema warehouse built from a single messy flat file, for a 5-store South African retail chain</a:t>
            </a:r>
            <a:endParaRPr lang="en-US" sz="1500" dirty="0"/>
          </a:p>
        </p:txBody>
      </p:sp>
      <p:sp>
        <p:nvSpPr>
          <p:cNvPr id="6" name="Text 4"/>
          <p:cNvSpPr/>
          <p:nvPr/>
        </p:nvSpPr>
        <p:spPr>
          <a:xfrm>
            <a:off x="822960" y="6035040"/>
            <a:ext cx="9144000" cy="365760"/>
          </a:xfrm>
          <a:prstGeom prst="rect">
            <a:avLst/>
          </a:prstGeom>
          <a:noFill/>
          <a:ln/>
        </p:spPr>
        <p:txBody>
          <a:bodyPr wrap="square" lIns="0" tIns="0" rIns="0" bIns="0" rtlCol="0" anchor="ctr"/>
          <a:lstStyle/>
          <a:p>
            <a:pPr marL="0" indent="0">
              <a:buNone/>
            </a:pPr>
            <a:r>
              <a:rPr lang="en-US" sz="1200" dirty="0">
                <a:solidFill>
                  <a:srgbClr val="9098BD"/>
                </a:solidFill>
                <a:latin typeface="Consolas" pitchFamily="34" charset="0"/>
                <a:ea typeface="Consolas" pitchFamily="34" charset="-122"/>
                <a:cs typeface="Consolas" pitchFamily="34" charset="-120"/>
              </a:rPr>
              <a:t>Tshifhiwa </a:t>
            </a:r>
            <a:r>
              <a:rPr lang="en-US" sz="1200" dirty="0" err="1">
                <a:solidFill>
                  <a:srgbClr val="9098BD"/>
                </a:solidFill>
                <a:latin typeface="Consolas" pitchFamily="34" charset="0"/>
                <a:ea typeface="Consolas" pitchFamily="34" charset="-122"/>
                <a:cs typeface="Consolas" pitchFamily="34" charset="-120"/>
              </a:rPr>
              <a:t>Tshikosi</a:t>
            </a:r>
            <a:r>
              <a:rPr lang="en-US" sz="1200" dirty="0">
                <a:solidFill>
                  <a:srgbClr val="9098BD"/>
                </a:solidFill>
                <a:latin typeface="Consolas" pitchFamily="34" charset="0"/>
                <a:ea typeface="Consolas" pitchFamily="34" charset="-122"/>
                <a:cs typeface="Consolas" pitchFamily="34" charset="-120"/>
              </a:rPr>
              <a:t>   </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lIns="0" tIns="0" rIns="0" bIns="0" rtlCol="0" anchor="ctr"/>
          <a:lstStyle/>
          <a:p>
            <a:pPr marL="0" indent="0">
              <a:buNone/>
            </a:pPr>
            <a:r>
              <a:rPr lang="en-US" sz="2400" b="1" kern="0" spc="200" dirty="0">
                <a:solidFill>
                  <a:srgbClr val="A78BFA"/>
                </a:solidFill>
                <a:latin typeface="Consolas" pitchFamily="34" charset="0"/>
                <a:ea typeface="Consolas" pitchFamily="34" charset="-122"/>
                <a:cs typeface="Consolas" pitchFamily="34" charset="-120"/>
              </a:rPr>
              <a:t>01 · THE BUSINESS</a:t>
            </a:r>
            <a:endParaRPr lang="en-US" sz="2400" dirty="0"/>
          </a:p>
        </p:txBody>
      </p:sp>
      <p:sp>
        <p:nvSpPr>
          <p:cNvPr id="3" name="Text 1"/>
          <p:cNvSpPr/>
          <p:nvPr/>
        </p:nvSpPr>
        <p:spPr>
          <a:xfrm>
            <a:off x="487680" y="905256"/>
            <a:ext cx="10972800" cy="731520"/>
          </a:xfrm>
          <a:prstGeom prst="rect">
            <a:avLst/>
          </a:prstGeom>
          <a:noFill/>
          <a:ln/>
        </p:spPr>
        <p:txBody>
          <a:bodyPr wrap="square" lIns="0" tIns="0" rIns="0" bIns="0" rtlCol="0" anchor="ctr"/>
          <a:lstStyle/>
          <a:p>
            <a:pPr marL="0" indent="0" algn="ctr">
              <a:buNone/>
            </a:pPr>
            <a:r>
              <a:rPr lang="en-US" sz="2700" b="1" dirty="0">
                <a:solidFill>
                  <a:srgbClr val="E9ECF8"/>
                </a:solidFill>
                <a:latin typeface="Georgia" pitchFamily="34" charset="0"/>
                <a:ea typeface="Georgia" pitchFamily="34" charset="-122"/>
                <a:cs typeface="Georgia" pitchFamily="34" charset="-120"/>
              </a:rPr>
              <a:t>Five stores, three loyalty tiers, one export problem</a:t>
            </a:r>
            <a:endParaRPr lang="en-US" sz="2700" dirty="0"/>
          </a:p>
        </p:txBody>
      </p:sp>
      <p:sp>
        <p:nvSpPr>
          <p:cNvPr id="5" name="Text 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9098BD"/>
                </a:solidFill>
                <a:latin typeface="Consolas" pitchFamily="34" charset="0"/>
                <a:ea typeface="Consolas" pitchFamily="34" charset="-122"/>
                <a:cs typeface="Consolas" pitchFamily="34" charset="-120"/>
              </a:rPr>
              <a:t>2</a:t>
            </a:r>
            <a:endParaRPr lang="en-US" sz="900" dirty="0"/>
          </a:p>
        </p:txBody>
      </p:sp>
      <p:sp>
        <p:nvSpPr>
          <p:cNvPr id="6" name="Text 4"/>
          <p:cNvSpPr/>
          <p:nvPr/>
        </p:nvSpPr>
        <p:spPr>
          <a:xfrm>
            <a:off x="304800" y="1965960"/>
            <a:ext cx="2743200" cy="274320"/>
          </a:xfrm>
          <a:prstGeom prst="rect">
            <a:avLst/>
          </a:prstGeom>
          <a:noFill/>
          <a:ln/>
        </p:spPr>
        <p:txBody>
          <a:bodyPr wrap="square" lIns="0" tIns="0" rIns="0" bIns="0" rtlCol="0" anchor="ctr"/>
          <a:lstStyle/>
          <a:p>
            <a:pPr marL="0" indent="0">
              <a:buNone/>
            </a:pPr>
            <a:r>
              <a:rPr lang="en-US" b="1" dirty="0">
                <a:solidFill>
                  <a:srgbClr val="60A5FA"/>
                </a:solidFill>
                <a:latin typeface="Consolas" pitchFamily="34" charset="0"/>
                <a:ea typeface="Consolas" pitchFamily="34" charset="-122"/>
                <a:cs typeface="Consolas" pitchFamily="34" charset="-120"/>
              </a:rPr>
              <a:t>STORES</a:t>
            </a:r>
            <a:endParaRPr lang="en-US" dirty="0"/>
          </a:p>
        </p:txBody>
      </p:sp>
      <p:sp>
        <p:nvSpPr>
          <p:cNvPr id="7" name="Shape 5"/>
          <p:cNvSpPr/>
          <p:nvPr/>
        </p:nvSpPr>
        <p:spPr>
          <a:xfrm>
            <a:off x="304800" y="2377440"/>
            <a:ext cx="4937760" cy="457200"/>
          </a:xfrm>
          <a:prstGeom prst="roundRect">
            <a:avLst>
              <a:gd name="adj" fmla="val 16000"/>
            </a:avLst>
          </a:prstGeom>
          <a:solidFill>
            <a:srgbClr val="141A33"/>
          </a:solidFill>
          <a:ln w="9525">
            <a:solidFill>
              <a:srgbClr val="A78BFA"/>
            </a:solidFill>
            <a:prstDash val="solid"/>
          </a:ln>
        </p:spPr>
        <p:txBody>
          <a:bodyPr/>
          <a:lstStyle/>
          <a:p>
            <a:endParaRPr lang="en-US"/>
          </a:p>
        </p:txBody>
      </p:sp>
      <p:sp>
        <p:nvSpPr>
          <p:cNvPr id="8" name="Text 6"/>
          <p:cNvSpPr/>
          <p:nvPr/>
        </p:nvSpPr>
        <p:spPr>
          <a:xfrm>
            <a:off x="487680" y="2377440"/>
            <a:ext cx="2377440" cy="457200"/>
          </a:xfrm>
          <a:prstGeom prst="rect">
            <a:avLst/>
          </a:prstGeom>
          <a:noFill/>
          <a:ln/>
        </p:spPr>
        <p:txBody>
          <a:bodyPr wrap="square" lIns="0" tIns="0" rIns="0" bIns="0" rtlCol="0" anchor="ctr"/>
          <a:lstStyle/>
          <a:p>
            <a:pPr marL="0" indent="0">
              <a:buNone/>
            </a:pPr>
            <a:r>
              <a:rPr lang="en-US" sz="1300" b="1" dirty="0">
                <a:solidFill>
                  <a:srgbClr val="E9ECF8"/>
                </a:solidFill>
                <a:latin typeface="Georgia" pitchFamily="34" charset="0"/>
                <a:ea typeface="Georgia" pitchFamily="34" charset="-122"/>
                <a:cs typeface="Georgia" pitchFamily="34" charset="-120"/>
              </a:rPr>
              <a:t>Sandton</a:t>
            </a:r>
            <a:endParaRPr lang="en-US" sz="1300" dirty="0"/>
          </a:p>
        </p:txBody>
      </p:sp>
      <p:sp>
        <p:nvSpPr>
          <p:cNvPr id="9" name="Text 7"/>
          <p:cNvSpPr/>
          <p:nvPr/>
        </p:nvSpPr>
        <p:spPr>
          <a:xfrm>
            <a:off x="2865120" y="2377440"/>
            <a:ext cx="2194560" cy="457200"/>
          </a:xfrm>
          <a:prstGeom prst="rect">
            <a:avLst/>
          </a:prstGeom>
          <a:noFill/>
          <a:ln/>
        </p:spPr>
        <p:txBody>
          <a:bodyPr wrap="square" lIns="0" tIns="0" rIns="0" bIns="0" rtlCol="0" anchor="ctr"/>
          <a:lstStyle/>
          <a:p>
            <a:pPr marL="0" indent="0" algn="r">
              <a:buNone/>
            </a:pPr>
            <a:r>
              <a:rPr lang="en-US" sz="1050" dirty="0">
                <a:solidFill>
                  <a:srgbClr val="9098BD"/>
                </a:solidFill>
                <a:latin typeface="Consolas" pitchFamily="34" charset="0"/>
                <a:ea typeface="Consolas" pitchFamily="34" charset="-122"/>
                <a:cs typeface="Consolas" pitchFamily="34" charset="-120"/>
              </a:rPr>
              <a:t>Gauteng</a:t>
            </a:r>
            <a:endParaRPr lang="en-US" sz="1050" dirty="0"/>
          </a:p>
        </p:txBody>
      </p:sp>
      <p:sp>
        <p:nvSpPr>
          <p:cNvPr id="10" name="Shape 8"/>
          <p:cNvSpPr/>
          <p:nvPr/>
        </p:nvSpPr>
        <p:spPr>
          <a:xfrm>
            <a:off x="304800" y="2944368"/>
            <a:ext cx="4937760" cy="457200"/>
          </a:xfrm>
          <a:prstGeom prst="roundRect">
            <a:avLst>
              <a:gd name="adj" fmla="val 16000"/>
            </a:avLst>
          </a:prstGeom>
          <a:solidFill>
            <a:srgbClr val="141A33"/>
          </a:solidFill>
          <a:ln w="9525">
            <a:solidFill>
              <a:srgbClr val="A78BFA"/>
            </a:solidFill>
            <a:prstDash val="solid"/>
          </a:ln>
        </p:spPr>
        <p:txBody>
          <a:bodyPr/>
          <a:lstStyle/>
          <a:p>
            <a:endParaRPr lang="en-US"/>
          </a:p>
        </p:txBody>
      </p:sp>
      <p:sp>
        <p:nvSpPr>
          <p:cNvPr id="11" name="Text 9"/>
          <p:cNvSpPr/>
          <p:nvPr/>
        </p:nvSpPr>
        <p:spPr>
          <a:xfrm>
            <a:off x="487680" y="2944368"/>
            <a:ext cx="2377440" cy="457200"/>
          </a:xfrm>
          <a:prstGeom prst="rect">
            <a:avLst/>
          </a:prstGeom>
          <a:noFill/>
          <a:ln/>
        </p:spPr>
        <p:txBody>
          <a:bodyPr wrap="square" lIns="0" tIns="0" rIns="0" bIns="0" rtlCol="0" anchor="ctr"/>
          <a:lstStyle/>
          <a:p>
            <a:pPr marL="0" indent="0">
              <a:buNone/>
            </a:pPr>
            <a:r>
              <a:rPr lang="en-US" sz="1300" b="1" dirty="0">
                <a:solidFill>
                  <a:srgbClr val="E9ECF8"/>
                </a:solidFill>
                <a:latin typeface="Georgia" pitchFamily="34" charset="0"/>
                <a:ea typeface="Georgia" pitchFamily="34" charset="-122"/>
                <a:cs typeface="Georgia" pitchFamily="34" charset="-120"/>
              </a:rPr>
              <a:t>Pretoria</a:t>
            </a:r>
            <a:endParaRPr lang="en-US" sz="1300" dirty="0"/>
          </a:p>
        </p:txBody>
      </p:sp>
      <p:sp>
        <p:nvSpPr>
          <p:cNvPr id="12" name="Text 10"/>
          <p:cNvSpPr/>
          <p:nvPr/>
        </p:nvSpPr>
        <p:spPr>
          <a:xfrm>
            <a:off x="2865120" y="2944368"/>
            <a:ext cx="2194560" cy="457200"/>
          </a:xfrm>
          <a:prstGeom prst="rect">
            <a:avLst/>
          </a:prstGeom>
          <a:noFill/>
          <a:ln/>
        </p:spPr>
        <p:txBody>
          <a:bodyPr wrap="square" lIns="0" tIns="0" rIns="0" bIns="0" rtlCol="0" anchor="ctr"/>
          <a:lstStyle/>
          <a:p>
            <a:pPr marL="0" indent="0" algn="r">
              <a:buNone/>
            </a:pPr>
            <a:r>
              <a:rPr lang="en-US" sz="1050" dirty="0">
                <a:solidFill>
                  <a:srgbClr val="9098BD"/>
                </a:solidFill>
                <a:latin typeface="Consolas" pitchFamily="34" charset="0"/>
                <a:ea typeface="Consolas" pitchFamily="34" charset="-122"/>
                <a:cs typeface="Consolas" pitchFamily="34" charset="-120"/>
              </a:rPr>
              <a:t>Gauteng</a:t>
            </a:r>
            <a:endParaRPr lang="en-US" sz="1050" dirty="0"/>
          </a:p>
        </p:txBody>
      </p:sp>
      <p:sp>
        <p:nvSpPr>
          <p:cNvPr id="13" name="Shape 11"/>
          <p:cNvSpPr/>
          <p:nvPr/>
        </p:nvSpPr>
        <p:spPr>
          <a:xfrm>
            <a:off x="304800" y="3511296"/>
            <a:ext cx="4937760" cy="457200"/>
          </a:xfrm>
          <a:prstGeom prst="roundRect">
            <a:avLst>
              <a:gd name="adj" fmla="val 16000"/>
            </a:avLst>
          </a:prstGeom>
          <a:solidFill>
            <a:srgbClr val="141A33"/>
          </a:solidFill>
          <a:ln w="9525">
            <a:solidFill>
              <a:srgbClr val="A78BFA"/>
            </a:solidFill>
            <a:prstDash val="solid"/>
          </a:ln>
        </p:spPr>
        <p:txBody>
          <a:bodyPr/>
          <a:lstStyle/>
          <a:p>
            <a:endParaRPr lang="en-US"/>
          </a:p>
        </p:txBody>
      </p:sp>
      <p:sp>
        <p:nvSpPr>
          <p:cNvPr id="14" name="Text 12"/>
          <p:cNvSpPr/>
          <p:nvPr/>
        </p:nvSpPr>
        <p:spPr>
          <a:xfrm>
            <a:off x="487680" y="3511296"/>
            <a:ext cx="2377440" cy="457200"/>
          </a:xfrm>
          <a:prstGeom prst="rect">
            <a:avLst/>
          </a:prstGeom>
          <a:noFill/>
          <a:ln/>
        </p:spPr>
        <p:txBody>
          <a:bodyPr wrap="square" lIns="0" tIns="0" rIns="0" bIns="0" rtlCol="0" anchor="ctr"/>
          <a:lstStyle/>
          <a:p>
            <a:pPr marL="0" indent="0">
              <a:buNone/>
            </a:pPr>
            <a:r>
              <a:rPr lang="en-US" sz="1300" b="1" dirty="0">
                <a:solidFill>
                  <a:srgbClr val="E9ECF8"/>
                </a:solidFill>
                <a:latin typeface="Georgia" pitchFamily="34" charset="0"/>
                <a:ea typeface="Georgia" pitchFamily="34" charset="-122"/>
                <a:cs typeface="Georgia" pitchFamily="34" charset="-120"/>
              </a:rPr>
              <a:t>Cape Town</a:t>
            </a:r>
            <a:endParaRPr lang="en-US" sz="1300" dirty="0"/>
          </a:p>
        </p:txBody>
      </p:sp>
      <p:sp>
        <p:nvSpPr>
          <p:cNvPr id="15" name="Text 13"/>
          <p:cNvSpPr/>
          <p:nvPr/>
        </p:nvSpPr>
        <p:spPr>
          <a:xfrm>
            <a:off x="2865120" y="3511296"/>
            <a:ext cx="2194560" cy="457200"/>
          </a:xfrm>
          <a:prstGeom prst="rect">
            <a:avLst/>
          </a:prstGeom>
          <a:noFill/>
          <a:ln/>
        </p:spPr>
        <p:txBody>
          <a:bodyPr wrap="square" lIns="0" tIns="0" rIns="0" bIns="0" rtlCol="0" anchor="ctr"/>
          <a:lstStyle/>
          <a:p>
            <a:pPr marL="0" indent="0" algn="r">
              <a:buNone/>
            </a:pPr>
            <a:r>
              <a:rPr lang="en-US" sz="1050" dirty="0">
                <a:solidFill>
                  <a:srgbClr val="9098BD"/>
                </a:solidFill>
                <a:latin typeface="Consolas" pitchFamily="34" charset="0"/>
                <a:ea typeface="Consolas" pitchFamily="34" charset="-122"/>
                <a:cs typeface="Consolas" pitchFamily="34" charset="-120"/>
              </a:rPr>
              <a:t>Western Cape</a:t>
            </a:r>
            <a:endParaRPr lang="en-US" sz="1050" dirty="0"/>
          </a:p>
        </p:txBody>
      </p:sp>
      <p:sp>
        <p:nvSpPr>
          <p:cNvPr id="16" name="Shape 14"/>
          <p:cNvSpPr/>
          <p:nvPr/>
        </p:nvSpPr>
        <p:spPr>
          <a:xfrm>
            <a:off x="304800" y="4078224"/>
            <a:ext cx="4937760" cy="457200"/>
          </a:xfrm>
          <a:prstGeom prst="roundRect">
            <a:avLst>
              <a:gd name="adj" fmla="val 16000"/>
            </a:avLst>
          </a:prstGeom>
          <a:solidFill>
            <a:srgbClr val="141A33"/>
          </a:solidFill>
          <a:ln w="9525">
            <a:solidFill>
              <a:srgbClr val="A78BFA"/>
            </a:solidFill>
            <a:prstDash val="solid"/>
          </a:ln>
        </p:spPr>
        <p:txBody>
          <a:bodyPr/>
          <a:lstStyle/>
          <a:p>
            <a:endParaRPr lang="en-US"/>
          </a:p>
        </p:txBody>
      </p:sp>
      <p:sp>
        <p:nvSpPr>
          <p:cNvPr id="17" name="Text 15"/>
          <p:cNvSpPr/>
          <p:nvPr/>
        </p:nvSpPr>
        <p:spPr>
          <a:xfrm>
            <a:off x="487680" y="4078224"/>
            <a:ext cx="2377440" cy="457200"/>
          </a:xfrm>
          <a:prstGeom prst="rect">
            <a:avLst/>
          </a:prstGeom>
          <a:noFill/>
          <a:ln/>
        </p:spPr>
        <p:txBody>
          <a:bodyPr wrap="square" lIns="0" tIns="0" rIns="0" bIns="0" rtlCol="0" anchor="ctr"/>
          <a:lstStyle/>
          <a:p>
            <a:pPr marL="0" indent="0">
              <a:buNone/>
            </a:pPr>
            <a:r>
              <a:rPr lang="en-US" sz="1300" b="1" dirty="0">
                <a:solidFill>
                  <a:srgbClr val="E9ECF8"/>
                </a:solidFill>
                <a:latin typeface="Georgia" pitchFamily="34" charset="0"/>
                <a:ea typeface="Georgia" pitchFamily="34" charset="-122"/>
                <a:cs typeface="Georgia" pitchFamily="34" charset="-120"/>
              </a:rPr>
              <a:t>Umhlanga</a:t>
            </a:r>
            <a:endParaRPr lang="en-US" sz="1300" dirty="0"/>
          </a:p>
        </p:txBody>
      </p:sp>
      <p:sp>
        <p:nvSpPr>
          <p:cNvPr id="18" name="Text 16"/>
          <p:cNvSpPr/>
          <p:nvPr/>
        </p:nvSpPr>
        <p:spPr>
          <a:xfrm>
            <a:off x="2865120" y="4078224"/>
            <a:ext cx="2194560" cy="457200"/>
          </a:xfrm>
          <a:prstGeom prst="rect">
            <a:avLst/>
          </a:prstGeom>
          <a:noFill/>
          <a:ln/>
        </p:spPr>
        <p:txBody>
          <a:bodyPr wrap="square" lIns="0" tIns="0" rIns="0" bIns="0" rtlCol="0" anchor="ctr"/>
          <a:lstStyle/>
          <a:p>
            <a:pPr marL="0" indent="0" algn="r">
              <a:buNone/>
            </a:pPr>
            <a:r>
              <a:rPr lang="en-US" sz="1050" dirty="0">
                <a:solidFill>
                  <a:srgbClr val="9098BD"/>
                </a:solidFill>
                <a:latin typeface="Consolas" pitchFamily="34" charset="0"/>
                <a:ea typeface="Consolas" pitchFamily="34" charset="-122"/>
                <a:cs typeface="Consolas" pitchFamily="34" charset="-120"/>
              </a:rPr>
              <a:t>KwaZulu-Natal</a:t>
            </a:r>
            <a:endParaRPr lang="en-US" sz="1050" dirty="0"/>
          </a:p>
        </p:txBody>
      </p:sp>
      <p:sp>
        <p:nvSpPr>
          <p:cNvPr id="19" name="Shape 17"/>
          <p:cNvSpPr/>
          <p:nvPr/>
        </p:nvSpPr>
        <p:spPr>
          <a:xfrm>
            <a:off x="304800" y="4645152"/>
            <a:ext cx="4937760" cy="457200"/>
          </a:xfrm>
          <a:prstGeom prst="roundRect">
            <a:avLst>
              <a:gd name="adj" fmla="val 16000"/>
            </a:avLst>
          </a:prstGeom>
          <a:solidFill>
            <a:srgbClr val="141A33"/>
          </a:solidFill>
          <a:ln w="9525">
            <a:solidFill>
              <a:srgbClr val="A78BFA"/>
            </a:solidFill>
            <a:prstDash val="solid"/>
          </a:ln>
        </p:spPr>
        <p:txBody>
          <a:bodyPr/>
          <a:lstStyle/>
          <a:p>
            <a:endParaRPr lang="en-US"/>
          </a:p>
        </p:txBody>
      </p:sp>
      <p:sp>
        <p:nvSpPr>
          <p:cNvPr id="20" name="Text 18"/>
          <p:cNvSpPr/>
          <p:nvPr/>
        </p:nvSpPr>
        <p:spPr>
          <a:xfrm>
            <a:off x="487680" y="4645152"/>
            <a:ext cx="2377440" cy="457200"/>
          </a:xfrm>
          <a:prstGeom prst="rect">
            <a:avLst/>
          </a:prstGeom>
          <a:noFill/>
          <a:ln/>
        </p:spPr>
        <p:txBody>
          <a:bodyPr wrap="square" lIns="0" tIns="0" rIns="0" bIns="0" rtlCol="0" anchor="ctr"/>
          <a:lstStyle/>
          <a:p>
            <a:pPr marL="0" indent="0">
              <a:buNone/>
            </a:pPr>
            <a:r>
              <a:rPr lang="en-US" sz="1300" b="1" dirty="0">
                <a:solidFill>
                  <a:srgbClr val="E9ECF8"/>
                </a:solidFill>
                <a:latin typeface="Georgia" pitchFamily="34" charset="0"/>
                <a:ea typeface="Georgia" pitchFamily="34" charset="-122"/>
                <a:cs typeface="Georgia" pitchFamily="34" charset="-120"/>
              </a:rPr>
              <a:t>Gqeberha</a:t>
            </a:r>
            <a:endParaRPr lang="en-US" sz="1300" dirty="0"/>
          </a:p>
        </p:txBody>
      </p:sp>
      <p:sp>
        <p:nvSpPr>
          <p:cNvPr id="21" name="Text 19"/>
          <p:cNvSpPr/>
          <p:nvPr/>
        </p:nvSpPr>
        <p:spPr>
          <a:xfrm>
            <a:off x="2865120" y="4645152"/>
            <a:ext cx="2194560" cy="457200"/>
          </a:xfrm>
          <a:prstGeom prst="rect">
            <a:avLst/>
          </a:prstGeom>
          <a:noFill/>
          <a:ln/>
        </p:spPr>
        <p:txBody>
          <a:bodyPr wrap="square" lIns="0" tIns="0" rIns="0" bIns="0" rtlCol="0" anchor="ctr"/>
          <a:lstStyle/>
          <a:p>
            <a:pPr marL="0" indent="0" algn="r">
              <a:buNone/>
            </a:pPr>
            <a:r>
              <a:rPr lang="en-US" sz="1050" dirty="0">
                <a:solidFill>
                  <a:srgbClr val="9098BD"/>
                </a:solidFill>
                <a:latin typeface="Consolas" pitchFamily="34" charset="0"/>
                <a:ea typeface="Consolas" pitchFamily="34" charset="-122"/>
                <a:cs typeface="Consolas" pitchFamily="34" charset="-120"/>
              </a:rPr>
              <a:t>Eastern Cape</a:t>
            </a:r>
            <a:endParaRPr lang="en-US" sz="1050" dirty="0"/>
          </a:p>
        </p:txBody>
      </p:sp>
      <p:sp>
        <p:nvSpPr>
          <p:cNvPr id="22" name="Text 20"/>
          <p:cNvSpPr/>
          <p:nvPr/>
        </p:nvSpPr>
        <p:spPr>
          <a:xfrm>
            <a:off x="6217920" y="1890730"/>
            <a:ext cx="3657600" cy="274320"/>
          </a:xfrm>
          <a:prstGeom prst="rect">
            <a:avLst/>
          </a:prstGeom>
          <a:noFill/>
          <a:ln/>
        </p:spPr>
        <p:txBody>
          <a:bodyPr wrap="square" lIns="0" tIns="0" rIns="0" bIns="0" rtlCol="0" anchor="ctr"/>
          <a:lstStyle/>
          <a:p>
            <a:pPr marL="0" indent="0">
              <a:buNone/>
            </a:pPr>
            <a:r>
              <a:rPr lang="en-US" sz="1600" b="1" dirty="0">
                <a:solidFill>
                  <a:srgbClr val="60A5FA"/>
                </a:solidFill>
                <a:latin typeface="Consolas" pitchFamily="34" charset="0"/>
                <a:ea typeface="Consolas" pitchFamily="34" charset="-122"/>
                <a:cs typeface="Consolas" pitchFamily="34" charset="-120"/>
              </a:rPr>
              <a:t>LOYALTY TIERS</a:t>
            </a:r>
            <a:endParaRPr lang="en-US" sz="1600" dirty="0"/>
          </a:p>
        </p:txBody>
      </p:sp>
      <p:sp>
        <p:nvSpPr>
          <p:cNvPr id="23" name="Shape 21"/>
          <p:cNvSpPr/>
          <p:nvPr/>
        </p:nvSpPr>
        <p:spPr>
          <a:xfrm>
            <a:off x="6096000" y="2329434"/>
            <a:ext cx="1645920" cy="822960"/>
          </a:xfrm>
          <a:prstGeom prst="roundRect">
            <a:avLst>
              <a:gd name="adj" fmla="val 11111"/>
            </a:avLst>
          </a:prstGeom>
          <a:solidFill>
            <a:srgbClr val="141A33"/>
          </a:solidFill>
          <a:ln w="15875">
            <a:solidFill>
              <a:srgbClr val="D99A6B"/>
            </a:solidFill>
            <a:prstDash val="solid"/>
          </a:ln>
        </p:spPr>
        <p:txBody>
          <a:bodyPr/>
          <a:lstStyle/>
          <a:p>
            <a:endParaRPr lang="en-US"/>
          </a:p>
        </p:txBody>
      </p:sp>
      <p:sp>
        <p:nvSpPr>
          <p:cNvPr id="24" name="Text 22"/>
          <p:cNvSpPr/>
          <p:nvPr/>
        </p:nvSpPr>
        <p:spPr>
          <a:xfrm>
            <a:off x="6096000" y="2329434"/>
            <a:ext cx="1645920" cy="822960"/>
          </a:xfrm>
          <a:prstGeom prst="rect">
            <a:avLst/>
          </a:prstGeom>
          <a:noFill/>
          <a:ln/>
        </p:spPr>
        <p:txBody>
          <a:bodyPr wrap="square" lIns="0" tIns="0" rIns="0" bIns="0" rtlCol="0" anchor="ctr"/>
          <a:lstStyle/>
          <a:p>
            <a:pPr marL="0" indent="0" algn="ctr">
              <a:buNone/>
            </a:pPr>
            <a:r>
              <a:rPr lang="en-US" sz="1500" b="1" dirty="0">
                <a:solidFill>
                  <a:srgbClr val="D99A6B"/>
                </a:solidFill>
                <a:latin typeface="Georgia" pitchFamily="34" charset="0"/>
                <a:ea typeface="Georgia" pitchFamily="34" charset="-122"/>
                <a:cs typeface="Georgia" pitchFamily="34" charset="-120"/>
              </a:rPr>
              <a:t>Bronze</a:t>
            </a:r>
            <a:endParaRPr lang="en-US" sz="1500" dirty="0"/>
          </a:p>
        </p:txBody>
      </p:sp>
      <p:sp>
        <p:nvSpPr>
          <p:cNvPr id="25" name="Shape 23"/>
          <p:cNvSpPr/>
          <p:nvPr/>
        </p:nvSpPr>
        <p:spPr>
          <a:xfrm>
            <a:off x="7924800" y="2329434"/>
            <a:ext cx="1645920" cy="822960"/>
          </a:xfrm>
          <a:prstGeom prst="roundRect">
            <a:avLst>
              <a:gd name="adj" fmla="val 11111"/>
            </a:avLst>
          </a:prstGeom>
          <a:solidFill>
            <a:srgbClr val="141A33"/>
          </a:solidFill>
          <a:ln w="15875">
            <a:solidFill>
              <a:srgbClr val="C9CEE0"/>
            </a:solidFill>
            <a:prstDash val="solid"/>
          </a:ln>
        </p:spPr>
        <p:txBody>
          <a:bodyPr/>
          <a:lstStyle/>
          <a:p>
            <a:endParaRPr lang="en-US"/>
          </a:p>
        </p:txBody>
      </p:sp>
      <p:sp>
        <p:nvSpPr>
          <p:cNvPr id="26" name="Text 24"/>
          <p:cNvSpPr/>
          <p:nvPr/>
        </p:nvSpPr>
        <p:spPr>
          <a:xfrm>
            <a:off x="7924800" y="2329434"/>
            <a:ext cx="1645920" cy="822960"/>
          </a:xfrm>
          <a:prstGeom prst="rect">
            <a:avLst/>
          </a:prstGeom>
          <a:noFill/>
          <a:ln/>
        </p:spPr>
        <p:txBody>
          <a:bodyPr wrap="square" lIns="0" tIns="0" rIns="0" bIns="0" rtlCol="0" anchor="ctr"/>
          <a:lstStyle/>
          <a:p>
            <a:pPr marL="0" indent="0" algn="ctr">
              <a:buNone/>
            </a:pPr>
            <a:r>
              <a:rPr lang="en-US" sz="1500" b="1" dirty="0">
                <a:solidFill>
                  <a:srgbClr val="C9CEE0"/>
                </a:solidFill>
                <a:latin typeface="Georgia" pitchFamily="34" charset="0"/>
                <a:ea typeface="Georgia" pitchFamily="34" charset="-122"/>
                <a:cs typeface="Georgia" pitchFamily="34" charset="-120"/>
              </a:rPr>
              <a:t>Silver</a:t>
            </a:r>
            <a:endParaRPr lang="en-US" sz="1500" dirty="0"/>
          </a:p>
        </p:txBody>
      </p:sp>
      <p:sp>
        <p:nvSpPr>
          <p:cNvPr id="27" name="Shape 25"/>
          <p:cNvSpPr/>
          <p:nvPr/>
        </p:nvSpPr>
        <p:spPr>
          <a:xfrm>
            <a:off x="9753600" y="2329434"/>
            <a:ext cx="1645920" cy="822960"/>
          </a:xfrm>
          <a:prstGeom prst="roundRect">
            <a:avLst>
              <a:gd name="adj" fmla="val 11111"/>
            </a:avLst>
          </a:prstGeom>
          <a:solidFill>
            <a:srgbClr val="141A33"/>
          </a:solidFill>
          <a:ln w="15875">
            <a:solidFill>
              <a:srgbClr val="FACC8F"/>
            </a:solidFill>
            <a:prstDash val="solid"/>
          </a:ln>
        </p:spPr>
        <p:txBody>
          <a:bodyPr/>
          <a:lstStyle/>
          <a:p>
            <a:endParaRPr lang="en-US"/>
          </a:p>
        </p:txBody>
      </p:sp>
      <p:sp>
        <p:nvSpPr>
          <p:cNvPr id="28" name="Text 26"/>
          <p:cNvSpPr/>
          <p:nvPr/>
        </p:nvSpPr>
        <p:spPr>
          <a:xfrm>
            <a:off x="9753600" y="2329434"/>
            <a:ext cx="1645920" cy="822960"/>
          </a:xfrm>
          <a:prstGeom prst="rect">
            <a:avLst/>
          </a:prstGeom>
          <a:noFill/>
          <a:ln/>
        </p:spPr>
        <p:txBody>
          <a:bodyPr wrap="square" lIns="0" tIns="0" rIns="0" bIns="0" rtlCol="0" anchor="ctr"/>
          <a:lstStyle/>
          <a:p>
            <a:pPr marL="0" indent="0" algn="ctr">
              <a:buNone/>
            </a:pPr>
            <a:r>
              <a:rPr lang="en-US" sz="1500" b="1" dirty="0">
                <a:solidFill>
                  <a:srgbClr val="FACC8F"/>
                </a:solidFill>
                <a:latin typeface="Georgia" pitchFamily="34" charset="0"/>
                <a:ea typeface="Georgia" pitchFamily="34" charset="-122"/>
                <a:cs typeface="Georgia" pitchFamily="34" charset="-120"/>
              </a:rPr>
              <a:t>Gold</a:t>
            </a:r>
            <a:endParaRPr lang="en-US" sz="1500" dirty="0"/>
          </a:p>
        </p:txBody>
      </p:sp>
      <p:sp>
        <p:nvSpPr>
          <p:cNvPr id="29" name="Text 27"/>
          <p:cNvSpPr/>
          <p:nvPr/>
        </p:nvSpPr>
        <p:spPr>
          <a:xfrm>
            <a:off x="6156960" y="3968496"/>
            <a:ext cx="5303520" cy="1828800"/>
          </a:xfrm>
          <a:prstGeom prst="rect">
            <a:avLst/>
          </a:prstGeom>
          <a:noFill/>
          <a:ln/>
        </p:spPr>
        <p:txBody>
          <a:bodyPr wrap="square" lIns="0" tIns="0" rIns="0" bIns="0" rtlCol="0" anchor="t"/>
          <a:lstStyle/>
          <a:p>
            <a:pPr marL="0" indent="0">
              <a:buNone/>
            </a:pPr>
            <a:r>
              <a:rPr lang="en-US" sz="2000" b="1" dirty="0">
                <a:solidFill>
                  <a:srgbClr val="F472B6"/>
                </a:solidFill>
                <a:latin typeface="Georgia" pitchFamily="34" charset="0"/>
                <a:ea typeface="Georgia" pitchFamily="34" charset="-122"/>
                <a:cs typeface="Georgia" pitchFamily="34" charset="-120"/>
              </a:rPr>
              <a:t>The business problem:  </a:t>
            </a:r>
          </a:p>
          <a:p>
            <a:pPr marL="0" indent="0">
              <a:buNone/>
            </a:pPr>
            <a:r>
              <a:rPr lang="en-US" sz="1300" dirty="0">
                <a:solidFill>
                  <a:srgbClr val="9098BD"/>
                </a:solidFill>
                <a:latin typeface="Georgia" pitchFamily="34" charset="0"/>
                <a:ea typeface="Georgia" pitchFamily="34" charset="-122"/>
                <a:cs typeface="Georgia" pitchFamily="34" charset="-120"/>
              </a:rPr>
              <a:t>each store runs its own POS system, exporting all sales data as a single flat file, transactions, customers, products, and stores mixed together, with no normalisation and known data quality issues.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lIns="0" tIns="0" rIns="0" bIns="0" rtlCol="0" anchor="ctr"/>
          <a:lstStyle/>
          <a:p>
            <a:pPr marL="0" indent="0">
              <a:buNone/>
            </a:pPr>
            <a:r>
              <a:rPr lang="en-US" sz="2400" b="1" kern="0" spc="200" dirty="0">
                <a:solidFill>
                  <a:srgbClr val="A78BFA"/>
                </a:solidFill>
                <a:latin typeface="Consolas" pitchFamily="34" charset="0"/>
                <a:ea typeface="Consolas" pitchFamily="34" charset="-122"/>
                <a:cs typeface="Consolas" pitchFamily="34" charset="-120"/>
              </a:rPr>
              <a:t>02 · ARCHITECTURE</a:t>
            </a:r>
            <a:endParaRPr lang="en-US" sz="2400" dirty="0"/>
          </a:p>
        </p:txBody>
      </p:sp>
      <p:sp>
        <p:nvSpPr>
          <p:cNvPr id="3" name="Text 1"/>
          <p:cNvSpPr/>
          <p:nvPr/>
        </p:nvSpPr>
        <p:spPr>
          <a:xfrm>
            <a:off x="548640" y="658368"/>
            <a:ext cx="10972800" cy="731520"/>
          </a:xfrm>
          <a:prstGeom prst="rect">
            <a:avLst/>
          </a:prstGeom>
          <a:noFill/>
          <a:ln/>
        </p:spPr>
        <p:txBody>
          <a:bodyPr wrap="square" lIns="0" tIns="0" rIns="0" bIns="0" rtlCol="0" anchor="ctr"/>
          <a:lstStyle/>
          <a:p>
            <a:pPr marL="0" indent="0">
              <a:buNone/>
            </a:pPr>
            <a:r>
              <a:rPr lang="en-US" sz="2700" b="1" dirty="0">
                <a:solidFill>
                  <a:srgbClr val="E9ECF8"/>
                </a:solidFill>
                <a:latin typeface="Georgia" pitchFamily="34" charset="0"/>
                <a:ea typeface="Georgia" pitchFamily="34" charset="-122"/>
                <a:cs typeface="Georgia" pitchFamily="34" charset="-120"/>
              </a:rPr>
              <a:t>Bronze, Silver, Gold</a:t>
            </a:r>
            <a:endParaRPr lang="en-US" sz="2700" dirty="0"/>
          </a:p>
        </p:txBody>
      </p:sp>
      <p:sp>
        <p:nvSpPr>
          <p:cNvPr id="4" name="Text 2"/>
          <p:cNvSpPr/>
          <p:nvPr/>
        </p:nvSpPr>
        <p:spPr>
          <a:xfrm>
            <a:off x="548640" y="1234440"/>
            <a:ext cx="9144000" cy="320040"/>
          </a:xfrm>
          <a:prstGeom prst="rect">
            <a:avLst/>
          </a:prstGeom>
          <a:noFill/>
          <a:ln/>
        </p:spPr>
        <p:txBody>
          <a:bodyPr wrap="square" lIns="0" tIns="0" rIns="0" bIns="0" rtlCol="0" anchor="ctr"/>
          <a:lstStyle/>
          <a:p>
            <a:pPr marL="0" indent="0">
              <a:buNone/>
            </a:pPr>
            <a:r>
              <a:rPr lang="en-US" sz="1300" i="1" dirty="0">
                <a:solidFill>
                  <a:srgbClr val="9098BD"/>
                </a:solidFill>
                <a:latin typeface="Georgia" pitchFamily="34" charset="0"/>
                <a:ea typeface="Georgia" pitchFamily="34" charset="-122"/>
                <a:cs typeface="Georgia" pitchFamily="34" charset="-120"/>
              </a:rPr>
              <a:t>A medallion pipeline: raw load, then clean, then warehouse-ready</a:t>
            </a:r>
            <a:endParaRPr lang="en-US" sz="1300" dirty="0"/>
          </a:p>
        </p:txBody>
      </p:sp>
      <p:sp>
        <p:nvSpPr>
          <p:cNvPr id="6" name="Text 4"/>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9098BD"/>
                </a:solidFill>
                <a:latin typeface="Consolas" pitchFamily="34" charset="0"/>
                <a:ea typeface="Consolas" pitchFamily="34" charset="-122"/>
                <a:cs typeface="Consolas" pitchFamily="34" charset="-120"/>
              </a:rPr>
              <a:t>3</a:t>
            </a:r>
            <a:endParaRPr lang="en-US" sz="900" dirty="0"/>
          </a:p>
        </p:txBody>
      </p:sp>
      <p:sp>
        <p:nvSpPr>
          <p:cNvPr id="7" name="Shape 5"/>
          <p:cNvSpPr/>
          <p:nvPr/>
        </p:nvSpPr>
        <p:spPr>
          <a:xfrm>
            <a:off x="548640" y="1874520"/>
            <a:ext cx="11064240" cy="1417320"/>
          </a:xfrm>
          <a:prstGeom prst="roundRect">
            <a:avLst>
              <a:gd name="adj" fmla="val 6452"/>
            </a:avLst>
          </a:prstGeom>
          <a:solidFill>
            <a:srgbClr val="141A33"/>
          </a:solidFill>
          <a:ln w="15875">
            <a:solidFill>
              <a:srgbClr val="D99A6B"/>
            </a:solidFill>
            <a:prstDash val="solid"/>
          </a:ln>
        </p:spPr>
        <p:txBody>
          <a:bodyPr/>
          <a:lstStyle/>
          <a:p>
            <a:endParaRPr lang="en-US"/>
          </a:p>
        </p:txBody>
      </p:sp>
      <p:sp>
        <p:nvSpPr>
          <p:cNvPr id="8" name="Shape 6"/>
          <p:cNvSpPr/>
          <p:nvPr/>
        </p:nvSpPr>
        <p:spPr>
          <a:xfrm>
            <a:off x="548640" y="1874520"/>
            <a:ext cx="109728" cy="1417320"/>
          </a:xfrm>
          <a:prstGeom prst="rect">
            <a:avLst/>
          </a:prstGeom>
          <a:solidFill>
            <a:srgbClr val="D99A6B"/>
          </a:solidFill>
          <a:ln/>
        </p:spPr>
        <p:txBody>
          <a:bodyPr/>
          <a:lstStyle/>
          <a:p>
            <a:endParaRPr lang="en-US"/>
          </a:p>
        </p:txBody>
      </p:sp>
      <p:sp>
        <p:nvSpPr>
          <p:cNvPr id="9" name="Text 7"/>
          <p:cNvSpPr/>
          <p:nvPr/>
        </p:nvSpPr>
        <p:spPr>
          <a:xfrm>
            <a:off x="914400" y="1984248"/>
            <a:ext cx="2743200" cy="365760"/>
          </a:xfrm>
          <a:prstGeom prst="rect">
            <a:avLst/>
          </a:prstGeom>
          <a:noFill/>
          <a:ln/>
        </p:spPr>
        <p:txBody>
          <a:bodyPr wrap="square" lIns="0" tIns="0" rIns="0" bIns="0" rtlCol="0" anchor="ctr"/>
          <a:lstStyle/>
          <a:p>
            <a:pPr marL="0" indent="0">
              <a:buNone/>
            </a:pPr>
            <a:r>
              <a:rPr lang="en-US" sz="1800" b="1" dirty="0">
                <a:solidFill>
                  <a:srgbClr val="D99A6B"/>
                </a:solidFill>
                <a:latin typeface="Georgia" pitchFamily="34" charset="0"/>
                <a:ea typeface="Georgia" pitchFamily="34" charset="-122"/>
                <a:cs typeface="Georgia" pitchFamily="34" charset="-120"/>
              </a:rPr>
              <a:t>BRONZE</a:t>
            </a:r>
            <a:endParaRPr lang="en-US" sz="1800" dirty="0"/>
          </a:p>
        </p:txBody>
      </p:sp>
      <p:sp>
        <p:nvSpPr>
          <p:cNvPr id="10" name="Text 8"/>
          <p:cNvSpPr/>
          <p:nvPr/>
        </p:nvSpPr>
        <p:spPr>
          <a:xfrm>
            <a:off x="914400" y="2377440"/>
            <a:ext cx="5486400" cy="274320"/>
          </a:xfrm>
          <a:prstGeom prst="rect">
            <a:avLst/>
          </a:prstGeom>
          <a:noFill/>
          <a:ln/>
        </p:spPr>
        <p:txBody>
          <a:bodyPr wrap="square" lIns="0" tIns="0" rIns="0" bIns="0" rtlCol="0" anchor="ctr"/>
          <a:lstStyle/>
          <a:p>
            <a:pPr marL="0" indent="0">
              <a:buNone/>
            </a:pPr>
            <a:r>
              <a:rPr lang="en-US" sz="1050" i="1" dirty="0">
                <a:solidFill>
                  <a:srgbClr val="9098BD"/>
                </a:solidFill>
                <a:latin typeface="Georgia" pitchFamily="34" charset="0"/>
                <a:ea typeface="Georgia" pitchFamily="34" charset="-122"/>
                <a:cs typeface="Georgia" pitchFamily="34" charset="-120"/>
              </a:rPr>
              <a:t>raw CSV, no transformation</a:t>
            </a:r>
            <a:endParaRPr lang="en-US" sz="1050" dirty="0"/>
          </a:p>
        </p:txBody>
      </p:sp>
      <p:sp>
        <p:nvSpPr>
          <p:cNvPr id="11" name="Text 9"/>
          <p:cNvSpPr/>
          <p:nvPr/>
        </p:nvSpPr>
        <p:spPr>
          <a:xfrm>
            <a:off x="914400" y="2697480"/>
            <a:ext cx="10332720" cy="502920"/>
          </a:xfrm>
          <a:prstGeom prst="rect">
            <a:avLst/>
          </a:prstGeom>
          <a:noFill/>
          <a:ln/>
        </p:spPr>
        <p:txBody>
          <a:bodyPr wrap="square" lIns="0" tIns="0" rIns="0" bIns="0" rtlCol="0" anchor="ctr"/>
          <a:lstStyle/>
          <a:p>
            <a:pPr marL="0" indent="0">
              <a:buNone/>
            </a:pPr>
            <a:r>
              <a:rPr lang="en-US" sz="900" dirty="0">
                <a:solidFill>
                  <a:srgbClr val="E9ECF8"/>
                </a:solidFill>
                <a:latin typeface="Consolas" pitchFamily="34" charset="0"/>
                <a:ea typeface="Consolas" pitchFamily="34" charset="-122"/>
                <a:cs typeface="Consolas" pitchFamily="34" charset="-120"/>
              </a:rPr>
              <a:t>bright_retail_raw_data  ·  dim_store  ·  dim_customer  ·  dim_product  ·  dim_supplier  ·  dim_cashier  ·  dim_payment</a:t>
            </a:r>
            <a:endParaRPr lang="en-US" sz="900" dirty="0"/>
          </a:p>
        </p:txBody>
      </p:sp>
      <p:sp>
        <p:nvSpPr>
          <p:cNvPr id="12" name="Shape 10"/>
          <p:cNvSpPr/>
          <p:nvPr/>
        </p:nvSpPr>
        <p:spPr>
          <a:xfrm>
            <a:off x="548640" y="3429000"/>
            <a:ext cx="11064240" cy="1417320"/>
          </a:xfrm>
          <a:prstGeom prst="roundRect">
            <a:avLst>
              <a:gd name="adj" fmla="val 6452"/>
            </a:avLst>
          </a:prstGeom>
          <a:solidFill>
            <a:srgbClr val="141A33"/>
          </a:solidFill>
          <a:ln w="15875">
            <a:solidFill>
              <a:srgbClr val="C9CEE0"/>
            </a:solidFill>
            <a:prstDash val="solid"/>
          </a:ln>
        </p:spPr>
        <p:txBody>
          <a:bodyPr/>
          <a:lstStyle/>
          <a:p>
            <a:endParaRPr lang="en-US"/>
          </a:p>
        </p:txBody>
      </p:sp>
      <p:sp>
        <p:nvSpPr>
          <p:cNvPr id="13" name="Shape 11"/>
          <p:cNvSpPr/>
          <p:nvPr/>
        </p:nvSpPr>
        <p:spPr>
          <a:xfrm>
            <a:off x="548640" y="3429000"/>
            <a:ext cx="109728" cy="1417320"/>
          </a:xfrm>
          <a:prstGeom prst="rect">
            <a:avLst/>
          </a:prstGeom>
          <a:solidFill>
            <a:srgbClr val="C9CEE0"/>
          </a:solidFill>
          <a:ln/>
        </p:spPr>
        <p:txBody>
          <a:bodyPr/>
          <a:lstStyle/>
          <a:p>
            <a:endParaRPr lang="en-US"/>
          </a:p>
        </p:txBody>
      </p:sp>
      <p:sp>
        <p:nvSpPr>
          <p:cNvPr id="14" name="Text 12"/>
          <p:cNvSpPr/>
          <p:nvPr/>
        </p:nvSpPr>
        <p:spPr>
          <a:xfrm>
            <a:off x="914400" y="3538728"/>
            <a:ext cx="2743200" cy="365760"/>
          </a:xfrm>
          <a:prstGeom prst="rect">
            <a:avLst/>
          </a:prstGeom>
          <a:noFill/>
          <a:ln/>
        </p:spPr>
        <p:txBody>
          <a:bodyPr wrap="square" lIns="0" tIns="0" rIns="0" bIns="0" rtlCol="0" anchor="ctr"/>
          <a:lstStyle/>
          <a:p>
            <a:pPr marL="0" indent="0">
              <a:buNone/>
            </a:pPr>
            <a:r>
              <a:rPr lang="en-US" sz="1800" b="1" dirty="0">
                <a:solidFill>
                  <a:srgbClr val="C9CEE0"/>
                </a:solidFill>
                <a:latin typeface="Georgia" pitchFamily="34" charset="0"/>
                <a:ea typeface="Georgia" pitchFamily="34" charset="-122"/>
                <a:cs typeface="Georgia" pitchFamily="34" charset="-120"/>
              </a:rPr>
              <a:t>SILVER</a:t>
            </a:r>
            <a:endParaRPr lang="en-US" sz="1800" dirty="0"/>
          </a:p>
        </p:txBody>
      </p:sp>
      <p:sp>
        <p:nvSpPr>
          <p:cNvPr id="15" name="Text 13"/>
          <p:cNvSpPr/>
          <p:nvPr/>
        </p:nvSpPr>
        <p:spPr>
          <a:xfrm>
            <a:off x="914400" y="3931920"/>
            <a:ext cx="5486400" cy="274320"/>
          </a:xfrm>
          <a:prstGeom prst="rect">
            <a:avLst/>
          </a:prstGeom>
          <a:noFill/>
          <a:ln/>
        </p:spPr>
        <p:txBody>
          <a:bodyPr wrap="square" lIns="0" tIns="0" rIns="0" bIns="0" rtlCol="0" anchor="ctr"/>
          <a:lstStyle/>
          <a:p>
            <a:pPr marL="0" indent="0">
              <a:buNone/>
            </a:pPr>
            <a:r>
              <a:rPr lang="en-US" sz="1050" i="1" dirty="0">
                <a:solidFill>
                  <a:srgbClr val="9098BD"/>
                </a:solidFill>
                <a:latin typeface="Georgia" pitchFamily="34" charset="0"/>
                <a:ea typeface="Georgia" pitchFamily="34" charset="-122"/>
                <a:cs typeface="Georgia" pitchFamily="34" charset="-120"/>
              </a:rPr>
              <a:t>deduplicated, standardised, blanks resolved</a:t>
            </a:r>
            <a:endParaRPr lang="en-US" sz="1050" dirty="0"/>
          </a:p>
        </p:txBody>
      </p:sp>
      <p:sp>
        <p:nvSpPr>
          <p:cNvPr id="16" name="Text 14"/>
          <p:cNvSpPr/>
          <p:nvPr/>
        </p:nvSpPr>
        <p:spPr>
          <a:xfrm>
            <a:off x="914400" y="4251960"/>
            <a:ext cx="10332720" cy="502920"/>
          </a:xfrm>
          <a:prstGeom prst="rect">
            <a:avLst/>
          </a:prstGeom>
          <a:noFill/>
          <a:ln/>
        </p:spPr>
        <p:txBody>
          <a:bodyPr wrap="square" lIns="0" tIns="0" rIns="0" bIns="0" rtlCol="0" anchor="ctr"/>
          <a:lstStyle/>
          <a:p>
            <a:pPr marL="0" indent="0">
              <a:buNone/>
            </a:pPr>
            <a:r>
              <a:rPr lang="en-US" sz="900" dirty="0">
                <a:solidFill>
                  <a:srgbClr val="E9ECF8"/>
                </a:solidFill>
                <a:latin typeface="Consolas" pitchFamily="34" charset="0"/>
                <a:ea typeface="Consolas" pitchFamily="34" charset="-122"/>
                <a:cs typeface="Consolas" pitchFamily="34" charset="-120"/>
              </a:rPr>
              <a:t>clean_store  ·  clean_customer  ·  clean_product  ·  clean_supplier  ·  clean_cashier  ·  clean_payment  ·  clean_date</a:t>
            </a:r>
            <a:endParaRPr lang="en-US" sz="900" dirty="0"/>
          </a:p>
        </p:txBody>
      </p:sp>
      <p:sp>
        <p:nvSpPr>
          <p:cNvPr id="17" name="Shape 15"/>
          <p:cNvSpPr/>
          <p:nvPr/>
        </p:nvSpPr>
        <p:spPr>
          <a:xfrm>
            <a:off x="548640" y="4983480"/>
            <a:ext cx="11064240" cy="1417320"/>
          </a:xfrm>
          <a:prstGeom prst="roundRect">
            <a:avLst>
              <a:gd name="adj" fmla="val 6452"/>
            </a:avLst>
          </a:prstGeom>
          <a:solidFill>
            <a:srgbClr val="141A33"/>
          </a:solidFill>
          <a:ln w="15875">
            <a:solidFill>
              <a:srgbClr val="FACC8F"/>
            </a:solidFill>
            <a:prstDash val="solid"/>
          </a:ln>
        </p:spPr>
        <p:txBody>
          <a:bodyPr/>
          <a:lstStyle/>
          <a:p>
            <a:endParaRPr lang="en-US"/>
          </a:p>
        </p:txBody>
      </p:sp>
      <p:sp>
        <p:nvSpPr>
          <p:cNvPr id="18" name="Shape 16"/>
          <p:cNvSpPr/>
          <p:nvPr/>
        </p:nvSpPr>
        <p:spPr>
          <a:xfrm>
            <a:off x="548640" y="4983480"/>
            <a:ext cx="109728" cy="1417320"/>
          </a:xfrm>
          <a:prstGeom prst="rect">
            <a:avLst/>
          </a:prstGeom>
          <a:solidFill>
            <a:srgbClr val="FACC8F"/>
          </a:solidFill>
          <a:ln/>
        </p:spPr>
        <p:txBody>
          <a:bodyPr/>
          <a:lstStyle/>
          <a:p>
            <a:endParaRPr lang="en-US"/>
          </a:p>
        </p:txBody>
      </p:sp>
      <p:sp>
        <p:nvSpPr>
          <p:cNvPr id="19" name="Text 17"/>
          <p:cNvSpPr/>
          <p:nvPr/>
        </p:nvSpPr>
        <p:spPr>
          <a:xfrm>
            <a:off x="914400" y="5093208"/>
            <a:ext cx="2743200" cy="365760"/>
          </a:xfrm>
          <a:prstGeom prst="rect">
            <a:avLst/>
          </a:prstGeom>
          <a:noFill/>
          <a:ln/>
        </p:spPr>
        <p:txBody>
          <a:bodyPr wrap="square" lIns="0" tIns="0" rIns="0" bIns="0" rtlCol="0" anchor="ctr"/>
          <a:lstStyle/>
          <a:p>
            <a:pPr marL="0" indent="0">
              <a:buNone/>
            </a:pPr>
            <a:r>
              <a:rPr lang="en-US" sz="1800" b="1" dirty="0">
                <a:solidFill>
                  <a:srgbClr val="FACC8F"/>
                </a:solidFill>
                <a:latin typeface="Georgia" pitchFamily="34" charset="0"/>
                <a:ea typeface="Georgia" pitchFamily="34" charset="-122"/>
                <a:cs typeface="Georgia" pitchFamily="34" charset="-120"/>
              </a:rPr>
              <a:t>GOLD</a:t>
            </a:r>
            <a:endParaRPr lang="en-US" sz="1800" dirty="0"/>
          </a:p>
        </p:txBody>
      </p:sp>
      <p:sp>
        <p:nvSpPr>
          <p:cNvPr id="20" name="Text 18"/>
          <p:cNvSpPr/>
          <p:nvPr/>
        </p:nvSpPr>
        <p:spPr>
          <a:xfrm>
            <a:off x="914400" y="5486400"/>
            <a:ext cx="5486400" cy="274320"/>
          </a:xfrm>
          <a:prstGeom prst="rect">
            <a:avLst/>
          </a:prstGeom>
          <a:noFill/>
          <a:ln/>
        </p:spPr>
        <p:txBody>
          <a:bodyPr wrap="square" lIns="0" tIns="0" rIns="0" bIns="0" rtlCol="0" anchor="ctr"/>
          <a:lstStyle/>
          <a:p>
            <a:pPr marL="0" indent="0">
              <a:buNone/>
            </a:pPr>
            <a:r>
              <a:rPr lang="en-US" sz="1050" i="1" dirty="0">
                <a:solidFill>
                  <a:srgbClr val="9098BD"/>
                </a:solidFill>
                <a:latin typeface="Georgia" pitchFamily="34" charset="0"/>
                <a:ea typeface="Georgia" pitchFamily="34" charset="-122"/>
                <a:cs typeface="Georgia" pitchFamily="34" charset="-120"/>
              </a:rPr>
              <a:t> reporting-ready</a:t>
            </a:r>
            <a:endParaRPr lang="en-US" sz="1050" dirty="0"/>
          </a:p>
        </p:txBody>
      </p:sp>
      <p:sp>
        <p:nvSpPr>
          <p:cNvPr id="21" name="Text 19"/>
          <p:cNvSpPr/>
          <p:nvPr/>
        </p:nvSpPr>
        <p:spPr>
          <a:xfrm>
            <a:off x="914400" y="5806440"/>
            <a:ext cx="10332720" cy="502920"/>
          </a:xfrm>
          <a:prstGeom prst="rect">
            <a:avLst/>
          </a:prstGeom>
          <a:noFill/>
          <a:ln/>
        </p:spPr>
        <p:txBody>
          <a:bodyPr wrap="square" lIns="0" tIns="0" rIns="0" bIns="0" rtlCol="0" anchor="ctr"/>
          <a:lstStyle/>
          <a:p>
            <a:pPr marL="0" indent="0">
              <a:buNone/>
            </a:pPr>
            <a:r>
              <a:rPr lang="en-US" sz="900" dirty="0">
                <a:solidFill>
                  <a:srgbClr val="E9ECF8"/>
                </a:solidFill>
                <a:latin typeface="Consolas" pitchFamily="34" charset="0"/>
                <a:ea typeface="Consolas" pitchFamily="34" charset="-122"/>
                <a:cs typeface="Consolas" pitchFamily="34" charset="-120"/>
              </a:rPr>
              <a:t>dwh_store  ·  dwh_customer  ·  dwh_product  ·  dwh_supplier  ·  dwh_cashier  ·  dwh_payment  ·  dwh_date  ·  dwh_fact_sales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1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lIns="0" tIns="0" rIns="0" bIns="0" rtlCol="0" anchor="ctr"/>
          <a:lstStyle/>
          <a:p>
            <a:pPr marL="0" indent="0">
              <a:buNone/>
            </a:pPr>
            <a:r>
              <a:rPr lang="en-US" sz="2400" b="1" kern="0" spc="200" dirty="0">
                <a:solidFill>
                  <a:srgbClr val="A78BFA"/>
                </a:solidFill>
                <a:latin typeface="Consolas" pitchFamily="34" charset="0"/>
                <a:ea typeface="Consolas" pitchFamily="34" charset="-122"/>
                <a:cs typeface="Consolas" pitchFamily="34" charset="-120"/>
              </a:rPr>
              <a:t>03 · DIMENSIONAL MODEL</a:t>
            </a:r>
            <a:endParaRPr lang="en-US" sz="2400" dirty="0"/>
          </a:p>
        </p:txBody>
      </p:sp>
      <p:sp>
        <p:nvSpPr>
          <p:cNvPr id="3" name="Text 1"/>
          <p:cNvSpPr/>
          <p:nvPr/>
        </p:nvSpPr>
        <p:spPr>
          <a:xfrm>
            <a:off x="548640" y="658368"/>
            <a:ext cx="10972800" cy="731520"/>
          </a:xfrm>
          <a:prstGeom prst="rect">
            <a:avLst/>
          </a:prstGeom>
          <a:noFill/>
          <a:ln/>
        </p:spPr>
        <p:txBody>
          <a:bodyPr wrap="square" lIns="0" tIns="0" rIns="0" bIns="0" rtlCol="0" anchor="ctr"/>
          <a:lstStyle/>
          <a:p>
            <a:pPr marL="0" indent="0" algn="ctr">
              <a:buNone/>
            </a:pPr>
            <a:r>
              <a:rPr lang="en-US" sz="2700" b="1" dirty="0">
                <a:solidFill>
                  <a:srgbClr val="E9ECF8"/>
                </a:solidFill>
                <a:latin typeface="Georgia" pitchFamily="34" charset="0"/>
                <a:ea typeface="Georgia" pitchFamily="34" charset="-122"/>
                <a:cs typeface="Georgia" pitchFamily="34" charset="-120"/>
              </a:rPr>
              <a:t>A star schema</a:t>
            </a:r>
            <a:endParaRPr lang="en-US" sz="2700" dirty="0"/>
          </a:p>
        </p:txBody>
      </p:sp>
      <p:sp>
        <p:nvSpPr>
          <p:cNvPr id="5" name="Text 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9098BD"/>
                </a:solidFill>
                <a:latin typeface="Consolas" pitchFamily="34" charset="0"/>
                <a:ea typeface="Consolas" pitchFamily="34" charset="-122"/>
                <a:cs typeface="Consolas" pitchFamily="34" charset="-120"/>
              </a:rPr>
              <a:t>4</a:t>
            </a:r>
            <a:endParaRPr lang="en-US" sz="900" dirty="0"/>
          </a:p>
        </p:txBody>
      </p:sp>
      <p:sp>
        <p:nvSpPr>
          <p:cNvPr id="6" name="Shape 4"/>
          <p:cNvSpPr/>
          <p:nvPr/>
        </p:nvSpPr>
        <p:spPr>
          <a:xfrm>
            <a:off x="4892040" y="3312622"/>
            <a:ext cx="2286000" cy="548640"/>
          </a:xfrm>
          <a:prstGeom prst="roundRect">
            <a:avLst>
              <a:gd name="adj" fmla="val 20000"/>
            </a:avLst>
          </a:prstGeom>
          <a:solidFill>
            <a:srgbClr val="141A33"/>
          </a:solidFill>
          <a:ln w="19050">
            <a:solidFill>
              <a:srgbClr val="F472B6"/>
            </a:solidFill>
            <a:prstDash val="solid"/>
          </a:ln>
        </p:spPr>
        <p:txBody>
          <a:bodyPr/>
          <a:lstStyle/>
          <a:p>
            <a:endParaRPr lang="en-US"/>
          </a:p>
        </p:txBody>
      </p:sp>
      <p:sp>
        <p:nvSpPr>
          <p:cNvPr id="7" name="Text 5"/>
          <p:cNvSpPr/>
          <p:nvPr/>
        </p:nvSpPr>
        <p:spPr>
          <a:xfrm>
            <a:off x="4878185" y="3279995"/>
            <a:ext cx="2286000" cy="548640"/>
          </a:xfrm>
          <a:prstGeom prst="rect">
            <a:avLst/>
          </a:prstGeom>
          <a:noFill/>
          <a:ln/>
        </p:spPr>
        <p:txBody>
          <a:bodyPr wrap="square" lIns="0" tIns="0" rIns="0" bIns="0" rtlCol="0" anchor="ctr"/>
          <a:lstStyle/>
          <a:p>
            <a:pPr marL="0" indent="0" algn="ctr">
              <a:buNone/>
            </a:pPr>
            <a:r>
              <a:rPr lang="en-US" sz="1600" b="1" dirty="0">
                <a:solidFill>
                  <a:srgbClr val="F472B6"/>
                </a:solidFill>
                <a:latin typeface="Georgia" pitchFamily="34" charset="0"/>
                <a:ea typeface="Georgia" pitchFamily="34" charset="-122"/>
                <a:cs typeface="Georgia" pitchFamily="34" charset="-120"/>
              </a:rPr>
              <a:t>FACT_SALES</a:t>
            </a:r>
            <a:endParaRPr lang="en-US" sz="1600" dirty="0"/>
          </a:p>
        </p:txBody>
      </p:sp>
      <p:sp>
        <p:nvSpPr>
          <p:cNvPr id="8" name="Shape 6"/>
          <p:cNvSpPr/>
          <p:nvPr/>
        </p:nvSpPr>
        <p:spPr>
          <a:xfrm>
            <a:off x="4343400" y="1673352"/>
            <a:ext cx="2011680" cy="502920"/>
          </a:xfrm>
          <a:prstGeom prst="roundRect">
            <a:avLst>
              <a:gd name="adj" fmla="val 18182"/>
            </a:avLst>
          </a:prstGeom>
          <a:solidFill>
            <a:srgbClr val="141A33"/>
          </a:solidFill>
          <a:ln w="12700">
            <a:solidFill>
              <a:srgbClr val="60A5FA"/>
            </a:solidFill>
            <a:prstDash val="solid"/>
          </a:ln>
        </p:spPr>
        <p:txBody>
          <a:bodyPr/>
          <a:lstStyle/>
          <a:p>
            <a:endParaRPr lang="en-US" dirty="0"/>
          </a:p>
        </p:txBody>
      </p:sp>
      <p:sp>
        <p:nvSpPr>
          <p:cNvPr id="9" name="Text 7"/>
          <p:cNvSpPr/>
          <p:nvPr/>
        </p:nvSpPr>
        <p:spPr>
          <a:xfrm>
            <a:off x="4343400" y="1683327"/>
            <a:ext cx="2011680" cy="502920"/>
          </a:xfrm>
          <a:prstGeom prst="rect">
            <a:avLst/>
          </a:prstGeom>
          <a:noFill/>
          <a:ln/>
        </p:spPr>
        <p:txBody>
          <a:bodyPr wrap="square" lIns="0" tIns="0" rIns="0" bIns="0" rtlCol="0" anchor="ctr"/>
          <a:lstStyle/>
          <a:p>
            <a:pPr marL="0" indent="0" algn="ctr">
              <a:buNone/>
            </a:pPr>
            <a:r>
              <a:rPr lang="en-US" sz="1050" dirty="0">
                <a:solidFill>
                  <a:srgbClr val="E9ECF8"/>
                </a:solidFill>
                <a:latin typeface="Consolas" pitchFamily="34" charset="0"/>
                <a:ea typeface="Consolas" pitchFamily="34" charset="-122"/>
                <a:cs typeface="Consolas" pitchFamily="34" charset="-120"/>
              </a:rPr>
              <a:t>dim_date</a:t>
            </a:r>
            <a:endParaRPr lang="en-US" sz="1050" dirty="0"/>
          </a:p>
        </p:txBody>
      </p:sp>
      <p:sp>
        <p:nvSpPr>
          <p:cNvPr id="10" name="Shape 8"/>
          <p:cNvSpPr/>
          <p:nvPr/>
        </p:nvSpPr>
        <p:spPr>
          <a:xfrm>
            <a:off x="7597833" y="1848335"/>
            <a:ext cx="2011680" cy="502920"/>
          </a:xfrm>
          <a:prstGeom prst="roundRect">
            <a:avLst>
              <a:gd name="adj" fmla="val 18182"/>
            </a:avLst>
          </a:prstGeom>
          <a:solidFill>
            <a:srgbClr val="141A33"/>
          </a:solidFill>
          <a:ln w="12700">
            <a:solidFill>
              <a:srgbClr val="60A5FA"/>
            </a:solidFill>
            <a:prstDash val="solid"/>
          </a:ln>
        </p:spPr>
        <p:txBody>
          <a:bodyPr/>
          <a:lstStyle/>
          <a:p>
            <a:endParaRPr lang="en-US"/>
          </a:p>
        </p:txBody>
      </p:sp>
      <p:sp>
        <p:nvSpPr>
          <p:cNvPr id="11" name="Text 9"/>
          <p:cNvSpPr/>
          <p:nvPr/>
        </p:nvSpPr>
        <p:spPr>
          <a:xfrm>
            <a:off x="7680960" y="1883664"/>
            <a:ext cx="2011680" cy="502920"/>
          </a:xfrm>
          <a:prstGeom prst="rect">
            <a:avLst/>
          </a:prstGeom>
          <a:noFill/>
          <a:ln/>
        </p:spPr>
        <p:txBody>
          <a:bodyPr wrap="square" lIns="0" tIns="0" rIns="0" bIns="0" rtlCol="0" anchor="ctr"/>
          <a:lstStyle/>
          <a:p>
            <a:pPr marL="0" indent="0" algn="ctr">
              <a:buNone/>
            </a:pPr>
            <a:r>
              <a:rPr lang="en-US" sz="1050" dirty="0">
                <a:solidFill>
                  <a:srgbClr val="E9ECF8"/>
                </a:solidFill>
                <a:latin typeface="Consolas" pitchFamily="34" charset="0"/>
                <a:ea typeface="Consolas" pitchFamily="34" charset="-122"/>
                <a:cs typeface="Consolas" pitchFamily="34" charset="-120"/>
              </a:rPr>
              <a:t>dim_payment</a:t>
            </a:r>
            <a:endParaRPr lang="en-US" sz="1050" dirty="0"/>
          </a:p>
        </p:txBody>
      </p:sp>
      <p:sp>
        <p:nvSpPr>
          <p:cNvPr id="12" name="Shape 10"/>
          <p:cNvSpPr/>
          <p:nvPr/>
        </p:nvSpPr>
        <p:spPr>
          <a:xfrm>
            <a:off x="9052560" y="3063240"/>
            <a:ext cx="2011680" cy="502920"/>
          </a:xfrm>
          <a:prstGeom prst="roundRect">
            <a:avLst>
              <a:gd name="adj" fmla="val 18182"/>
            </a:avLst>
          </a:prstGeom>
          <a:solidFill>
            <a:srgbClr val="141A33"/>
          </a:solidFill>
          <a:ln w="12700">
            <a:solidFill>
              <a:srgbClr val="60A5FA"/>
            </a:solidFill>
            <a:prstDash val="solid"/>
          </a:ln>
        </p:spPr>
        <p:txBody>
          <a:bodyPr/>
          <a:lstStyle/>
          <a:p>
            <a:endParaRPr lang="en-US"/>
          </a:p>
        </p:txBody>
      </p:sp>
      <p:sp>
        <p:nvSpPr>
          <p:cNvPr id="13" name="Text 11"/>
          <p:cNvSpPr/>
          <p:nvPr/>
        </p:nvSpPr>
        <p:spPr>
          <a:xfrm>
            <a:off x="9052560" y="3063240"/>
            <a:ext cx="2011680" cy="502920"/>
          </a:xfrm>
          <a:prstGeom prst="rect">
            <a:avLst/>
          </a:prstGeom>
          <a:noFill/>
          <a:ln/>
        </p:spPr>
        <p:txBody>
          <a:bodyPr wrap="square" lIns="0" tIns="0" rIns="0" bIns="0" rtlCol="0" anchor="ctr"/>
          <a:lstStyle/>
          <a:p>
            <a:pPr marL="0" indent="0" algn="ctr">
              <a:buNone/>
            </a:pPr>
            <a:r>
              <a:rPr lang="en-US" sz="1050" dirty="0">
                <a:solidFill>
                  <a:srgbClr val="E9ECF8"/>
                </a:solidFill>
                <a:latin typeface="Consolas" pitchFamily="34" charset="0"/>
                <a:ea typeface="Consolas" pitchFamily="34" charset="-122"/>
                <a:cs typeface="Consolas" pitchFamily="34" charset="-120"/>
              </a:rPr>
              <a:t>dim_customer</a:t>
            </a:r>
            <a:endParaRPr lang="en-US" sz="1050" dirty="0"/>
          </a:p>
        </p:txBody>
      </p:sp>
      <p:sp>
        <p:nvSpPr>
          <p:cNvPr id="14" name="Shape 12"/>
          <p:cNvSpPr/>
          <p:nvPr/>
        </p:nvSpPr>
        <p:spPr>
          <a:xfrm>
            <a:off x="7498080" y="4892040"/>
            <a:ext cx="2011680" cy="502920"/>
          </a:xfrm>
          <a:prstGeom prst="roundRect">
            <a:avLst>
              <a:gd name="adj" fmla="val 18182"/>
            </a:avLst>
          </a:prstGeom>
          <a:solidFill>
            <a:srgbClr val="141A33"/>
          </a:solidFill>
          <a:ln w="12700">
            <a:solidFill>
              <a:srgbClr val="60A5FA"/>
            </a:solidFill>
            <a:prstDash val="solid"/>
          </a:ln>
        </p:spPr>
        <p:txBody>
          <a:bodyPr/>
          <a:lstStyle/>
          <a:p>
            <a:endParaRPr lang="en-US"/>
          </a:p>
        </p:txBody>
      </p:sp>
      <p:sp>
        <p:nvSpPr>
          <p:cNvPr id="15" name="Text 13"/>
          <p:cNvSpPr/>
          <p:nvPr/>
        </p:nvSpPr>
        <p:spPr>
          <a:xfrm>
            <a:off x="7498080" y="4892040"/>
            <a:ext cx="2011680" cy="502920"/>
          </a:xfrm>
          <a:prstGeom prst="rect">
            <a:avLst/>
          </a:prstGeom>
          <a:noFill/>
          <a:ln/>
        </p:spPr>
        <p:txBody>
          <a:bodyPr wrap="square" lIns="0" tIns="0" rIns="0" bIns="0" rtlCol="0" anchor="ctr"/>
          <a:lstStyle/>
          <a:p>
            <a:pPr marL="0" indent="0" algn="ctr">
              <a:buNone/>
            </a:pPr>
            <a:r>
              <a:rPr lang="en-US" sz="1050" dirty="0">
                <a:solidFill>
                  <a:srgbClr val="E9ECF8"/>
                </a:solidFill>
                <a:latin typeface="Consolas" pitchFamily="34" charset="0"/>
                <a:ea typeface="Consolas" pitchFamily="34" charset="-122"/>
                <a:cs typeface="Consolas" pitchFamily="34" charset="-120"/>
              </a:rPr>
              <a:t>dim_store</a:t>
            </a:r>
            <a:endParaRPr lang="en-US" sz="1050" dirty="0"/>
          </a:p>
        </p:txBody>
      </p:sp>
      <p:sp>
        <p:nvSpPr>
          <p:cNvPr id="16" name="Shape 14"/>
          <p:cNvSpPr/>
          <p:nvPr/>
        </p:nvSpPr>
        <p:spPr>
          <a:xfrm>
            <a:off x="4709160" y="5440680"/>
            <a:ext cx="2011680" cy="502920"/>
          </a:xfrm>
          <a:prstGeom prst="roundRect">
            <a:avLst>
              <a:gd name="adj" fmla="val 18182"/>
            </a:avLst>
          </a:prstGeom>
          <a:solidFill>
            <a:srgbClr val="141A33"/>
          </a:solidFill>
          <a:ln w="12700">
            <a:solidFill>
              <a:srgbClr val="60A5FA"/>
            </a:solidFill>
            <a:prstDash val="solid"/>
          </a:ln>
        </p:spPr>
        <p:txBody>
          <a:bodyPr/>
          <a:lstStyle/>
          <a:p>
            <a:endParaRPr lang="en-US"/>
          </a:p>
        </p:txBody>
      </p:sp>
      <p:sp>
        <p:nvSpPr>
          <p:cNvPr id="17" name="Text 15"/>
          <p:cNvSpPr/>
          <p:nvPr/>
        </p:nvSpPr>
        <p:spPr>
          <a:xfrm>
            <a:off x="4709160" y="5440680"/>
            <a:ext cx="2011680" cy="502920"/>
          </a:xfrm>
          <a:prstGeom prst="rect">
            <a:avLst/>
          </a:prstGeom>
          <a:noFill/>
          <a:ln/>
        </p:spPr>
        <p:txBody>
          <a:bodyPr wrap="square" lIns="0" tIns="0" rIns="0" bIns="0" rtlCol="0" anchor="ctr"/>
          <a:lstStyle/>
          <a:p>
            <a:pPr marL="0" indent="0" algn="ctr">
              <a:buNone/>
            </a:pPr>
            <a:r>
              <a:rPr lang="en-US" sz="1050" dirty="0">
                <a:solidFill>
                  <a:srgbClr val="E9ECF8"/>
                </a:solidFill>
                <a:latin typeface="Consolas" pitchFamily="34" charset="0"/>
                <a:ea typeface="Consolas" pitchFamily="34" charset="-122"/>
                <a:cs typeface="Consolas" pitchFamily="34" charset="-120"/>
              </a:rPr>
              <a:t>dim_product</a:t>
            </a:r>
            <a:endParaRPr lang="en-US" sz="1050" dirty="0"/>
          </a:p>
        </p:txBody>
      </p:sp>
      <p:sp>
        <p:nvSpPr>
          <p:cNvPr id="18" name="Shape 16"/>
          <p:cNvSpPr/>
          <p:nvPr/>
        </p:nvSpPr>
        <p:spPr>
          <a:xfrm>
            <a:off x="1676400" y="4471416"/>
            <a:ext cx="2011680" cy="502920"/>
          </a:xfrm>
          <a:prstGeom prst="roundRect">
            <a:avLst>
              <a:gd name="adj" fmla="val 18182"/>
            </a:avLst>
          </a:prstGeom>
          <a:solidFill>
            <a:srgbClr val="141A33"/>
          </a:solidFill>
          <a:ln w="12700">
            <a:solidFill>
              <a:srgbClr val="60A5FA"/>
            </a:solidFill>
            <a:prstDash val="solid"/>
          </a:ln>
        </p:spPr>
        <p:txBody>
          <a:bodyPr/>
          <a:lstStyle/>
          <a:p>
            <a:endParaRPr lang="en-US"/>
          </a:p>
        </p:txBody>
      </p:sp>
      <p:sp>
        <p:nvSpPr>
          <p:cNvPr id="19" name="Text 17"/>
          <p:cNvSpPr/>
          <p:nvPr/>
        </p:nvSpPr>
        <p:spPr>
          <a:xfrm>
            <a:off x="1676400" y="4471416"/>
            <a:ext cx="2011680" cy="502920"/>
          </a:xfrm>
          <a:prstGeom prst="rect">
            <a:avLst/>
          </a:prstGeom>
          <a:noFill/>
          <a:ln/>
        </p:spPr>
        <p:txBody>
          <a:bodyPr wrap="square" lIns="0" tIns="0" rIns="0" bIns="0" rtlCol="0" anchor="ctr"/>
          <a:lstStyle/>
          <a:p>
            <a:pPr marL="0" indent="0" algn="ctr">
              <a:buNone/>
            </a:pPr>
            <a:r>
              <a:rPr lang="en-US" sz="1050" dirty="0">
                <a:solidFill>
                  <a:srgbClr val="E9ECF8"/>
                </a:solidFill>
                <a:latin typeface="Consolas" pitchFamily="34" charset="0"/>
                <a:ea typeface="Consolas" pitchFamily="34" charset="-122"/>
                <a:cs typeface="Consolas" pitchFamily="34" charset="-120"/>
              </a:rPr>
              <a:t>dim_supplier</a:t>
            </a:r>
            <a:endParaRPr lang="en-US" sz="1050" dirty="0"/>
          </a:p>
        </p:txBody>
      </p:sp>
      <p:sp>
        <p:nvSpPr>
          <p:cNvPr id="20" name="Shape 18"/>
          <p:cNvSpPr/>
          <p:nvPr/>
        </p:nvSpPr>
        <p:spPr>
          <a:xfrm>
            <a:off x="1127760" y="2665476"/>
            <a:ext cx="2011680" cy="502920"/>
          </a:xfrm>
          <a:prstGeom prst="roundRect">
            <a:avLst>
              <a:gd name="adj" fmla="val 18182"/>
            </a:avLst>
          </a:prstGeom>
          <a:solidFill>
            <a:srgbClr val="141A33"/>
          </a:solidFill>
          <a:ln w="12700">
            <a:solidFill>
              <a:srgbClr val="60A5FA"/>
            </a:solidFill>
            <a:prstDash val="solid"/>
          </a:ln>
        </p:spPr>
        <p:txBody>
          <a:bodyPr/>
          <a:lstStyle/>
          <a:p>
            <a:endParaRPr lang="en-US" dirty="0"/>
          </a:p>
        </p:txBody>
      </p:sp>
      <p:sp>
        <p:nvSpPr>
          <p:cNvPr id="21" name="Text 19"/>
          <p:cNvSpPr/>
          <p:nvPr/>
        </p:nvSpPr>
        <p:spPr>
          <a:xfrm>
            <a:off x="1127760" y="2665476"/>
            <a:ext cx="2011680" cy="502920"/>
          </a:xfrm>
          <a:prstGeom prst="rect">
            <a:avLst/>
          </a:prstGeom>
          <a:noFill/>
          <a:ln/>
        </p:spPr>
        <p:txBody>
          <a:bodyPr wrap="square" lIns="0" tIns="0" rIns="0" bIns="0" rtlCol="0" anchor="ctr"/>
          <a:lstStyle/>
          <a:p>
            <a:pPr marL="0" indent="0" algn="ctr">
              <a:buNone/>
            </a:pPr>
            <a:r>
              <a:rPr lang="en-US" sz="1050" dirty="0">
                <a:solidFill>
                  <a:srgbClr val="E9ECF8"/>
                </a:solidFill>
                <a:latin typeface="Consolas" pitchFamily="34" charset="0"/>
                <a:ea typeface="Consolas" pitchFamily="34" charset="-122"/>
                <a:cs typeface="Consolas" pitchFamily="34" charset="-120"/>
              </a:rPr>
              <a:t>dim_cashier</a:t>
            </a:r>
            <a:endParaRPr lang="en-US" sz="1050" dirty="0"/>
          </a:p>
        </p:txBody>
      </p:sp>
      <p:cxnSp>
        <p:nvCxnSpPr>
          <p:cNvPr id="26" name="Straight Arrow Connector 25">
            <a:extLst>
              <a:ext uri="{FF2B5EF4-FFF2-40B4-BE49-F238E27FC236}">
                <a16:creationId xmlns:a16="http://schemas.microsoft.com/office/drawing/2014/main" id="{4C69E910-3E47-98B7-94D0-D7CE225D99DE}"/>
              </a:ext>
            </a:extLst>
          </p:cNvPr>
          <p:cNvCxnSpPr>
            <a:cxnSpLocks/>
            <a:stCxn id="8" idx="2"/>
            <a:endCxn id="6" idx="0"/>
          </p:cNvCxnSpPr>
          <p:nvPr/>
        </p:nvCxnSpPr>
        <p:spPr>
          <a:xfrm>
            <a:off x="5349240" y="2176272"/>
            <a:ext cx="685800" cy="113635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192EA4A9-DB89-BE40-595C-8421E4021221}"/>
              </a:ext>
            </a:extLst>
          </p:cNvPr>
          <p:cNvCxnSpPr>
            <a:stCxn id="11" idx="2"/>
          </p:cNvCxnSpPr>
          <p:nvPr/>
        </p:nvCxnSpPr>
        <p:spPr>
          <a:xfrm flipH="1">
            <a:off x="6949440" y="2386584"/>
            <a:ext cx="1737360" cy="89341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585A7ABF-4148-1765-0BE2-EB4BE72A7870}"/>
              </a:ext>
            </a:extLst>
          </p:cNvPr>
          <p:cNvCxnSpPr>
            <a:stCxn id="13" idx="1"/>
            <a:endCxn id="7" idx="3"/>
          </p:cNvCxnSpPr>
          <p:nvPr/>
        </p:nvCxnSpPr>
        <p:spPr>
          <a:xfrm flipH="1">
            <a:off x="7178040" y="3314700"/>
            <a:ext cx="1874520" cy="27224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EB4E146F-3E07-6238-BE55-2B9361DACB8D}"/>
              </a:ext>
            </a:extLst>
          </p:cNvPr>
          <p:cNvCxnSpPr>
            <a:stCxn id="20" idx="3"/>
            <a:endCxn id="7" idx="1"/>
          </p:cNvCxnSpPr>
          <p:nvPr/>
        </p:nvCxnSpPr>
        <p:spPr>
          <a:xfrm>
            <a:off x="3139440" y="2916936"/>
            <a:ext cx="1738745" cy="63737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E36D0FB0-F756-33C4-5545-CDD197FF49E9}"/>
              </a:ext>
            </a:extLst>
          </p:cNvPr>
          <p:cNvCxnSpPr>
            <a:cxnSpLocks/>
            <a:stCxn id="19" idx="3"/>
          </p:cNvCxnSpPr>
          <p:nvPr/>
        </p:nvCxnSpPr>
        <p:spPr>
          <a:xfrm flipV="1">
            <a:off x="3688080" y="3861262"/>
            <a:ext cx="1332807" cy="86161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6C0646B7-66F8-09E6-73C0-49BC7C13F5C5}"/>
              </a:ext>
            </a:extLst>
          </p:cNvPr>
          <p:cNvCxnSpPr>
            <a:cxnSpLocks/>
            <a:stCxn id="16" idx="0"/>
            <a:endCxn id="6" idx="2"/>
          </p:cNvCxnSpPr>
          <p:nvPr/>
        </p:nvCxnSpPr>
        <p:spPr>
          <a:xfrm flipV="1">
            <a:off x="5715000" y="3861262"/>
            <a:ext cx="320040" cy="157941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A853E19-C2B1-A621-9716-4D32D58F2716}"/>
              </a:ext>
            </a:extLst>
          </p:cNvPr>
          <p:cNvCxnSpPr>
            <a:cxnSpLocks/>
            <a:stCxn id="15" idx="0"/>
          </p:cNvCxnSpPr>
          <p:nvPr/>
        </p:nvCxnSpPr>
        <p:spPr>
          <a:xfrm flipH="1" flipV="1">
            <a:off x="6803967" y="3893889"/>
            <a:ext cx="1699953" cy="99815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1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lIns="0" tIns="0" rIns="0" bIns="0" rtlCol="0" anchor="ctr"/>
          <a:lstStyle/>
          <a:p>
            <a:pPr marL="0" indent="0">
              <a:buNone/>
            </a:pPr>
            <a:r>
              <a:rPr lang="en-US" sz="2400" b="1" kern="0" spc="200" dirty="0">
                <a:solidFill>
                  <a:srgbClr val="A78BFA"/>
                </a:solidFill>
                <a:latin typeface="Consolas" pitchFamily="34" charset="0"/>
                <a:ea typeface="Consolas" pitchFamily="34" charset="-122"/>
                <a:cs typeface="Consolas" pitchFamily="34" charset="-120"/>
              </a:rPr>
              <a:t>03 · DIMENSIONAL MODEL</a:t>
            </a:r>
            <a:endParaRPr lang="en-US" sz="2400" dirty="0"/>
          </a:p>
        </p:txBody>
      </p:sp>
      <p:sp>
        <p:nvSpPr>
          <p:cNvPr id="3" name="Text 1"/>
          <p:cNvSpPr/>
          <p:nvPr/>
        </p:nvSpPr>
        <p:spPr>
          <a:xfrm>
            <a:off x="548640" y="658368"/>
            <a:ext cx="10972800" cy="731520"/>
          </a:xfrm>
          <a:prstGeom prst="rect">
            <a:avLst/>
          </a:prstGeom>
          <a:noFill/>
          <a:ln/>
        </p:spPr>
        <p:txBody>
          <a:bodyPr wrap="square" lIns="0" tIns="0" rIns="0" bIns="0" rtlCol="0" anchor="ctr"/>
          <a:lstStyle/>
          <a:p>
            <a:pPr marL="0" indent="0" algn="ctr">
              <a:buNone/>
            </a:pPr>
            <a:r>
              <a:rPr lang="en-US" sz="2700" b="1" dirty="0">
                <a:solidFill>
                  <a:srgbClr val="E9ECF8"/>
                </a:solidFill>
                <a:latin typeface="Georgia" pitchFamily="34" charset="0"/>
                <a:ea typeface="Georgia" pitchFamily="34" charset="-122"/>
                <a:cs typeface="Georgia" pitchFamily="34" charset="-120"/>
              </a:rPr>
              <a:t>The actual entity-relationship diagram</a:t>
            </a:r>
            <a:endParaRPr lang="en-US" sz="2700" dirty="0"/>
          </a:p>
        </p:txBody>
      </p:sp>
      <p:sp>
        <p:nvSpPr>
          <p:cNvPr id="5" name="Text 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9098BD"/>
                </a:solidFill>
                <a:latin typeface="Consolas" pitchFamily="34" charset="0"/>
                <a:ea typeface="Consolas" pitchFamily="34" charset="-122"/>
                <a:cs typeface="Consolas" pitchFamily="34" charset="-120"/>
              </a:rPr>
              <a:t>5</a:t>
            </a:r>
            <a:endParaRPr lang="en-US" sz="900" dirty="0"/>
          </a:p>
        </p:txBody>
      </p:sp>
      <p:sp>
        <p:nvSpPr>
          <p:cNvPr id="6" name="Shape 4"/>
          <p:cNvSpPr/>
          <p:nvPr/>
        </p:nvSpPr>
        <p:spPr>
          <a:xfrm>
            <a:off x="3276460" y="1453896"/>
            <a:ext cx="6291091" cy="5237849"/>
          </a:xfrm>
          <a:prstGeom prst="roundRect">
            <a:avLst>
              <a:gd name="adj" fmla="val 887"/>
            </a:avLst>
          </a:prstGeom>
          <a:solidFill>
            <a:srgbClr val="141A33"/>
          </a:solidFill>
          <a:ln w="12700">
            <a:solidFill>
              <a:srgbClr val="60A5FA"/>
            </a:solidFill>
            <a:prstDash val="solid"/>
          </a:ln>
        </p:spPr>
        <p:txBody>
          <a:bodyPr/>
          <a:lstStyle/>
          <a:p>
            <a:endParaRPr lang="en-US"/>
          </a:p>
        </p:txBody>
      </p:sp>
      <p:pic>
        <p:nvPicPr>
          <p:cNvPr id="7" name="Image 0" descr="/home/claude/cropped/star_schema.jpeg"/>
          <p:cNvPicPr>
            <a:picLocks noChangeAspect="1"/>
          </p:cNvPicPr>
          <p:nvPr/>
        </p:nvPicPr>
        <p:blipFill>
          <a:blip r:embed="rId3"/>
          <a:stretch>
            <a:fillRect/>
          </a:stretch>
        </p:blipFill>
        <p:spPr>
          <a:xfrm>
            <a:off x="3341717" y="1521229"/>
            <a:ext cx="6143106" cy="5104015"/>
          </a:xfrm>
          <a:prstGeom prst="rect">
            <a:avLst/>
          </a:prstGeom>
        </p:spPr>
      </p:pic>
      <p:sp>
        <p:nvSpPr>
          <p:cNvPr id="9" name="Text 6"/>
          <p:cNvSpPr/>
          <p:nvPr/>
        </p:nvSpPr>
        <p:spPr>
          <a:xfrm>
            <a:off x="249382" y="3108960"/>
            <a:ext cx="2651760" cy="274320"/>
          </a:xfrm>
          <a:prstGeom prst="rect">
            <a:avLst/>
          </a:prstGeom>
          <a:noFill/>
          <a:ln/>
        </p:spPr>
        <p:txBody>
          <a:bodyPr wrap="square" lIns="0" tIns="0" rIns="0" bIns="0" rtlCol="0" anchor="ctr"/>
          <a:lstStyle/>
          <a:p>
            <a:pPr marL="0" indent="0">
              <a:buNone/>
            </a:pPr>
            <a:r>
              <a:rPr lang="en-US" sz="1000" b="1" kern="0" spc="150" dirty="0">
                <a:solidFill>
                  <a:srgbClr val="F472B6"/>
                </a:solidFill>
                <a:latin typeface="Consolas" pitchFamily="34" charset="0"/>
                <a:ea typeface="Consolas" pitchFamily="34" charset="-122"/>
                <a:cs typeface="Consolas" pitchFamily="34" charset="-120"/>
              </a:rPr>
              <a:t>INSIGHT</a:t>
            </a:r>
            <a:endParaRPr lang="en-US" sz="1000" dirty="0"/>
          </a:p>
        </p:txBody>
      </p:sp>
      <p:sp>
        <p:nvSpPr>
          <p:cNvPr id="10" name="Text 7"/>
          <p:cNvSpPr/>
          <p:nvPr/>
        </p:nvSpPr>
        <p:spPr>
          <a:xfrm>
            <a:off x="249382" y="3701516"/>
            <a:ext cx="2867891" cy="845546"/>
          </a:xfrm>
          <a:prstGeom prst="rect">
            <a:avLst/>
          </a:prstGeom>
          <a:noFill/>
          <a:ln/>
        </p:spPr>
        <p:txBody>
          <a:bodyPr wrap="square" lIns="0" tIns="0" rIns="0" bIns="0" rtlCol="0" anchor="t"/>
          <a:lstStyle/>
          <a:p>
            <a:pPr marL="0" indent="0">
              <a:lnSpc>
                <a:spcPct val="118000"/>
              </a:lnSpc>
              <a:buNone/>
            </a:pPr>
            <a:r>
              <a:rPr lang="en-US" sz="1150" dirty="0">
                <a:solidFill>
                  <a:srgbClr val="E9ECF8"/>
                </a:solidFill>
                <a:latin typeface="Georgia" pitchFamily="34" charset="0"/>
                <a:ea typeface="Georgia" pitchFamily="34" charset="-122"/>
                <a:cs typeface="Georgia" pitchFamily="34" charset="-120"/>
              </a:rPr>
              <a:t>One inconsistency worth fixing before submission: dim_customer still shows a customer_location_key FK, left over from the earlier snowflaked design. Since dim_customer_location was dropped and location fields were flattened directly into dim_customer, this column should be removed from both the ERD and the live table to match the final design decision.</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1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lIns="0" tIns="0" rIns="0" bIns="0" rtlCol="0" anchor="ctr"/>
          <a:lstStyle/>
          <a:p>
            <a:pPr marL="0" indent="0">
              <a:buNone/>
            </a:pPr>
            <a:r>
              <a:rPr lang="en-US" sz="2400" b="1" kern="0" spc="200" dirty="0">
                <a:solidFill>
                  <a:srgbClr val="A78BFA"/>
                </a:solidFill>
                <a:latin typeface="Consolas" pitchFamily="34" charset="0"/>
                <a:ea typeface="Consolas" pitchFamily="34" charset="-122"/>
                <a:cs typeface="Consolas" pitchFamily="34" charset="-120"/>
              </a:rPr>
              <a:t>04 · SLOWLY CHANGING DIMENSIONS</a:t>
            </a:r>
            <a:endParaRPr lang="en-US" sz="2400" dirty="0"/>
          </a:p>
        </p:txBody>
      </p:sp>
      <p:sp>
        <p:nvSpPr>
          <p:cNvPr id="3" name="Text 1"/>
          <p:cNvSpPr/>
          <p:nvPr/>
        </p:nvSpPr>
        <p:spPr>
          <a:xfrm>
            <a:off x="548640" y="658368"/>
            <a:ext cx="10972800" cy="731520"/>
          </a:xfrm>
          <a:prstGeom prst="rect">
            <a:avLst/>
          </a:prstGeom>
          <a:noFill/>
          <a:ln/>
        </p:spPr>
        <p:txBody>
          <a:bodyPr wrap="square" lIns="0" tIns="0" rIns="0" bIns="0" rtlCol="0" anchor="ctr"/>
          <a:lstStyle/>
          <a:p>
            <a:pPr marL="0" indent="0" algn="ctr">
              <a:buNone/>
            </a:pPr>
            <a:r>
              <a:rPr lang="en-US" sz="2700" b="1" dirty="0">
                <a:solidFill>
                  <a:srgbClr val="E9ECF8"/>
                </a:solidFill>
                <a:latin typeface="Georgia" pitchFamily="34" charset="0"/>
                <a:ea typeface="Georgia" pitchFamily="34" charset="-122"/>
                <a:cs typeface="Georgia" pitchFamily="34" charset="-120"/>
              </a:rPr>
              <a:t>One Type 2 dimension where history matters most</a:t>
            </a:r>
            <a:endParaRPr lang="en-US" sz="2700" dirty="0"/>
          </a:p>
        </p:txBody>
      </p:sp>
      <p:sp>
        <p:nvSpPr>
          <p:cNvPr id="5" name="Text 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9098BD"/>
                </a:solidFill>
                <a:latin typeface="Consolas" pitchFamily="34" charset="0"/>
                <a:ea typeface="Consolas" pitchFamily="34" charset="-122"/>
                <a:cs typeface="Consolas" pitchFamily="34" charset="-120"/>
              </a:rPr>
              <a:t>6</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2926080"/>
        </p:xfrm>
        <a:graphic>
          <a:graphicData uri="http://schemas.openxmlformats.org/drawingml/2006/table">
            <a:tbl>
              <a:tblPr/>
              <a:tblGrid>
                <a:gridCol w="219456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5029200">
                  <a:extLst>
                    <a:ext uri="{9D8B030D-6E8A-4147-A177-3AD203B41FA5}">
                      <a16:colId xmlns:a16="http://schemas.microsoft.com/office/drawing/2014/main" val="20003"/>
                    </a:ext>
                  </a:extLst>
                </a:gridCol>
              </a:tblGrid>
              <a:tr h="731520">
                <a:tc>
                  <a:txBody>
                    <a:bodyPr/>
                    <a:lstStyle/>
                    <a:p>
                      <a:pPr marL="0" indent="0">
                        <a:buNone/>
                      </a:pPr>
                      <a:r>
                        <a:rPr lang="en-US" sz="1100" b="1" dirty="0">
                          <a:solidFill>
                            <a:srgbClr val="60A5FA"/>
                          </a:solidFill>
                          <a:latin typeface="Consolas" pitchFamily="34" charset="0"/>
                          <a:ea typeface="Consolas" pitchFamily="34" charset="-122"/>
                          <a:cs typeface="Consolas" pitchFamily="34" charset="-120"/>
                        </a:rPr>
                        <a:t>Dimension</a:t>
                      </a:r>
                      <a:endParaRPr lang="en-US" sz="1100" dirty="0">
                        <a:latin typeface="Consolas" charset="0"/>
                        <a:ea typeface="Consolas" charset="0"/>
                        <a:cs typeface="Consolas" charset="0"/>
                      </a:endParaRPr>
                    </a:p>
                  </a:txBody>
                  <a:tcPr marL="109728" marR="109728" marT="73152" marB="73152" anchor="ctr">
                    <a:lnL w="9525" cap="flat" cmpd="sng" algn="ctr">
                      <a:solidFill>
                        <a:srgbClr val="2A2F4A"/>
                      </a:solidFill>
                      <a:prstDash val="solid"/>
                      <a:round/>
                      <a:headEnd type="none" w="med" len="med"/>
                      <a:tailEnd type="none" w="med" len="med"/>
                    </a:lnL>
                    <a:lnR w="9525" cap="flat" cmpd="sng" algn="ctr">
                      <a:solidFill>
                        <a:srgbClr val="2A2F4A"/>
                      </a:solidFill>
                      <a:prstDash val="solid"/>
                      <a:round/>
                      <a:headEnd type="none" w="med" len="med"/>
                      <a:tailEnd type="none" w="med" len="med"/>
                    </a:lnR>
                    <a:lnT w="9525" cap="flat" cmpd="sng" algn="ctr">
                      <a:solidFill>
                        <a:srgbClr val="2A2F4A"/>
                      </a:solidFill>
                      <a:prstDash val="solid"/>
                      <a:round/>
                      <a:headEnd type="none" w="med" len="med"/>
                      <a:tailEnd type="none" w="med" len="med"/>
                    </a:lnT>
                    <a:lnB w="9525" cap="flat" cmpd="sng" algn="ctr">
                      <a:solidFill>
                        <a:srgbClr val="2A2F4A"/>
                      </a:solidFill>
                      <a:prstDash val="solid"/>
                      <a:round/>
                      <a:headEnd type="none" w="med" len="med"/>
                      <a:tailEnd type="none" w="med" len="med"/>
                    </a:lnB>
                    <a:solidFill>
                      <a:srgbClr val="0D1230"/>
                    </a:solidFill>
                  </a:tcPr>
                </a:tc>
                <a:tc>
                  <a:txBody>
                    <a:bodyPr/>
                    <a:lstStyle/>
                    <a:p>
                      <a:pPr marL="0" indent="0">
                        <a:buNone/>
                      </a:pPr>
                      <a:r>
                        <a:rPr lang="en-US" sz="1100" b="1" dirty="0">
                          <a:solidFill>
                            <a:srgbClr val="60A5FA"/>
                          </a:solidFill>
                          <a:latin typeface="Consolas" pitchFamily="34" charset="0"/>
                          <a:ea typeface="Consolas" pitchFamily="34" charset="-122"/>
                          <a:cs typeface="Consolas" pitchFamily="34" charset="-120"/>
                        </a:rPr>
                        <a:t>Attribute Tracked</a:t>
                      </a:r>
                      <a:endParaRPr lang="en-US" sz="1100" dirty="0">
                        <a:latin typeface="Consolas" charset="0"/>
                        <a:ea typeface="Consolas" charset="0"/>
                        <a:cs typeface="Consolas" charset="0"/>
                      </a:endParaRPr>
                    </a:p>
                  </a:txBody>
                  <a:tcPr marL="109728" marR="109728" marT="73152" marB="73152" anchor="ctr">
                    <a:lnL w="9525" cap="flat" cmpd="sng" algn="ctr">
                      <a:solidFill>
                        <a:srgbClr val="2A2F4A"/>
                      </a:solidFill>
                      <a:prstDash val="solid"/>
                      <a:round/>
                      <a:headEnd type="none" w="med" len="med"/>
                      <a:tailEnd type="none" w="med" len="med"/>
                    </a:lnL>
                    <a:lnR w="9525" cap="flat" cmpd="sng" algn="ctr">
                      <a:solidFill>
                        <a:srgbClr val="2A2F4A"/>
                      </a:solidFill>
                      <a:prstDash val="solid"/>
                      <a:round/>
                      <a:headEnd type="none" w="med" len="med"/>
                      <a:tailEnd type="none" w="med" len="med"/>
                    </a:lnR>
                    <a:lnT w="9525" cap="flat" cmpd="sng" algn="ctr">
                      <a:solidFill>
                        <a:srgbClr val="2A2F4A"/>
                      </a:solidFill>
                      <a:prstDash val="solid"/>
                      <a:round/>
                      <a:headEnd type="none" w="med" len="med"/>
                      <a:tailEnd type="none" w="med" len="med"/>
                    </a:lnT>
                    <a:lnB w="9525" cap="flat" cmpd="sng" algn="ctr">
                      <a:solidFill>
                        <a:srgbClr val="2A2F4A"/>
                      </a:solidFill>
                      <a:prstDash val="solid"/>
                      <a:round/>
                      <a:headEnd type="none" w="med" len="med"/>
                      <a:tailEnd type="none" w="med" len="med"/>
                    </a:lnB>
                    <a:solidFill>
                      <a:srgbClr val="0D1230"/>
                    </a:solidFill>
                  </a:tcPr>
                </a:tc>
                <a:tc>
                  <a:txBody>
                    <a:bodyPr/>
                    <a:lstStyle/>
                    <a:p>
                      <a:pPr marL="0" indent="0">
                        <a:buNone/>
                      </a:pPr>
                      <a:r>
                        <a:rPr lang="en-US" sz="1100" b="1" dirty="0">
                          <a:solidFill>
                            <a:srgbClr val="60A5FA"/>
                          </a:solidFill>
                          <a:latin typeface="Consolas" pitchFamily="34" charset="0"/>
                          <a:ea typeface="Consolas" pitchFamily="34" charset="-122"/>
                          <a:cs typeface="Consolas" pitchFamily="34" charset="-120"/>
                        </a:rPr>
                        <a:t>SCD Type</a:t>
                      </a:r>
                      <a:endParaRPr lang="en-US" sz="1100" dirty="0">
                        <a:latin typeface="Consolas" charset="0"/>
                        <a:ea typeface="Consolas" charset="0"/>
                        <a:cs typeface="Consolas" charset="0"/>
                      </a:endParaRPr>
                    </a:p>
                  </a:txBody>
                  <a:tcPr marL="109728" marR="109728" marT="73152" marB="73152" anchor="ctr">
                    <a:lnL w="9525" cap="flat" cmpd="sng" algn="ctr">
                      <a:solidFill>
                        <a:srgbClr val="2A2F4A"/>
                      </a:solidFill>
                      <a:prstDash val="solid"/>
                      <a:round/>
                      <a:headEnd type="none" w="med" len="med"/>
                      <a:tailEnd type="none" w="med" len="med"/>
                    </a:lnL>
                    <a:lnR w="9525" cap="flat" cmpd="sng" algn="ctr">
                      <a:solidFill>
                        <a:srgbClr val="2A2F4A"/>
                      </a:solidFill>
                      <a:prstDash val="solid"/>
                      <a:round/>
                      <a:headEnd type="none" w="med" len="med"/>
                      <a:tailEnd type="none" w="med" len="med"/>
                    </a:lnR>
                    <a:lnT w="9525" cap="flat" cmpd="sng" algn="ctr">
                      <a:solidFill>
                        <a:srgbClr val="2A2F4A"/>
                      </a:solidFill>
                      <a:prstDash val="solid"/>
                      <a:round/>
                      <a:headEnd type="none" w="med" len="med"/>
                      <a:tailEnd type="none" w="med" len="med"/>
                    </a:lnT>
                    <a:lnB w="9525" cap="flat" cmpd="sng" algn="ctr">
                      <a:solidFill>
                        <a:srgbClr val="2A2F4A"/>
                      </a:solidFill>
                      <a:prstDash val="solid"/>
                      <a:round/>
                      <a:headEnd type="none" w="med" len="med"/>
                      <a:tailEnd type="none" w="med" len="med"/>
                    </a:lnB>
                    <a:solidFill>
                      <a:srgbClr val="0D1230"/>
                    </a:solidFill>
                  </a:tcPr>
                </a:tc>
                <a:tc>
                  <a:txBody>
                    <a:bodyPr/>
                    <a:lstStyle/>
                    <a:p>
                      <a:pPr marL="0" indent="0">
                        <a:buNone/>
                      </a:pPr>
                      <a:r>
                        <a:rPr lang="en-US" sz="1100" b="1" dirty="0">
                          <a:solidFill>
                            <a:srgbClr val="60A5FA"/>
                          </a:solidFill>
                          <a:latin typeface="Consolas" pitchFamily="34" charset="0"/>
                          <a:ea typeface="Consolas" pitchFamily="34" charset="-122"/>
                          <a:cs typeface="Consolas" pitchFamily="34" charset="-120"/>
                        </a:rPr>
                        <a:t>Reasoning</a:t>
                      </a:r>
                      <a:endParaRPr lang="en-US" sz="1100" dirty="0">
                        <a:latin typeface="Consolas" charset="0"/>
                        <a:ea typeface="Consolas" charset="0"/>
                        <a:cs typeface="Consolas" charset="0"/>
                      </a:endParaRPr>
                    </a:p>
                  </a:txBody>
                  <a:tcPr marL="109728" marR="109728" marT="73152" marB="73152" anchor="ctr">
                    <a:lnL w="9525" cap="flat" cmpd="sng" algn="ctr">
                      <a:solidFill>
                        <a:srgbClr val="2A2F4A"/>
                      </a:solidFill>
                      <a:prstDash val="solid"/>
                      <a:round/>
                      <a:headEnd type="none" w="med" len="med"/>
                      <a:tailEnd type="none" w="med" len="med"/>
                    </a:lnL>
                    <a:lnR w="9525" cap="flat" cmpd="sng" algn="ctr">
                      <a:solidFill>
                        <a:srgbClr val="2A2F4A"/>
                      </a:solidFill>
                      <a:prstDash val="solid"/>
                      <a:round/>
                      <a:headEnd type="none" w="med" len="med"/>
                      <a:tailEnd type="none" w="med" len="med"/>
                    </a:lnR>
                    <a:lnT w="9525" cap="flat" cmpd="sng" algn="ctr">
                      <a:solidFill>
                        <a:srgbClr val="2A2F4A"/>
                      </a:solidFill>
                      <a:prstDash val="solid"/>
                      <a:round/>
                      <a:headEnd type="none" w="med" len="med"/>
                      <a:tailEnd type="none" w="med" len="med"/>
                    </a:lnT>
                    <a:lnB w="9525" cap="flat" cmpd="sng" algn="ctr">
                      <a:solidFill>
                        <a:srgbClr val="2A2F4A"/>
                      </a:solidFill>
                      <a:prstDash val="solid"/>
                      <a:round/>
                      <a:headEnd type="none" w="med" len="med"/>
                      <a:tailEnd type="none" w="med" len="med"/>
                    </a:lnB>
                    <a:solidFill>
                      <a:srgbClr val="0D1230"/>
                    </a:solidFill>
                  </a:tcPr>
                </a:tc>
                <a:extLst>
                  <a:ext uri="{0D108BD9-81ED-4DB2-BD59-A6C34878D82A}">
                    <a16:rowId xmlns:a16="http://schemas.microsoft.com/office/drawing/2014/main" val="10000"/>
                  </a:ext>
                </a:extLst>
              </a:tr>
              <a:tr h="731520">
                <a:tc>
                  <a:txBody>
                    <a:bodyPr/>
                    <a:lstStyle/>
                    <a:p>
                      <a:pPr marL="0" indent="0">
                        <a:buNone/>
                      </a:pPr>
                      <a:r>
                        <a:rPr lang="en-US" sz="1250" dirty="0">
                          <a:solidFill>
                            <a:srgbClr val="E9ECF8"/>
                          </a:solidFill>
                          <a:latin typeface="Georgia" pitchFamily="34" charset="0"/>
                          <a:ea typeface="Georgia" pitchFamily="34" charset="-122"/>
                          <a:cs typeface="Georgia" pitchFamily="34" charset="-120"/>
                        </a:rPr>
                        <a:t>dim_customer</a:t>
                      </a:r>
                      <a:endParaRPr lang="en-US" sz="1250" dirty="0">
                        <a:latin typeface="Georgia" charset="0"/>
                        <a:ea typeface="Georgia" charset="0"/>
                        <a:cs typeface="Georgia" charset="0"/>
                      </a:endParaRPr>
                    </a:p>
                  </a:txBody>
                  <a:tcPr marL="109728" marR="109728" marT="73152" marB="73152" anchor="ctr">
                    <a:lnL w="9525" cap="flat" cmpd="sng" algn="ctr">
                      <a:solidFill>
                        <a:srgbClr val="2A2F4A"/>
                      </a:solidFill>
                      <a:prstDash val="solid"/>
                      <a:round/>
                      <a:headEnd type="none" w="med" len="med"/>
                      <a:tailEnd type="none" w="med" len="med"/>
                    </a:lnL>
                    <a:lnR w="9525" cap="flat" cmpd="sng" algn="ctr">
                      <a:solidFill>
                        <a:srgbClr val="2A2F4A"/>
                      </a:solidFill>
                      <a:prstDash val="solid"/>
                      <a:round/>
                      <a:headEnd type="none" w="med" len="med"/>
                      <a:tailEnd type="none" w="med" len="med"/>
                    </a:lnR>
                    <a:lnT w="9525" cap="flat" cmpd="sng" algn="ctr">
                      <a:solidFill>
                        <a:srgbClr val="2A2F4A"/>
                      </a:solidFill>
                      <a:prstDash val="solid"/>
                      <a:round/>
                      <a:headEnd type="none" w="med" len="med"/>
                      <a:tailEnd type="none" w="med" len="med"/>
                    </a:lnT>
                    <a:lnB w="9525" cap="flat" cmpd="sng" algn="ctr">
                      <a:solidFill>
                        <a:srgbClr val="2A2F4A"/>
                      </a:solidFill>
                      <a:prstDash val="solid"/>
                      <a:round/>
                      <a:headEnd type="none" w="med" len="med"/>
                      <a:tailEnd type="none" w="med" len="med"/>
                    </a:lnB>
                    <a:solidFill>
                      <a:srgbClr val="141A33"/>
                    </a:solidFill>
                  </a:tcPr>
                </a:tc>
                <a:tc>
                  <a:txBody>
                    <a:bodyPr/>
                    <a:lstStyle/>
                    <a:p>
                      <a:pPr marL="0" indent="0">
                        <a:buNone/>
                      </a:pPr>
                      <a:r>
                        <a:rPr lang="en-US" sz="1250" dirty="0">
                          <a:solidFill>
                            <a:srgbClr val="E9ECF8"/>
                          </a:solidFill>
                          <a:latin typeface="Georgia" pitchFamily="34" charset="0"/>
                          <a:ea typeface="Georgia" pitchFamily="34" charset="-122"/>
                          <a:cs typeface="Georgia" pitchFamily="34" charset="-120"/>
                        </a:rPr>
                        <a:t>loyalty_tier</a:t>
                      </a:r>
                      <a:endParaRPr lang="en-US" sz="1250" dirty="0">
                        <a:latin typeface="Georgia" charset="0"/>
                        <a:ea typeface="Georgia" charset="0"/>
                        <a:cs typeface="Georgia" charset="0"/>
                      </a:endParaRPr>
                    </a:p>
                  </a:txBody>
                  <a:tcPr marL="109728" marR="109728" marT="73152" marB="73152" anchor="ctr">
                    <a:lnL w="9525" cap="flat" cmpd="sng" algn="ctr">
                      <a:solidFill>
                        <a:srgbClr val="2A2F4A"/>
                      </a:solidFill>
                      <a:prstDash val="solid"/>
                      <a:round/>
                      <a:headEnd type="none" w="med" len="med"/>
                      <a:tailEnd type="none" w="med" len="med"/>
                    </a:lnL>
                    <a:lnR w="9525" cap="flat" cmpd="sng" algn="ctr">
                      <a:solidFill>
                        <a:srgbClr val="2A2F4A"/>
                      </a:solidFill>
                      <a:prstDash val="solid"/>
                      <a:round/>
                      <a:headEnd type="none" w="med" len="med"/>
                      <a:tailEnd type="none" w="med" len="med"/>
                    </a:lnR>
                    <a:lnT w="9525" cap="flat" cmpd="sng" algn="ctr">
                      <a:solidFill>
                        <a:srgbClr val="2A2F4A"/>
                      </a:solidFill>
                      <a:prstDash val="solid"/>
                      <a:round/>
                      <a:headEnd type="none" w="med" len="med"/>
                      <a:tailEnd type="none" w="med" len="med"/>
                    </a:lnT>
                    <a:lnB w="9525" cap="flat" cmpd="sng" algn="ctr">
                      <a:solidFill>
                        <a:srgbClr val="2A2F4A"/>
                      </a:solidFill>
                      <a:prstDash val="solid"/>
                      <a:round/>
                      <a:headEnd type="none" w="med" len="med"/>
                      <a:tailEnd type="none" w="med" len="med"/>
                    </a:lnB>
                    <a:solidFill>
                      <a:srgbClr val="141A33"/>
                    </a:solidFill>
                  </a:tcPr>
                </a:tc>
                <a:tc>
                  <a:txBody>
                    <a:bodyPr/>
                    <a:lstStyle/>
                    <a:p>
                      <a:pPr marL="0" indent="0">
                        <a:buNone/>
                      </a:pPr>
                      <a:r>
                        <a:rPr lang="en-US" sz="1250" dirty="0">
                          <a:solidFill>
                            <a:srgbClr val="F472B6"/>
                          </a:solidFill>
                          <a:latin typeface="Georgia" pitchFamily="34" charset="0"/>
                          <a:ea typeface="Georgia" pitchFamily="34" charset="-122"/>
                          <a:cs typeface="Georgia" pitchFamily="34" charset="-120"/>
                        </a:rPr>
                        <a:t>Type 2</a:t>
                      </a:r>
                      <a:endParaRPr lang="en-US" sz="1250" dirty="0">
                        <a:latin typeface="Georgia" charset="0"/>
                        <a:ea typeface="Georgia" charset="0"/>
                        <a:cs typeface="Georgia" charset="0"/>
                      </a:endParaRPr>
                    </a:p>
                  </a:txBody>
                  <a:tcPr marL="109728" marR="109728" marT="73152" marB="73152" anchor="ctr">
                    <a:lnL w="9525" cap="flat" cmpd="sng" algn="ctr">
                      <a:solidFill>
                        <a:srgbClr val="2A2F4A"/>
                      </a:solidFill>
                      <a:prstDash val="solid"/>
                      <a:round/>
                      <a:headEnd type="none" w="med" len="med"/>
                      <a:tailEnd type="none" w="med" len="med"/>
                    </a:lnL>
                    <a:lnR w="9525" cap="flat" cmpd="sng" algn="ctr">
                      <a:solidFill>
                        <a:srgbClr val="2A2F4A"/>
                      </a:solidFill>
                      <a:prstDash val="solid"/>
                      <a:round/>
                      <a:headEnd type="none" w="med" len="med"/>
                      <a:tailEnd type="none" w="med" len="med"/>
                    </a:lnR>
                    <a:lnT w="9525" cap="flat" cmpd="sng" algn="ctr">
                      <a:solidFill>
                        <a:srgbClr val="2A2F4A"/>
                      </a:solidFill>
                      <a:prstDash val="solid"/>
                      <a:round/>
                      <a:headEnd type="none" w="med" len="med"/>
                      <a:tailEnd type="none" w="med" len="med"/>
                    </a:lnT>
                    <a:lnB w="9525" cap="flat" cmpd="sng" algn="ctr">
                      <a:solidFill>
                        <a:srgbClr val="2A2F4A"/>
                      </a:solidFill>
                      <a:prstDash val="solid"/>
                      <a:round/>
                      <a:headEnd type="none" w="med" len="med"/>
                      <a:tailEnd type="none" w="med" len="med"/>
                    </a:lnB>
                    <a:solidFill>
                      <a:srgbClr val="141A33"/>
                    </a:solidFill>
                  </a:tcPr>
                </a:tc>
                <a:tc>
                  <a:txBody>
                    <a:bodyPr/>
                    <a:lstStyle/>
                    <a:p>
                      <a:pPr marL="0" indent="0">
                        <a:buNone/>
                      </a:pPr>
                      <a:r>
                        <a:rPr lang="en-US" sz="1250" dirty="0">
                          <a:solidFill>
                            <a:srgbClr val="E9ECF8"/>
                          </a:solidFill>
                          <a:latin typeface="Georgia" pitchFamily="34" charset="0"/>
                          <a:ea typeface="Georgia" pitchFamily="34" charset="-122"/>
                          <a:cs typeface="Georgia" pitchFamily="34" charset="-120"/>
                        </a:rPr>
                        <a:t>Preserves the tier a customer held at the time of each sale</a:t>
                      </a:r>
                      <a:endParaRPr lang="en-US" sz="1250" dirty="0">
                        <a:latin typeface="Georgia" charset="0"/>
                        <a:ea typeface="Georgia" charset="0"/>
                        <a:cs typeface="Georgia" charset="0"/>
                      </a:endParaRPr>
                    </a:p>
                  </a:txBody>
                  <a:tcPr marL="109728" marR="109728" marT="73152" marB="73152" anchor="ctr">
                    <a:lnL w="9525" cap="flat" cmpd="sng" algn="ctr">
                      <a:solidFill>
                        <a:srgbClr val="2A2F4A"/>
                      </a:solidFill>
                      <a:prstDash val="solid"/>
                      <a:round/>
                      <a:headEnd type="none" w="med" len="med"/>
                      <a:tailEnd type="none" w="med" len="med"/>
                    </a:lnL>
                    <a:lnR w="9525" cap="flat" cmpd="sng" algn="ctr">
                      <a:solidFill>
                        <a:srgbClr val="2A2F4A"/>
                      </a:solidFill>
                      <a:prstDash val="solid"/>
                      <a:round/>
                      <a:headEnd type="none" w="med" len="med"/>
                      <a:tailEnd type="none" w="med" len="med"/>
                    </a:lnR>
                    <a:lnT w="9525" cap="flat" cmpd="sng" algn="ctr">
                      <a:solidFill>
                        <a:srgbClr val="2A2F4A"/>
                      </a:solidFill>
                      <a:prstDash val="solid"/>
                      <a:round/>
                      <a:headEnd type="none" w="med" len="med"/>
                      <a:tailEnd type="none" w="med" len="med"/>
                    </a:lnT>
                    <a:lnB w="9525" cap="flat" cmpd="sng" algn="ctr">
                      <a:solidFill>
                        <a:srgbClr val="2A2F4A"/>
                      </a:solidFill>
                      <a:prstDash val="solid"/>
                      <a:round/>
                      <a:headEnd type="none" w="med" len="med"/>
                      <a:tailEnd type="none" w="med" len="med"/>
                    </a:lnB>
                    <a:solidFill>
                      <a:srgbClr val="141A33"/>
                    </a:solidFill>
                  </a:tcPr>
                </a:tc>
                <a:extLst>
                  <a:ext uri="{0D108BD9-81ED-4DB2-BD59-A6C34878D82A}">
                    <a16:rowId xmlns:a16="http://schemas.microsoft.com/office/drawing/2014/main" val="10001"/>
                  </a:ext>
                </a:extLst>
              </a:tr>
              <a:tr h="731520">
                <a:tc>
                  <a:txBody>
                    <a:bodyPr/>
                    <a:lstStyle/>
                    <a:p>
                      <a:pPr marL="0" indent="0">
                        <a:buNone/>
                      </a:pPr>
                      <a:r>
                        <a:rPr lang="en-US" sz="1250" dirty="0">
                          <a:solidFill>
                            <a:srgbClr val="E9ECF8"/>
                          </a:solidFill>
                          <a:latin typeface="Georgia" pitchFamily="34" charset="0"/>
                          <a:ea typeface="Georgia" pitchFamily="34" charset="-122"/>
                          <a:cs typeface="Georgia" pitchFamily="34" charset="-120"/>
                        </a:rPr>
                        <a:t>dim_store</a:t>
                      </a:r>
                      <a:endParaRPr lang="en-US" sz="1250" dirty="0">
                        <a:latin typeface="Georgia" charset="0"/>
                        <a:ea typeface="Georgia" charset="0"/>
                        <a:cs typeface="Georgia" charset="0"/>
                      </a:endParaRPr>
                    </a:p>
                  </a:txBody>
                  <a:tcPr marL="109728" marR="109728" marT="73152" marB="73152" anchor="ctr">
                    <a:lnL w="9525" cap="flat" cmpd="sng" algn="ctr">
                      <a:solidFill>
                        <a:srgbClr val="2A2F4A"/>
                      </a:solidFill>
                      <a:prstDash val="solid"/>
                      <a:round/>
                      <a:headEnd type="none" w="med" len="med"/>
                      <a:tailEnd type="none" w="med" len="med"/>
                    </a:lnL>
                    <a:lnR w="9525" cap="flat" cmpd="sng" algn="ctr">
                      <a:solidFill>
                        <a:srgbClr val="2A2F4A"/>
                      </a:solidFill>
                      <a:prstDash val="solid"/>
                      <a:round/>
                      <a:headEnd type="none" w="med" len="med"/>
                      <a:tailEnd type="none" w="med" len="med"/>
                    </a:lnR>
                    <a:lnT w="9525" cap="flat" cmpd="sng" algn="ctr">
                      <a:solidFill>
                        <a:srgbClr val="2A2F4A"/>
                      </a:solidFill>
                      <a:prstDash val="solid"/>
                      <a:round/>
                      <a:headEnd type="none" w="med" len="med"/>
                      <a:tailEnd type="none" w="med" len="med"/>
                    </a:lnT>
                    <a:lnB w="9525" cap="flat" cmpd="sng" algn="ctr">
                      <a:solidFill>
                        <a:srgbClr val="2A2F4A"/>
                      </a:solidFill>
                      <a:prstDash val="solid"/>
                      <a:round/>
                      <a:headEnd type="none" w="med" len="med"/>
                      <a:tailEnd type="none" w="med" len="med"/>
                    </a:lnB>
                    <a:solidFill>
                      <a:srgbClr val="141A33"/>
                    </a:solidFill>
                  </a:tcPr>
                </a:tc>
                <a:tc>
                  <a:txBody>
                    <a:bodyPr/>
                    <a:lstStyle/>
                    <a:p>
                      <a:pPr marL="0" indent="0">
                        <a:buNone/>
                      </a:pPr>
                      <a:r>
                        <a:rPr lang="en-US" sz="1250" dirty="0">
                          <a:solidFill>
                            <a:srgbClr val="E9ECF8"/>
                          </a:solidFill>
                          <a:latin typeface="Georgia" pitchFamily="34" charset="0"/>
                          <a:ea typeface="Georgia" pitchFamily="34" charset="-122"/>
                          <a:cs typeface="Georgia" pitchFamily="34" charset="-120"/>
                        </a:rPr>
                        <a:t>store_manager</a:t>
                      </a:r>
                      <a:endParaRPr lang="en-US" sz="1250" dirty="0">
                        <a:latin typeface="Georgia" charset="0"/>
                        <a:ea typeface="Georgia" charset="0"/>
                        <a:cs typeface="Georgia" charset="0"/>
                      </a:endParaRPr>
                    </a:p>
                  </a:txBody>
                  <a:tcPr marL="109728" marR="109728" marT="73152" marB="73152" anchor="ctr">
                    <a:lnL w="9525" cap="flat" cmpd="sng" algn="ctr">
                      <a:solidFill>
                        <a:srgbClr val="2A2F4A"/>
                      </a:solidFill>
                      <a:prstDash val="solid"/>
                      <a:round/>
                      <a:headEnd type="none" w="med" len="med"/>
                      <a:tailEnd type="none" w="med" len="med"/>
                    </a:lnL>
                    <a:lnR w="9525" cap="flat" cmpd="sng" algn="ctr">
                      <a:solidFill>
                        <a:srgbClr val="2A2F4A"/>
                      </a:solidFill>
                      <a:prstDash val="solid"/>
                      <a:round/>
                      <a:headEnd type="none" w="med" len="med"/>
                      <a:tailEnd type="none" w="med" len="med"/>
                    </a:lnR>
                    <a:lnT w="9525" cap="flat" cmpd="sng" algn="ctr">
                      <a:solidFill>
                        <a:srgbClr val="2A2F4A"/>
                      </a:solidFill>
                      <a:prstDash val="solid"/>
                      <a:round/>
                      <a:headEnd type="none" w="med" len="med"/>
                      <a:tailEnd type="none" w="med" len="med"/>
                    </a:lnT>
                    <a:lnB w="9525" cap="flat" cmpd="sng" algn="ctr">
                      <a:solidFill>
                        <a:srgbClr val="2A2F4A"/>
                      </a:solidFill>
                      <a:prstDash val="solid"/>
                      <a:round/>
                      <a:headEnd type="none" w="med" len="med"/>
                      <a:tailEnd type="none" w="med" len="med"/>
                    </a:lnB>
                    <a:solidFill>
                      <a:srgbClr val="141A33"/>
                    </a:solidFill>
                  </a:tcPr>
                </a:tc>
                <a:tc>
                  <a:txBody>
                    <a:bodyPr/>
                    <a:lstStyle/>
                    <a:p>
                      <a:pPr marL="0" indent="0">
                        <a:buNone/>
                      </a:pPr>
                      <a:r>
                        <a:rPr lang="en-US" sz="1250" dirty="0">
                          <a:solidFill>
                            <a:srgbClr val="F472B6"/>
                          </a:solidFill>
                          <a:latin typeface="Georgia" pitchFamily="34" charset="0"/>
                          <a:ea typeface="Georgia" pitchFamily="34" charset="-122"/>
                          <a:cs typeface="Georgia" pitchFamily="34" charset="-120"/>
                        </a:rPr>
                        <a:t>Type 2</a:t>
                      </a:r>
                      <a:endParaRPr lang="en-US" sz="1250" dirty="0">
                        <a:latin typeface="Georgia" charset="0"/>
                        <a:ea typeface="Georgia" charset="0"/>
                        <a:cs typeface="Georgia" charset="0"/>
                      </a:endParaRPr>
                    </a:p>
                  </a:txBody>
                  <a:tcPr marL="109728" marR="109728" marT="73152" marB="73152" anchor="ctr">
                    <a:lnL w="9525" cap="flat" cmpd="sng" algn="ctr">
                      <a:solidFill>
                        <a:srgbClr val="2A2F4A"/>
                      </a:solidFill>
                      <a:prstDash val="solid"/>
                      <a:round/>
                      <a:headEnd type="none" w="med" len="med"/>
                      <a:tailEnd type="none" w="med" len="med"/>
                    </a:lnL>
                    <a:lnR w="9525" cap="flat" cmpd="sng" algn="ctr">
                      <a:solidFill>
                        <a:srgbClr val="2A2F4A"/>
                      </a:solidFill>
                      <a:prstDash val="solid"/>
                      <a:round/>
                      <a:headEnd type="none" w="med" len="med"/>
                      <a:tailEnd type="none" w="med" len="med"/>
                    </a:lnR>
                    <a:lnT w="9525" cap="flat" cmpd="sng" algn="ctr">
                      <a:solidFill>
                        <a:srgbClr val="2A2F4A"/>
                      </a:solidFill>
                      <a:prstDash val="solid"/>
                      <a:round/>
                      <a:headEnd type="none" w="med" len="med"/>
                      <a:tailEnd type="none" w="med" len="med"/>
                    </a:lnT>
                    <a:lnB w="9525" cap="flat" cmpd="sng" algn="ctr">
                      <a:solidFill>
                        <a:srgbClr val="2A2F4A"/>
                      </a:solidFill>
                      <a:prstDash val="solid"/>
                      <a:round/>
                      <a:headEnd type="none" w="med" len="med"/>
                      <a:tailEnd type="none" w="med" len="med"/>
                    </a:lnB>
                    <a:solidFill>
                      <a:srgbClr val="141A33"/>
                    </a:solidFill>
                  </a:tcPr>
                </a:tc>
                <a:tc>
                  <a:txBody>
                    <a:bodyPr/>
                    <a:lstStyle/>
                    <a:p>
                      <a:pPr marL="0" indent="0">
                        <a:buNone/>
                      </a:pPr>
                      <a:r>
                        <a:rPr lang="en-US" sz="1250" dirty="0">
                          <a:solidFill>
                            <a:srgbClr val="E9ECF8"/>
                          </a:solidFill>
                          <a:latin typeface="Georgia" pitchFamily="34" charset="0"/>
                          <a:ea typeface="Georgia" pitchFamily="34" charset="-122"/>
                          <a:cs typeface="Georgia" pitchFamily="34" charset="-120"/>
                        </a:rPr>
                        <a:t>Sales stay attributed to the manager active when they happened</a:t>
                      </a:r>
                      <a:endParaRPr lang="en-US" sz="1250" dirty="0">
                        <a:latin typeface="Georgia" charset="0"/>
                        <a:ea typeface="Georgia" charset="0"/>
                        <a:cs typeface="Georgia" charset="0"/>
                      </a:endParaRPr>
                    </a:p>
                  </a:txBody>
                  <a:tcPr marL="109728" marR="109728" marT="73152" marB="73152" anchor="ctr">
                    <a:lnL w="9525" cap="flat" cmpd="sng" algn="ctr">
                      <a:solidFill>
                        <a:srgbClr val="2A2F4A"/>
                      </a:solidFill>
                      <a:prstDash val="solid"/>
                      <a:round/>
                      <a:headEnd type="none" w="med" len="med"/>
                      <a:tailEnd type="none" w="med" len="med"/>
                    </a:lnL>
                    <a:lnR w="9525" cap="flat" cmpd="sng" algn="ctr">
                      <a:solidFill>
                        <a:srgbClr val="2A2F4A"/>
                      </a:solidFill>
                      <a:prstDash val="solid"/>
                      <a:round/>
                      <a:headEnd type="none" w="med" len="med"/>
                      <a:tailEnd type="none" w="med" len="med"/>
                    </a:lnR>
                    <a:lnT w="9525" cap="flat" cmpd="sng" algn="ctr">
                      <a:solidFill>
                        <a:srgbClr val="2A2F4A"/>
                      </a:solidFill>
                      <a:prstDash val="solid"/>
                      <a:round/>
                      <a:headEnd type="none" w="med" len="med"/>
                      <a:tailEnd type="none" w="med" len="med"/>
                    </a:lnT>
                    <a:lnB w="9525" cap="flat" cmpd="sng" algn="ctr">
                      <a:solidFill>
                        <a:srgbClr val="2A2F4A"/>
                      </a:solidFill>
                      <a:prstDash val="solid"/>
                      <a:round/>
                      <a:headEnd type="none" w="med" len="med"/>
                      <a:tailEnd type="none" w="med" len="med"/>
                    </a:lnB>
                    <a:solidFill>
                      <a:srgbClr val="141A33"/>
                    </a:solidFill>
                  </a:tcPr>
                </a:tc>
                <a:extLst>
                  <a:ext uri="{0D108BD9-81ED-4DB2-BD59-A6C34878D82A}">
                    <a16:rowId xmlns:a16="http://schemas.microsoft.com/office/drawing/2014/main" val="10002"/>
                  </a:ext>
                </a:extLst>
              </a:tr>
              <a:tr h="731520">
                <a:tc>
                  <a:txBody>
                    <a:bodyPr/>
                    <a:lstStyle/>
                    <a:p>
                      <a:pPr marL="0" indent="0">
                        <a:buNone/>
                      </a:pPr>
                      <a:r>
                        <a:rPr lang="en-US" sz="1250" dirty="0">
                          <a:solidFill>
                            <a:srgbClr val="E9ECF8"/>
                          </a:solidFill>
                          <a:latin typeface="Georgia" pitchFamily="34" charset="0"/>
                          <a:ea typeface="Georgia" pitchFamily="34" charset="-122"/>
                          <a:cs typeface="Georgia" pitchFamily="34" charset="-120"/>
                        </a:rPr>
                        <a:t>All others</a:t>
                      </a:r>
                      <a:endParaRPr lang="en-US" sz="1250" dirty="0">
                        <a:latin typeface="Georgia" charset="0"/>
                        <a:ea typeface="Georgia" charset="0"/>
                        <a:cs typeface="Georgia" charset="0"/>
                      </a:endParaRPr>
                    </a:p>
                  </a:txBody>
                  <a:tcPr marL="109728" marR="109728" marT="73152" marB="73152" anchor="ctr">
                    <a:lnL w="9525" cap="flat" cmpd="sng" algn="ctr">
                      <a:solidFill>
                        <a:srgbClr val="2A2F4A"/>
                      </a:solidFill>
                      <a:prstDash val="solid"/>
                      <a:round/>
                      <a:headEnd type="none" w="med" len="med"/>
                      <a:tailEnd type="none" w="med" len="med"/>
                    </a:lnL>
                    <a:lnR w="9525" cap="flat" cmpd="sng" algn="ctr">
                      <a:solidFill>
                        <a:srgbClr val="2A2F4A"/>
                      </a:solidFill>
                      <a:prstDash val="solid"/>
                      <a:round/>
                      <a:headEnd type="none" w="med" len="med"/>
                      <a:tailEnd type="none" w="med" len="med"/>
                    </a:lnR>
                    <a:lnT w="9525" cap="flat" cmpd="sng" algn="ctr">
                      <a:solidFill>
                        <a:srgbClr val="2A2F4A"/>
                      </a:solidFill>
                      <a:prstDash val="solid"/>
                      <a:round/>
                      <a:headEnd type="none" w="med" len="med"/>
                      <a:tailEnd type="none" w="med" len="med"/>
                    </a:lnT>
                    <a:lnB w="9525" cap="flat" cmpd="sng" algn="ctr">
                      <a:solidFill>
                        <a:srgbClr val="2A2F4A"/>
                      </a:solidFill>
                      <a:prstDash val="solid"/>
                      <a:round/>
                      <a:headEnd type="none" w="med" len="med"/>
                      <a:tailEnd type="none" w="med" len="med"/>
                    </a:lnB>
                    <a:solidFill>
                      <a:srgbClr val="141A33"/>
                    </a:solidFill>
                  </a:tcPr>
                </a:tc>
                <a:tc>
                  <a:txBody>
                    <a:bodyPr/>
                    <a:lstStyle/>
                    <a:p>
                      <a:pPr marL="0" indent="0">
                        <a:buNone/>
                      </a:pPr>
                      <a:r>
                        <a:rPr lang="en-US" sz="1250" dirty="0">
                          <a:solidFill>
                            <a:srgbClr val="E9ECF8"/>
                          </a:solidFill>
                          <a:latin typeface="Georgia" pitchFamily="34" charset="0"/>
                          <a:ea typeface="Georgia" pitchFamily="34" charset="-122"/>
                          <a:cs typeface="Georgia" pitchFamily="34" charset="-120"/>
                        </a:rPr>
                        <a:t>—</a:t>
                      </a:r>
                      <a:endParaRPr lang="en-US" sz="1250" dirty="0">
                        <a:latin typeface="Georgia" charset="0"/>
                        <a:ea typeface="Georgia" charset="0"/>
                        <a:cs typeface="Georgia" charset="0"/>
                      </a:endParaRPr>
                    </a:p>
                  </a:txBody>
                  <a:tcPr marL="109728" marR="109728" marT="73152" marB="73152" anchor="ctr">
                    <a:lnL w="9525" cap="flat" cmpd="sng" algn="ctr">
                      <a:solidFill>
                        <a:srgbClr val="2A2F4A"/>
                      </a:solidFill>
                      <a:prstDash val="solid"/>
                      <a:round/>
                      <a:headEnd type="none" w="med" len="med"/>
                      <a:tailEnd type="none" w="med" len="med"/>
                    </a:lnL>
                    <a:lnR w="9525" cap="flat" cmpd="sng" algn="ctr">
                      <a:solidFill>
                        <a:srgbClr val="2A2F4A"/>
                      </a:solidFill>
                      <a:prstDash val="solid"/>
                      <a:round/>
                      <a:headEnd type="none" w="med" len="med"/>
                      <a:tailEnd type="none" w="med" len="med"/>
                    </a:lnR>
                    <a:lnT w="9525" cap="flat" cmpd="sng" algn="ctr">
                      <a:solidFill>
                        <a:srgbClr val="2A2F4A"/>
                      </a:solidFill>
                      <a:prstDash val="solid"/>
                      <a:round/>
                      <a:headEnd type="none" w="med" len="med"/>
                      <a:tailEnd type="none" w="med" len="med"/>
                    </a:lnT>
                    <a:lnB w="9525" cap="flat" cmpd="sng" algn="ctr">
                      <a:solidFill>
                        <a:srgbClr val="2A2F4A"/>
                      </a:solidFill>
                      <a:prstDash val="solid"/>
                      <a:round/>
                      <a:headEnd type="none" w="med" len="med"/>
                      <a:tailEnd type="none" w="med" len="med"/>
                    </a:lnB>
                    <a:solidFill>
                      <a:srgbClr val="141A33"/>
                    </a:solidFill>
                  </a:tcPr>
                </a:tc>
                <a:tc>
                  <a:txBody>
                    <a:bodyPr/>
                    <a:lstStyle/>
                    <a:p>
                      <a:pPr marL="0" indent="0">
                        <a:buNone/>
                      </a:pPr>
                      <a:r>
                        <a:rPr lang="en-US" sz="1250" dirty="0">
                          <a:solidFill>
                            <a:srgbClr val="F472B6"/>
                          </a:solidFill>
                          <a:latin typeface="Georgia" pitchFamily="34" charset="0"/>
                          <a:ea typeface="Georgia" pitchFamily="34" charset="-122"/>
                          <a:cs typeface="Georgia" pitchFamily="34" charset="-120"/>
                        </a:rPr>
                        <a:t>Type 1</a:t>
                      </a:r>
                      <a:endParaRPr lang="en-US" sz="1250" dirty="0">
                        <a:latin typeface="Georgia" charset="0"/>
                        <a:ea typeface="Georgia" charset="0"/>
                        <a:cs typeface="Georgia" charset="0"/>
                      </a:endParaRPr>
                    </a:p>
                  </a:txBody>
                  <a:tcPr marL="109728" marR="109728" marT="73152" marB="73152" anchor="ctr">
                    <a:lnL w="9525" cap="flat" cmpd="sng" algn="ctr">
                      <a:solidFill>
                        <a:srgbClr val="2A2F4A"/>
                      </a:solidFill>
                      <a:prstDash val="solid"/>
                      <a:round/>
                      <a:headEnd type="none" w="med" len="med"/>
                      <a:tailEnd type="none" w="med" len="med"/>
                    </a:lnL>
                    <a:lnR w="9525" cap="flat" cmpd="sng" algn="ctr">
                      <a:solidFill>
                        <a:srgbClr val="2A2F4A"/>
                      </a:solidFill>
                      <a:prstDash val="solid"/>
                      <a:round/>
                      <a:headEnd type="none" w="med" len="med"/>
                      <a:tailEnd type="none" w="med" len="med"/>
                    </a:lnR>
                    <a:lnT w="9525" cap="flat" cmpd="sng" algn="ctr">
                      <a:solidFill>
                        <a:srgbClr val="2A2F4A"/>
                      </a:solidFill>
                      <a:prstDash val="solid"/>
                      <a:round/>
                      <a:headEnd type="none" w="med" len="med"/>
                      <a:tailEnd type="none" w="med" len="med"/>
                    </a:lnT>
                    <a:lnB w="9525" cap="flat" cmpd="sng" algn="ctr">
                      <a:solidFill>
                        <a:srgbClr val="2A2F4A"/>
                      </a:solidFill>
                      <a:prstDash val="solid"/>
                      <a:round/>
                      <a:headEnd type="none" w="med" len="med"/>
                      <a:tailEnd type="none" w="med" len="med"/>
                    </a:lnB>
                    <a:solidFill>
                      <a:srgbClr val="141A33"/>
                    </a:solidFill>
                  </a:tcPr>
                </a:tc>
                <a:tc>
                  <a:txBody>
                    <a:bodyPr/>
                    <a:lstStyle/>
                    <a:p>
                      <a:pPr marL="0" indent="0">
                        <a:buNone/>
                      </a:pPr>
                      <a:r>
                        <a:rPr lang="en-US" sz="1250" dirty="0">
                          <a:solidFill>
                            <a:srgbClr val="E9ECF8"/>
                          </a:solidFill>
                          <a:latin typeface="Georgia" pitchFamily="34" charset="0"/>
                          <a:ea typeface="Georgia" pitchFamily="34" charset="-122"/>
                          <a:cs typeface="Georgia" pitchFamily="34" charset="-120"/>
                        </a:rPr>
                        <a:t>No business need to track history; overwrite on change</a:t>
                      </a:r>
                      <a:endParaRPr lang="en-US" sz="1250" dirty="0">
                        <a:latin typeface="Georgia" charset="0"/>
                        <a:ea typeface="Georgia" charset="0"/>
                        <a:cs typeface="Georgia" charset="0"/>
                      </a:endParaRPr>
                    </a:p>
                  </a:txBody>
                  <a:tcPr marL="109728" marR="109728" marT="73152" marB="73152" anchor="ctr">
                    <a:lnL w="9525" cap="flat" cmpd="sng" algn="ctr">
                      <a:solidFill>
                        <a:srgbClr val="2A2F4A"/>
                      </a:solidFill>
                      <a:prstDash val="solid"/>
                      <a:round/>
                      <a:headEnd type="none" w="med" len="med"/>
                      <a:tailEnd type="none" w="med" len="med"/>
                    </a:lnL>
                    <a:lnR w="9525" cap="flat" cmpd="sng" algn="ctr">
                      <a:solidFill>
                        <a:srgbClr val="2A2F4A"/>
                      </a:solidFill>
                      <a:prstDash val="solid"/>
                      <a:round/>
                      <a:headEnd type="none" w="med" len="med"/>
                      <a:tailEnd type="none" w="med" len="med"/>
                    </a:lnR>
                    <a:lnT w="9525" cap="flat" cmpd="sng" algn="ctr">
                      <a:solidFill>
                        <a:srgbClr val="2A2F4A"/>
                      </a:solidFill>
                      <a:prstDash val="solid"/>
                      <a:round/>
                      <a:headEnd type="none" w="med" len="med"/>
                      <a:tailEnd type="none" w="med" len="med"/>
                    </a:lnT>
                    <a:lnB w="9525" cap="flat" cmpd="sng" algn="ctr">
                      <a:solidFill>
                        <a:srgbClr val="2A2F4A"/>
                      </a:solidFill>
                      <a:prstDash val="solid"/>
                      <a:round/>
                      <a:headEnd type="none" w="med" len="med"/>
                      <a:tailEnd type="none" w="med" len="med"/>
                    </a:lnB>
                    <a:solidFill>
                      <a:srgbClr val="141A33"/>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1F"/>
        </a:solidFill>
        <a:effectLst/>
      </p:bgPr>
    </p:bg>
    <p:spTree>
      <p:nvGrpSpPr>
        <p:cNvPr id="1" name=""/>
        <p:cNvGrpSpPr/>
        <p:nvPr/>
      </p:nvGrpSpPr>
      <p:grpSpPr>
        <a:xfrm>
          <a:off x="0" y="0"/>
          <a:ext cx="0" cy="0"/>
          <a:chOff x="0" y="0"/>
          <a:chExt cx="0" cy="0"/>
        </a:xfrm>
      </p:grpSpPr>
      <p:sp>
        <p:nvSpPr>
          <p:cNvPr id="2" name="Text 0"/>
          <p:cNvSpPr/>
          <p:nvPr/>
        </p:nvSpPr>
        <p:spPr>
          <a:xfrm>
            <a:off x="606829" y="73152"/>
            <a:ext cx="9144000" cy="320040"/>
          </a:xfrm>
          <a:prstGeom prst="rect">
            <a:avLst/>
          </a:prstGeom>
          <a:noFill/>
          <a:ln/>
        </p:spPr>
        <p:txBody>
          <a:bodyPr wrap="square" lIns="0" tIns="0" rIns="0" bIns="0" rtlCol="0" anchor="ctr"/>
          <a:lstStyle/>
          <a:p>
            <a:pPr marL="0" indent="0">
              <a:buNone/>
            </a:pPr>
            <a:r>
              <a:rPr lang="en-US" sz="2400" b="1" kern="0" spc="200" dirty="0">
                <a:solidFill>
                  <a:srgbClr val="A78BFA"/>
                </a:solidFill>
                <a:latin typeface="Consolas" pitchFamily="34" charset="0"/>
                <a:ea typeface="Consolas" pitchFamily="34" charset="-122"/>
                <a:cs typeface="Consolas" pitchFamily="34" charset="-120"/>
              </a:rPr>
              <a:t>05 · DATA QUALITY</a:t>
            </a:r>
            <a:endParaRPr lang="en-US" sz="2400" dirty="0"/>
          </a:p>
        </p:txBody>
      </p:sp>
      <p:sp>
        <p:nvSpPr>
          <p:cNvPr id="3" name="Text 1"/>
          <p:cNvSpPr/>
          <p:nvPr/>
        </p:nvSpPr>
        <p:spPr>
          <a:xfrm>
            <a:off x="548640" y="472579"/>
            <a:ext cx="10972800" cy="731520"/>
          </a:xfrm>
          <a:prstGeom prst="rect">
            <a:avLst/>
          </a:prstGeom>
          <a:noFill/>
          <a:ln/>
        </p:spPr>
        <p:txBody>
          <a:bodyPr wrap="square" lIns="0" tIns="0" rIns="0" bIns="0" rtlCol="0" anchor="ctr"/>
          <a:lstStyle/>
          <a:p>
            <a:pPr marL="0" indent="0" algn="ctr">
              <a:buNone/>
            </a:pPr>
            <a:r>
              <a:rPr lang="en-US" sz="2700" b="1" dirty="0">
                <a:solidFill>
                  <a:srgbClr val="E9ECF8"/>
                </a:solidFill>
                <a:latin typeface="Georgia" pitchFamily="34" charset="0"/>
                <a:ea typeface="Georgia" pitchFamily="34" charset="-122"/>
                <a:cs typeface="Georgia" pitchFamily="34" charset="-120"/>
              </a:rPr>
              <a:t>What was actually broken in the source file</a:t>
            </a:r>
            <a:endParaRPr lang="en-US" sz="2700" dirty="0"/>
          </a:p>
        </p:txBody>
      </p:sp>
      <p:sp>
        <p:nvSpPr>
          <p:cNvPr id="4" name="Text 2"/>
          <p:cNvSpPr/>
          <p:nvPr/>
        </p:nvSpPr>
        <p:spPr>
          <a:xfrm>
            <a:off x="548640" y="6510528"/>
            <a:ext cx="7315200" cy="274320"/>
          </a:xfrm>
          <a:prstGeom prst="rect">
            <a:avLst/>
          </a:prstGeom>
          <a:noFill/>
          <a:ln/>
        </p:spPr>
        <p:txBody>
          <a:bodyPr wrap="square" lIns="0" tIns="0" rIns="0" bIns="0" rtlCol="0" anchor="ctr"/>
          <a:lstStyle/>
          <a:p>
            <a:pPr marL="0" indent="0">
              <a:buNone/>
            </a:pPr>
            <a:r>
              <a:rPr lang="en-US" sz="900" dirty="0">
                <a:solidFill>
                  <a:srgbClr val="9098BD"/>
                </a:solidFill>
                <a:latin typeface="Consolas" pitchFamily="34" charset="0"/>
                <a:ea typeface="Consolas" pitchFamily="34" charset="-122"/>
                <a:cs typeface="Consolas" pitchFamily="34" charset="-120"/>
              </a:rPr>
              <a:t>BrightLearn Data Warehouse Build  ·  Tshifhiwa Tshikosi</a:t>
            </a:r>
            <a:endParaRPr lang="en-US" sz="900" dirty="0"/>
          </a:p>
        </p:txBody>
      </p:sp>
      <p:sp>
        <p:nvSpPr>
          <p:cNvPr id="5" name="Text 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9098BD"/>
                </a:solidFill>
                <a:latin typeface="Consolas" pitchFamily="34" charset="0"/>
                <a:ea typeface="Consolas" pitchFamily="34" charset="-122"/>
                <a:cs typeface="Consolas" pitchFamily="34" charset="-120"/>
              </a:rPr>
              <a:t>7</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105262804"/>
              </p:ext>
            </p:extLst>
          </p:nvPr>
        </p:nvGraphicFramePr>
        <p:xfrm>
          <a:off x="548640" y="1350819"/>
          <a:ext cx="11064240" cy="4572000"/>
        </p:xfrm>
        <a:graphic>
          <a:graphicData uri="http://schemas.openxmlformats.org/drawingml/2006/table">
            <a:tbl>
              <a:tblPr/>
              <a:tblGrid>
                <a:gridCol w="36576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tblGrid>
              <a:tr h="508000">
                <a:tc>
                  <a:txBody>
                    <a:bodyPr/>
                    <a:lstStyle/>
                    <a:p>
                      <a:pPr marL="0" indent="0">
                        <a:buNone/>
                      </a:pPr>
                      <a:r>
                        <a:rPr lang="en-US" sz="1050" b="1" dirty="0">
                          <a:solidFill>
                            <a:srgbClr val="60A5FA"/>
                          </a:solidFill>
                          <a:latin typeface="Consolas" pitchFamily="34" charset="0"/>
                          <a:ea typeface="Consolas" pitchFamily="34" charset="-122"/>
                          <a:cs typeface="Consolas" pitchFamily="34" charset="-120"/>
                        </a:rPr>
                        <a:t>ISSUE</a:t>
                      </a:r>
                      <a:endParaRPr lang="en-US" sz="1050" dirty="0">
                        <a:latin typeface="Consolas" charset="0"/>
                        <a:ea typeface="Consolas" charset="0"/>
                        <a:cs typeface="Consolas" charset="0"/>
                      </a:endParaRPr>
                    </a:p>
                  </a:txBody>
                  <a:tcPr marL="109728" marR="109728" marT="54864" marB="54864" anchor="ctr">
                    <a:lnL w="6350" cap="flat" cmpd="sng" algn="ctr">
                      <a:solidFill>
                        <a:srgbClr val="2A2F4A"/>
                      </a:solidFill>
                      <a:prstDash val="solid"/>
                      <a:round/>
                      <a:headEnd type="none" w="med" len="med"/>
                      <a:tailEnd type="none" w="med" len="med"/>
                    </a:lnL>
                    <a:lnR w="6350" cap="flat" cmpd="sng" algn="ctr">
                      <a:solidFill>
                        <a:srgbClr val="2A2F4A"/>
                      </a:solidFill>
                      <a:prstDash val="solid"/>
                      <a:round/>
                      <a:headEnd type="none" w="med" len="med"/>
                      <a:tailEnd type="none" w="med" len="med"/>
                    </a:lnR>
                    <a:lnT w="6350" cap="flat" cmpd="sng" algn="ctr">
                      <a:solidFill>
                        <a:srgbClr val="2A2F4A"/>
                      </a:solidFill>
                      <a:prstDash val="solid"/>
                      <a:round/>
                      <a:headEnd type="none" w="med" len="med"/>
                      <a:tailEnd type="none" w="med" len="med"/>
                    </a:lnT>
                    <a:lnB w="6350" cap="flat" cmpd="sng" algn="ctr">
                      <a:solidFill>
                        <a:srgbClr val="2A2F4A"/>
                      </a:solidFill>
                      <a:prstDash val="solid"/>
                      <a:round/>
                      <a:headEnd type="none" w="med" len="med"/>
                      <a:tailEnd type="none" w="med" len="med"/>
                    </a:lnB>
                    <a:solidFill>
                      <a:srgbClr val="0D1230"/>
                    </a:solidFill>
                  </a:tcPr>
                </a:tc>
                <a:tc>
                  <a:txBody>
                    <a:bodyPr/>
                    <a:lstStyle/>
                    <a:p>
                      <a:pPr marL="0" indent="0">
                        <a:buNone/>
                      </a:pPr>
                      <a:r>
                        <a:rPr lang="en-US" sz="1050" b="1" dirty="0">
                          <a:solidFill>
                            <a:srgbClr val="60A5FA"/>
                          </a:solidFill>
                          <a:latin typeface="Consolas" pitchFamily="34" charset="0"/>
                          <a:ea typeface="Consolas" pitchFamily="34" charset="-122"/>
                          <a:cs typeface="Consolas" pitchFamily="34" charset="-120"/>
                        </a:rPr>
                        <a:t>AFFECTED</a:t>
                      </a:r>
                      <a:endParaRPr lang="en-US" sz="1050" dirty="0">
                        <a:latin typeface="Consolas" charset="0"/>
                        <a:ea typeface="Consolas" charset="0"/>
                        <a:cs typeface="Consolas" charset="0"/>
                      </a:endParaRPr>
                    </a:p>
                  </a:txBody>
                  <a:tcPr marL="109728" marR="109728" marT="54864" marB="54864" anchor="ctr">
                    <a:lnL w="6350" cap="flat" cmpd="sng" algn="ctr">
                      <a:solidFill>
                        <a:srgbClr val="2A2F4A"/>
                      </a:solidFill>
                      <a:prstDash val="solid"/>
                      <a:round/>
                      <a:headEnd type="none" w="med" len="med"/>
                      <a:tailEnd type="none" w="med" len="med"/>
                    </a:lnL>
                    <a:lnR w="6350" cap="flat" cmpd="sng" algn="ctr">
                      <a:solidFill>
                        <a:srgbClr val="2A2F4A"/>
                      </a:solidFill>
                      <a:prstDash val="solid"/>
                      <a:round/>
                      <a:headEnd type="none" w="med" len="med"/>
                      <a:tailEnd type="none" w="med" len="med"/>
                    </a:lnR>
                    <a:lnT w="6350" cap="flat" cmpd="sng" algn="ctr">
                      <a:solidFill>
                        <a:srgbClr val="2A2F4A"/>
                      </a:solidFill>
                      <a:prstDash val="solid"/>
                      <a:round/>
                      <a:headEnd type="none" w="med" len="med"/>
                      <a:tailEnd type="none" w="med" len="med"/>
                    </a:lnT>
                    <a:lnB w="6350" cap="flat" cmpd="sng" algn="ctr">
                      <a:solidFill>
                        <a:srgbClr val="2A2F4A"/>
                      </a:solidFill>
                      <a:prstDash val="solid"/>
                      <a:round/>
                      <a:headEnd type="none" w="med" len="med"/>
                      <a:tailEnd type="none" w="med" len="med"/>
                    </a:lnB>
                    <a:solidFill>
                      <a:srgbClr val="0D1230"/>
                    </a:solidFill>
                  </a:tcPr>
                </a:tc>
                <a:tc>
                  <a:txBody>
                    <a:bodyPr/>
                    <a:lstStyle/>
                    <a:p>
                      <a:pPr marL="0" indent="0">
                        <a:buNone/>
                      </a:pPr>
                      <a:r>
                        <a:rPr lang="en-US" sz="1050" b="1" dirty="0">
                          <a:solidFill>
                            <a:srgbClr val="60A5FA"/>
                          </a:solidFill>
                          <a:latin typeface="Consolas" pitchFamily="34" charset="0"/>
                          <a:ea typeface="Consolas" pitchFamily="34" charset="-122"/>
                          <a:cs typeface="Consolas" pitchFamily="34" charset="-120"/>
                        </a:rPr>
                        <a:t>RESOLUTION</a:t>
                      </a:r>
                      <a:endParaRPr lang="en-US" sz="1050" dirty="0">
                        <a:latin typeface="Consolas" charset="0"/>
                        <a:ea typeface="Consolas" charset="0"/>
                        <a:cs typeface="Consolas" charset="0"/>
                      </a:endParaRPr>
                    </a:p>
                  </a:txBody>
                  <a:tcPr marL="109728" marR="109728" marT="54864" marB="54864" anchor="ctr">
                    <a:lnL w="6350" cap="flat" cmpd="sng" algn="ctr">
                      <a:solidFill>
                        <a:srgbClr val="2A2F4A"/>
                      </a:solidFill>
                      <a:prstDash val="solid"/>
                      <a:round/>
                      <a:headEnd type="none" w="med" len="med"/>
                      <a:tailEnd type="none" w="med" len="med"/>
                    </a:lnL>
                    <a:lnR w="6350" cap="flat" cmpd="sng" algn="ctr">
                      <a:solidFill>
                        <a:srgbClr val="2A2F4A"/>
                      </a:solidFill>
                      <a:prstDash val="solid"/>
                      <a:round/>
                      <a:headEnd type="none" w="med" len="med"/>
                      <a:tailEnd type="none" w="med" len="med"/>
                    </a:lnR>
                    <a:lnT w="6350" cap="flat" cmpd="sng" algn="ctr">
                      <a:solidFill>
                        <a:srgbClr val="2A2F4A"/>
                      </a:solidFill>
                      <a:prstDash val="solid"/>
                      <a:round/>
                      <a:headEnd type="none" w="med" len="med"/>
                      <a:tailEnd type="none" w="med" len="med"/>
                    </a:lnT>
                    <a:lnB w="6350" cap="flat" cmpd="sng" algn="ctr">
                      <a:solidFill>
                        <a:srgbClr val="2A2F4A"/>
                      </a:solidFill>
                      <a:prstDash val="solid"/>
                      <a:round/>
                      <a:headEnd type="none" w="med" len="med"/>
                      <a:tailEnd type="none" w="med" len="med"/>
                    </a:lnB>
                    <a:solidFill>
                      <a:srgbClr val="0D1230"/>
                    </a:solidFill>
                  </a:tcPr>
                </a:tc>
                <a:extLst>
                  <a:ext uri="{0D108BD9-81ED-4DB2-BD59-A6C34878D82A}">
                    <a16:rowId xmlns:a16="http://schemas.microsoft.com/office/drawing/2014/main" val="10000"/>
                  </a:ext>
                </a:extLst>
              </a:tr>
              <a:tr h="508000">
                <a:tc>
                  <a:txBody>
                    <a:bodyPr/>
                    <a:lstStyle/>
                    <a:p>
                      <a:pPr marL="0" indent="0">
                        <a:buNone/>
                      </a:pPr>
                      <a:r>
                        <a:rPr lang="en-US" sz="1100" dirty="0">
                          <a:solidFill>
                            <a:srgbClr val="E9ECF8"/>
                          </a:solidFill>
                        </a:rPr>
                        <a:t>Blank customer email</a:t>
                      </a:r>
                      <a:endParaRPr lang="en-US" sz="1100" dirty="0"/>
                    </a:p>
                  </a:txBody>
                  <a:tcPr marL="109728" marR="109728" marT="54864" marB="54864" anchor="ctr">
                    <a:lnL w="6350" cap="flat" cmpd="sng" algn="ctr">
                      <a:solidFill>
                        <a:srgbClr val="2A2F4A"/>
                      </a:solidFill>
                      <a:prstDash val="solid"/>
                      <a:round/>
                      <a:headEnd type="none" w="med" len="med"/>
                      <a:tailEnd type="none" w="med" len="med"/>
                    </a:lnL>
                    <a:lnR w="6350" cap="flat" cmpd="sng" algn="ctr">
                      <a:solidFill>
                        <a:srgbClr val="2A2F4A"/>
                      </a:solidFill>
                      <a:prstDash val="solid"/>
                      <a:round/>
                      <a:headEnd type="none" w="med" len="med"/>
                      <a:tailEnd type="none" w="med" len="med"/>
                    </a:lnR>
                    <a:lnT w="6350" cap="flat" cmpd="sng" algn="ctr">
                      <a:solidFill>
                        <a:srgbClr val="2A2F4A"/>
                      </a:solidFill>
                      <a:prstDash val="solid"/>
                      <a:round/>
                      <a:headEnd type="none" w="med" len="med"/>
                      <a:tailEnd type="none" w="med" len="med"/>
                    </a:lnT>
                    <a:lnB w="6350" cap="flat" cmpd="sng" algn="ctr">
                      <a:solidFill>
                        <a:srgbClr val="2A2F4A"/>
                      </a:solidFill>
                      <a:prstDash val="solid"/>
                      <a:round/>
                      <a:headEnd type="none" w="med" len="med"/>
                      <a:tailEnd type="none" w="med" len="med"/>
                    </a:lnB>
                    <a:solidFill>
                      <a:srgbClr val="141A33"/>
                    </a:solidFill>
                  </a:tcPr>
                </a:tc>
                <a:tc>
                  <a:txBody>
                    <a:bodyPr/>
                    <a:lstStyle/>
                    <a:p>
                      <a:pPr marL="0" indent="0">
                        <a:buNone/>
                      </a:pPr>
                      <a:r>
                        <a:rPr lang="en-US" sz="1100" dirty="0">
                          <a:solidFill>
                            <a:srgbClr val="F472B6"/>
                          </a:solidFill>
                          <a:latin typeface="Consolas" pitchFamily="34" charset="0"/>
                          <a:ea typeface="Consolas" pitchFamily="34" charset="-122"/>
                          <a:cs typeface="Consolas" pitchFamily="34" charset="-120"/>
                        </a:rPr>
                        <a:t>811 rows (16.2%)</a:t>
                      </a:r>
                      <a:endParaRPr lang="en-US" sz="1100" dirty="0">
                        <a:latin typeface="Consolas" charset="0"/>
                        <a:ea typeface="Consolas" charset="0"/>
                        <a:cs typeface="Consolas" charset="0"/>
                      </a:endParaRPr>
                    </a:p>
                  </a:txBody>
                  <a:tcPr marL="109728" marR="109728" marT="54864" marB="54864" anchor="ctr">
                    <a:lnL w="6350" cap="flat" cmpd="sng" algn="ctr">
                      <a:solidFill>
                        <a:srgbClr val="2A2F4A"/>
                      </a:solidFill>
                      <a:prstDash val="solid"/>
                      <a:round/>
                      <a:headEnd type="none" w="med" len="med"/>
                      <a:tailEnd type="none" w="med" len="med"/>
                    </a:lnL>
                    <a:lnR w="6350" cap="flat" cmpd="sng" algn="ctr">
                      <a:solidFill>
                        <a:srgbClr val="2A2F4A"/>
                      </a:solidFill>
                      <a:prstDash val="solid"/>
                      <a:round/>
                      <a:headEnd type="none" w="med" len="med"/>
                      <a:tailEnd type="none" w="med" len="med"/>
                    </a:lnR>
                    <a:lnT w="6350" cap="flat" cmpd="sng" algn="ctr">
                      <a:solidFill>
                        <a:srgbClr val="2A2F4A"/>
                      </a:solidFill>
                      <a:prstDash val="solid"/>
                      <a:round/>
                      <a:headEnd type="none" w="med" len="med"/>
                      <a:tailEnd type="none" w="med" len="med"/>
                    </a:lnT>
                    <a:lnB w="6350" cap="flat" cmpd="sng" algn="ctr">
                      <a:solidFill>
                        <a:srgbClr val="2A2F4A"/>
                      </a:solidFill>
                      <a:prstDash val="solid"/>
                      <a:round/>
                      <a:headEnd type="none" w="med" len="med"/>
                      <a:tailEnd type="none" w="med" len="med"/>
                    </a:lnB>
                    <a:solidFill>
                      <a:srgbClr val="141A33"/>
                    </a:solidFill>
                  </a:tcPr>
                </a:tc>
                <a:tc>
                  <a:txBody>
                    <a:bodyPr/>
                    <a:lstStyle/>
                    <a:p>
                      <a:pPr marL="0" indent="0">
                        <a:buNone/>
                      </a:pPr>
                      <a:r>
                        <a:rPr lang="en-US" sz="1050" dirty="0">
                          <a:solidFill>
                            <a:srgbClr val="9098BD"/>
                          </a:solidFill>
                        </a:rPr>
                        <a:t>Replaced with placeholder</a:t>
                      </a:r>
                      <a:endParaRPr lang="en-US" sz="1050" dirty="0"/>
                    </a:p>
                  </a:txBody>
                  <a:tcPr marL="109728" marR="109728" marT="54864" marB="54864" anchor="ctr">
                    <a:lnL w="6350" cap="flat" cmpd="sng" algn="ctr">
                      <a:solidFill>
                        <a:srgbClr val="2A2F4A"/>
                      </a:solidFill>
                      <a:prstDash val="solid"/>
                      <a:round/>
                      <a:headEnd type="none" w="med" len="med"/>
                      <a:tailEnd type="none" w="med" len="med"/>
                    </a:lnL>
                    <a:lnR w="6350" cap="flat" cmpd="sng" algn="ctr">
                      <a:solidFill>
                        <a:srgbClr val="2A2F4A"/>
                      </a:solidFill>
                      <a:prstDash val="solid"/>
                      <a:round/>
                      <a:headEnd type="none" w="med" len="med"/>
                      <a:tailEnd type="none" w="med" len="med"/>
                    </a:lnR>
                    <a:lnT w="6350" cap="flat" cmpd="sng" algn="ctr">
                      <a:solidFill>
                        <a:srgbClr val="2A2F4A"/>
                      </a:solidFill>
                      <a:prstDash val="solid"/>
                      <a:round/>
                      <a:headEnd type="none" w="med" len="med"/>
                      <a:tailEnd type="none" w="med" len="med"/>
                    </a:lnT>
                    <a:lnB w="6350" cap="flat" cmpd="sng" algn="ctr">
                      <a:solidFill>
                        <a:srgbClr val="2A2F4A"/>
                      </a:solidFill>
                      <a:prstDash val="solid"/>
                      <a:round/>
                      <a:headEnd type="none" w="med" len="med"/>
                      <a:tailEnd type="none" w="med" len="med"/>
                    </a:lnB>
                    <a:solidFill>
                      <a:srgbClr val="141A33"/>
                    </a:solidFill>
                  </a:tcPr>
                </a:tc>
                <a:extLst>
                  <a:ext uri="{0D108BD9-81ED-4DB2-BD59-A6C34878D82A}">
                    <a16:rowId xmlns:a16="http://schemas.microsoft.com/office/drawing/2014/main" val="10001"/>
                  </a:ext>
                </a:extLst>
              </a:tr>
              <a:tr h="508000">
                <a:tc>
                  <a:txBody>
                    <a:bodyPr/>
                    <a:lstStyle/>
                    <a:p>
                      <a:pPr marL="0" indent="0">
                        <a:buNone/>
                      </a:pPr>
                      <a:r>
                        <a:rPr lang="en-US" sz="1100" dirty="0">
                          <a:solidFill>
                            <a:srgbClr val="E9ECF8"/>
                          </a:solidFill>
                        </a:rPr>
                        <a:t>Anonymous walk-in sales</a:t>
                      </a:r>
                      <a:endParaRPr lang="en-US" sz="1100" dirty="0"/>
                    </a:p>
                  </a:txBody>
                  <a:tcPr marL="109728" marR="109728" marT="54864" marB="54864" anchor="ctr">
                    <a:lnL w="6350" cap="flat" cmpd="sng" algn="ctr">
                      <a:solidFill>
                        <a:srgbClr val="2A2F4A"/>
                      </a:solidFill>
                      <a:prstDash val="solid"/>
                      <a:round/>
                      <a:headEnd type="none" w="med" len="med"/>
                      <a:tailEnd type="none" w="med" len="med"/>
                    </a:lnL>
                    <a:lnR w="6350" cap="flat" cmpd="sng" algn="ctr">
                      <a:solidFill>
                        <a:srgbClr val="2A2F4A"/>
                      </a:solidFill>
                      <a:prstDash val="solid"/>
                      <a:round/>
                      <a:headEnd type="none" w="med" len="med"/>
                      <a:tailEnd type="none" w="med" len="med"/>
                    </a:lnR>
                    <a:lnT w="6350" cap="flat" cmpd="sng" algn="ctr">
                      <a:solidFill>
                        <a:srgbClr val="2A2F4A"/>
                      </a:solidFill>
                      <a:prstDash val="solid"/>
                      <a:round/>
                      <a:headEnd type="none" w="med" len="med"/>
                      <a:tailEnd type="none" w="med" len="med"/>
                    </a:lnT>
                    <a:lnB w="6350" cap="flat" cmpd="sng" algn="ctr">
                      <a:solidFill>
                        <a:srgbClr val="2A2F4A"/>
                      </a:solidFill>
                      <a:prstDash val="solid"/>
                      <a:round/>
                      <a:headEnd type="none" w="med" len="med"/>
                      <a:tailEnd type="none" w="med" len="med"/>
                    </a:lnB>
                    <a:solidFill>
                      <a:srgbClr val="141A33"/>
                    </a:solidFill>
                  </a:tcPr>
                </a:tc>
                <a:tc>
                  <a:txBody>
                    <a:bodyPr/>
                    <a:lstStyle/>
                    <a:p>
                      <a:pPr marL="0" indent="0">
                        <a:buNone/>
                      </a:pPr>
                      <a:r>
                        <a:rPr lang="en-US" sz="1100" dirty="0">
                          <a:solidFill>
                            <a:srgbClr val="F472B6"/>
                          </a:solidFill>
                          <a:latin typeface="Consolas" pitchFamily="34" charset="0"/>
                          <a:ea typeface="Consolas" pitchFamily="34" charset="-122"/>
                          <a:cs typeface="Consolas" pitchFamily="34" charset="-120"/>
                        </a:rPr>
                        <a:t>253 rows (5.1%)</a:t>
                      </a:r>
                      <a:endParaRPr lang="en-US" sz="1100" dirty="0">
                        <a:latin typeface="Consolas" charset="0"/>
                        <a:ea typeface="Consolas" charset="0"/>
                        <a:cs typeface="Consolas" charset="0"/>
                      </a:endParaRPr>
                    </a:p>
                  </a:txBody>
                  <a:tcPr marL="109728" marR="109728" marT="54864" marB="54864" anchor="ctr">
                    <a:lnL w="6350" cap="flat" cmpd="sng" algn="ctr">
                      <a:solidFill>
                        <a:srgbClr val="2A2F4A"/>
                      </a:solidFill>
                      <a:prstDash val="solid"/>
                      <a:round/>
                      <a:headEnd type="none" w="med" len="med"/>
                      <a:tailEnd type="none" w="med" len="med"/>
                    </a:lnL>
                    <a:lnR w="6350" cap="flat" cmpd="sng" algn="ctr">
                      <a:solidFill>
                        <a:srgbClr val="2A2F4A"/>
                      </a:solidFill>
                      <a:prstDash val="solid"/>
                      <a:round/>
                      <a:headEnd type="none" w="med" len="med"/>
                      <a:tailEnd type="none" w="med" len="med"/>
                    </a:lnR>
                    <a:lnT w="6350" cap="flat" cmpd="sng" algn="ctr">
                      <a:solidFill>
                        <a:srgbClr val="2A2F4A"/>
                      </a:solidFill>
                      <a:prstDash val="solid"/>
                      <a:round/>
                      <a:headEnd type="none" w="med" len="med"/>
                      <a:tailEnd type="none" w="med" len="med"/>
                    </a:lnT>
                    <a:lnB w="6350" cap="flat" cmpd="sng" algn="ctr">
                      <a:solidFill>
                        <a:srgbClr val="2A2F4A"/>
                      </a:solidFill>
                      <a:prstDash val="solid"/>
                      <a:round/>
                      <a:headEnd type="none" w="med" len="med"/>
                      <a:tailEnd type="none" w="med" len="med"/>
                    </a:lnB>
                    <a:solidFill>
                      <a:srgbClr val="141A33"/>
                    </a:solidFill>
                  </a:tcPr>
                </a:tc>
                <a:tc>
                  <a:txBody>
                    <a:bodyPr/>
                    <a:lstStyle/>
                    <a:p>
                      <a:pPr marL="0" indent="0">
                        <a:buNone/>
                      </a:pPr>
                      <a:r>
                        <a:rPr lang="en-US" sz="1050" dirty="0">
                          <a:solidFill>
                            <a:srgbClr val="9098BD"/>
                          </a:solidFill>
                        </a:rPr>
                        <a:t>Merged into one walk-in record</a:t>
                      </a:r>
                      <a:endParaRPr lang="en-US" sz="1050" dirty="0"/>
                    </a:p>
                  </a:txBody>
                  <a:tcPr marL="109728" marR="109728" marT="54864" marB="54864" anchor="ctr">
                    <a:lnL w="6350" cap="flat" cmpd="sng" algn="ctr">
                      <a:solidFill>
                        <a:srgbClr val="2A2F4A"/>
                      </a:solidFill>
                      <a:prstDash val="solid"/>
                      <a:round/>
                      <a:headEnd type="none" w="med" len="med"/>
                      <a:tailEnd type="none" w="med" len="med"/>
                    </a:lnL>
                    <a:lnR w="6350" cap="flat" cmpd="sng" algn="ctr">
                      <a:solidFill>
                        <a:srgbClr val="2A2F4A"/>
                      </a:solidFill>
                      <a:prstDash val="solid"/>
                      <a:round/>
                      <a:headEnd type="none" w="med" len="med"/>
                      <a:tailEnd type="none" w="med" len="med"/>
                    </a:lnR>
                    <a:lnT w="6350" cap="flat" cmpd="sng" algn="ctr">
                      <a:solidFill>
                        <a:srgbClr val="2A2F4A"/>
                      </a:solidFill>
                      <a:prstDash val="solid"/>
                      <a:round/>
                      <a:headEnd type="none" w="med" len="med"/>
                      <a:tailEnd type="none" w="med" len="med"/>
                    </a:lnT>
                    <a:lnB w="6350" cap="flat" cmpd="sng" algn="ctr">
                      <a:solidFill>
                        <a:srgbClr val="2A2F4A"/>
                      </a:solidFill>
                      <a:prstDash val="solid"/>
                      <a:round/>
                      <a:headEnd type="none" w="med" len="med"/>
                      <a:tailEnd type="none" w="med" len="med"/>
                    </a:lnB>
                    <a:solidFill>
                      <a:srgbClr val="141A33"/>
                    </a:solidFill>
                  </a:tcPr>
                </a:tc>
                <a:extLst>
                  <a:ext uri="{0D108BD9-81ED-4DB2-BD59-A6C34878D82A}">
                    <a16:rowId xmlns:a16="http://schemas.microsoft.com/office/drawing/2014/main" val="10002"/>
                  </a:ext>
                </a:extLst>
              </a:tr>
              <a:tr h="508000">
                <a:tc>
                  <a:txBody>
                    <a:bodyPr/>
                    <a:lstStyle/>
                    <a:p>
                      <a:pPr marL="0" indent="0">
                        <a:buNone/>
                      </a:pPr>
                      <a:r>
                        <a:rPr lang="en-US" sz="1100" dirty="0">
                          <a:solidFill>
                            <a:srgbClr val="E9ECF8"/>
                          </a:solidFill>
                        </a:rPr>
                        <a:t>Inconsistent date formats</a:t>
                      </a:r>
                      <a:endParaRPr lang="en-US" sz="1100" dirty="0"/>
                    </a:p>
                  </a:txBody>
                  <a:tcPr marL="109728" marR="109728" marT="54864" marB="54864" anchor="ctr">
                    <a:lnL w="6350" cap="flat" cmpd="sng" algn="ctr">
                      <a:solidFill>
                        <a:srgbClr val="2A2F4A"/>
                      </a:solidFill>
                      <a:prstDash val="solid"/>
                      <a:round/>
                      <a:headEnd type="none" w="med" len="med"/>
                      <a:tailEnd type="none" w="med" len="med"/>
                    </a:lnL>
                    <a:lnR w="6350" cap="flat" cmpd="sng" algn="ctr">
                      <a:solidFill>
                        <a:srgbClr val="2A2F4A"/>
                      </a:solidFill>
                      <a:prstDash val="solid"/>
                      <a:round/>
                      <a:headEnd type="none" w="med" len="med"/>
                      <a:tailEnd type="none" w="med" len="med"/>
                    </a:lnR>
                    <a:lnT w="6350" cap="flat" cmpd="sng" algn="ctr">
                      <a:solidFill>
                        <a:srgbClr val="2A2F4A"/>
                      </a:solidFill>
                      <a:prstDash val="solid"/>
                      <a:round/>
                      <a:headEnd type="none" w="med" len="med"/>
                      <a:tailEnd type="none" w="med" len="med"/>
                    </a:lnT>
                    <a:lnB w="6350" cap="flat" cmpd="sng" algn="ctr">
                      <a:solidFill>
                        <a:srgbClr val="2A2F4A"/>
                      </a:solidFill>
                      <a:prstDash val="solid"/>
                      <a:round/>
                      <a:headEnd type="none" w="med" len="med"/>
                      <a:tailEnd type="none" w="med" len="med"/>
                    </a:lnB>
                    <a:solidFill>
                      <a:srgbClr val="141A33"/>
                    </a:solidFill>
                  </a:tcPr>
                </a:tc>
                <a:tc>
                  <a:txBody>
                    <a:bodyPr/>
                    <a:lstStyle/>
                    <a:p>
                      <a:pPr marL="0" indent="0">
                        <a:buNone/>
                      </a:pPr>
                      <a:r>
                        <a:rPr lang="en-US" sz="1100" dirty="0">
                          <a:solidFill>
                            <a:srgbClr val="F472B6"/>
                          </a:solidFill>
                          <a:latin typeface="Consolas" pitchFamily="34" charset="0"/>
                          <a:ea typeface="Consolas" pitchFamily="34" charset="-122"/>
                          <a:cs typeface="Consolas" pitchFamily="34" charset="-120"/>
                        </a:rPr>
                        <a:t>388 rows (7.8%)</a:t>
                      </a:r>
                      <a:endParaRPr lang="en-US" sz="1100" dirty="0">
                        <a:latin typeface="Consolas" charset="0"/>
                        <a:ea typeface="Consolas" charset="0"/>
                        <a:cs typeface="Consolas" charset="0"/>
                      </a:endParaRPr>
                    </a:p>
                  </a:txBody>
                  <a:tcPr marL="109728" marR="109728" marT="54864" marB="54864" anchor="ctr">
                    <a:lnL w="6350" cap="flat" cmpd="sng" algn="ctr">
                      <a:solidFill>
                        <a:srgbClr val="2A2F4A"/>
                      </a:solidFill>
                      <a:prstDash val="solid"/>
                      <a:round/>
                      <a:headEnd type="none" w="med" len="med"/>
                      <a:tailEnd type="none" w="med" len="med"/>
                    </a:lnL>
                    <a:lnR w="6350" cap="flat" cmpd="sng" algn="ctr">
                      <a:solidFill>
                        <a:srgbClr val="2A2F4A"/>
                      </a:solidFill>
                      <a:prstDash val="solid"/>
                      <a:round/>
                      <a:headEnd type="none" w="med" len="med"/>
                      <a:tailEnd type="none" w="med" len="med"/>
                    </a:lnR>
                    <a:lnT w="6350" cap="flat" cmpd="sng" algn="ctr">
                      <a:solidFill>
                        <a:srgbClr val="2A2F4A"/>
                      </a:solidFill>
                      <a:prstDash val="solid"/>
                      <a:round/>
                      <a:headEnd type="none" w="med" len="med"/>
                      <a:tailEnd type="none" w="med" len="med"/>
                    </a:lnT>
                    <a:lnB w="6350" cap="flat" cmpd="sng" algn="ctr">
                      <a:solidFill>
                        <a:srgbClr val="2A2F4A"/>
                      </a:solidFill>
                      <a:prstDash val="solid"/>
                      <a:round/>
                      <a:headEnd type="none" w="med" len="med"/>
                      <a:tailEnd type="none" w="med" len="med"/>
                    </a:lnB>
                    <a:solidFill>
                      <a:srgbClr val="141A33"/>
                    </a:solidFill>
                  </a:tcPr>
                </a:tc>
                <a:tc>
                  <a:txBody>
                    <a:bodyPr/>
                    <a:lstStyle/>
                    <a:p>
                      <a:pPr marL="0" indent="0">
                        <a:buNone/>
                      </a:pPr>
                      <a:r>
                        <a:rPr lang="en-US" sz="1050" dirty="0">
                          <a:solidFill>
                            <a:srgbClr val="9098BD"/>
                          </a:solidFill>
                        </a:rPr>
                        <a:t>Multi-format TRY_CONVERT chain</a:t>
                      </a:r>
                      <a:endParaRPr lang="en-US" sz="1050" dirty="0"/>
                    </a:p>
                  </a:txBody>
                  <a:tcPr marL="109728" marR="109728" marT="54864" marB="54864" anchor="ctr">
                    <a:lnL w="6350" cap="flat" cmpd="sng" algn="ctr">
                      <a:solidFill>
                        <a:srgbClr val="2A2F4A"/>
                      </a:solidFill>
                      <a:prstDash val="solid"/>
                      <a:round/>
                      <a:headEnd type="none" w="med" len="med"/>
                      <a:tailEnd type="none" w="med" len="med"/>
                    </a:lnL>
                    <a:lnR w="6350" cap="flat" cmpd="sng" algn="ctr">
                      <a:solidFill>
                        <a:srgbClr val="2A2F4A"/>
                      </a:solidFill>
                      <a:prstDash val="solid"/>
                      <a:round/>
                      <a:headEnd type="none" w="med" len="med"/>
                      <a:tailEnd type="none" w="med" len="med"/>
                    </a:lnR>
                    <a:lnT w="6350" cap="flat" cmpd="sng" algn="ctr">
                      <a:solidFill>
                        <a:srgbClr val="2A2F4A"/>
                      </a:solidFill>
                      <a:prstDash val="solid"/>
                      <a:round/>
                      <a:headEnd type="none" w="med" len="med"/>
                      <a:tailEnd type="none" w="med" len="med"/>
                    </a:lnT>
                    <a:lnB w="6350" cap="flat" cmpd="sng" algn="ctr">
                      <a:solidFill>
                        <a:srgbClr val="2A2F4A"/>
                      </a:solidFill>
                      <a:prstDash val="solid"/>
                      <a:round/>
                      <a:headEnd type="none" w="med" len="med"/>
                      <a:tailEnd type="none" w="med" len="med"/>
                    </a:lnB>
                    <a:solidFill>
                      <a:srgbClr val="141A33"/>
                    </a:solidFill>
                  </a:tcPr>
                </a:tc>
                <a:extLst>
                  <a:ext uri="{0D108BD9-81ED-4DB2-BD59-A6C34878D82A}">
                    <a16:rowId xmlns:a16="http://schemas.microsoft.com/office/drawing/2014/main" val="10003"/>
                  </a:ext>
                </a:extLst>
              </a:tr>
              <a:tr h="508000">
                <a:tc>
                  <a:txBody>
                    <a:bodyPr/>
                    <a:lstStyle/>
                    <a:p>
                      <a:pPr marL="0" indent="0">
                        <a:buNone/>
                      </a:pPr>
                      <a:r>
                        <a:rPr lang="en-US" sz="1100" dirty="0">
                          <a:solidFill>
                            <a:srgbClr val="E9ECF8"/>
                          </a:solidFill>
                        </a:rPr>
                        <a:t>Inconsistent payment casing</a:t>
                      </a:r>
                      <a:endParaRPr lang="en-US" sz="1100" dirty="0"/>
                    </a:p>
                  </a:txBody>
                  <a:tcPr marL="109728" marR="109728" marT="54864" marB="54864" anchor="ctr">
                    <a:lnL w="6350" cap="flat" cmpd="sng" algn="ctr">
                      <a:solidFill>
                        <a:srgbClr val="2A2F4A"/>
                      </a:solidFill>
                      <a:prstDash val="solid"/>
                      <a:round/>
                      <a:headEnd type="none" w="med" len="med"/>
                      <a:tailEnd type="none" w="med" len="med"/>
                    </a:lnL>
                    <a:lnR w="6350" cap="flat" cmpd="sng" algn="ctr">
                      <a:solidFill>
                        <a:srgbClr val="2A2F4A"/>
                      </a:solidFill>
                      <a:prstDash val="solid"/>
                      <a:round/>
                      <a:headEnd type="none" w="med" len="med"/>
                      <a:tailEnd type="none" w="med" len="med"/>
                    </a:lnR>
                    <a:lnT w="6350" cap="flat" cmpd="sng" algn="ctr">
                      <a:solidFill>
                        <a:srgbClr val="2A2F4A"/>
                      </a:solidFill>
                      <a:prstDash val="solid"/>
                      <a:round/>
                      <a:headEnd type="none" w="med" len="med"/>
                      <a:tailEnd type="none" w="med" len="med"/>
                    </a:lnT>
                    <a:lnB w="6350" cap="flat" cmpd="sng" algn="ctr">
                      <a:solidFill>
                        <a:srgbClr val="2A2F4A"/>
                      </a:solidFill>
                      <a:prstDash val="solid"/>
                      <a:round/>
                      <a:headEnd type="none" w="med" len="med"/>
                      <a:tailEnd type="none" w="med" len="med"/>
                    </a:lnB>
                    <a:solidFill>
                      <a:srgbClr val="141A33"/>
                    </a:solidFill>
                  </a:tcPr>
                </a:tc>
                <a:tc>
                  <a:txBody>
                    <a:bodyPr/>
                    <a:lstStyle/>
                    <a:p>
                      <a:pPr marL="0" indent="0">
                        <a:buNone/>
                      </a:pPr>
                      <a:r>
                        <a:rPr lang="en-US" sz="1100" dirty="0">
                          <a:solidFill>
                            <a:srgbClr val="F472B6"/>
                          </a:solidFill>
                          <a:latin typeface="Consolas" pitchFamily="34" charset="0"/>
                          <a:ea typeface="Consolas" pitchFamily="34" charset="-122"/>
                          <a:cs typeface="Consolas" pitchFamily="34" charset="-120"/>
                        </a:rPr>
                        <a:t>4,446 rows (88.9%)</a:t>
                      </a:r>
                      <a:endParaRPr lang="en-US" sz="1100" dirty="0">
                        <a:latin typeface="Consolas" charset="0"/>
                        <a:ea typeface="Consolas" charset="0"/>
                        <a:cs typeface="Consolas" charset="0"/>
                      </a:endParaRPr>
                    </a:p>
                  </a:txBody>
                  <a:tcPr marL="109728" marR="109728" marT="54864" marB="54864" anchor="ctr">
                    <a:lnL w="6350" cap="flat" cmpd="sng" algn="ctr">
                      <a:solidFill>
                        <a:srgbClr val="2A2F4A"/>
                      </a:solidFill>
                      <a:prstDash val="solid"/>
                      <a:round/>
                      <a:headEnd type="none" w="med" len="med"/>
                      <a:tailEnd type="none" w="med" len="med"/>
                    </a:lnL>
                    <a:lnR w="6350" cap="flat" cmpd="sng" algn="ctr">
                      <a:solidFill>
                        <a:srgbClr val="2A2F4A"/>
                      </a:solidFill>
                      <a:prstDash val="solid"/>
                      <a:round/>
                      <a:headEnd type="none" w="med" len="med"/>
                      <a:tailEnd type="none" w="med" len="med"/>
                    </a:lnR>
                    <a:lnT w="6350" cap="flat" cmpd="sng" algn="ctr">
                      <a:solidFill>
                        <a:srgbClr val="2A2F4A"/>
                      </a:solidFill>
                      <a:prstDash val="solid"/>
                      <a:round/>
                      <a:headEnd type="none" w="med" len="med"/>
                      <a:tailEnd type="none" w="med" len="med"/>
                    </a:lnT>
                    <a:lnB w="6350" cap="flat" cmpd="sng" algn="ctr">
                      <a:solidFill>
                        <a:srgbClr val="2A2F4A"/>
                      </a:solidFill>
                      <a:prstDash val="solid"/>
                      <a:round/>
                      <a:headEnd type="none" w="med" len="med"/>
                      <a:tailEnd type="none" w="med" len="med"/>
                    </a:lnB>
                    <a:solidFill>
                      <a:srgbClr val="141A33"/>
                    </a:solidFill>
                  </a:tcPr>
                </a:tc>
                <a:tc>
                  <a:txBody>
                    <a:bodyPr/>
                    <a:lstStyle/>
                    <a:p>
                      <a:pPr marL="0" indent="0">
                        <a:buNone/>
                      </a:pPr>
                      <a:r>
                        <a:rPr lang="en-US" sz="1050" dirty="0">
                          <a:solidFill>
                            <a:srgbClr val="9098BD"/>
                          </a:solidFill>
                        </a:rPr>
                        <a:t>Standardised to fixed values</a:t>
                      </a:r>
                      <a:endParaRPr lang="en-US" sz="1050" dirty="0"/>
                    </a:p>
                  </a:txBody>
                  <a:tcPr marL="109728" marR="109728" marT="54864" marB="54864" anchor="ctr">
                    <a:lnL w="6350" cap="flat" cmpd="sng" algn="ctr">
                      <a:solidFill>
                        <a:srgbClr val="2A2F4A"/>
                      </a:solidFill>
                      <a:prstDash val="solid"/>
                      <a:round/>
                      <a:headEnd type="none" w="med" len="med"/>
                      <a:tailEnd type="none" w="med" len="med"/>
                    </a:lnL>
                    <a:lnR w="6350" cap="flat" cmpd="sng" algn="ctr">
                      <a:solidFill>
                        <a:srgbClr val="2A2F4A"/>
                      </a:solidFill>
                      <a:prstDash val="solid"/>
                      <a:round/>
                      <a:headEnd type="none" w="med" len="med"/>
                      <a:tailEnd type="none" w="med" len="med"/>
                    </a:lnR>
                    <a:lnT w="6350" cap="flat" cmpd="sng" algn="ctr">
                      <a:solidFill>
                        <a:srgbClr val="2A2F4A"/>
                      </a:solidFill>
                      <a:prstDash val="solid"/>
                      <a:round/>
                      <a:headEnd type="none" w="med" len="med"/>
                      <a:tailEnd type="none" w="med" len="med"/>
                    </a:lnT>
                    <a:lnB w="6350" cap="flat" cmpd="sng" algn="ctr">
                      <a:solidFill>
                        <a:srgbClr val="2A2F4A"/>
                      </a:solidFill>
                      <a:prstDash val="solid"/>
                      <a:round/>
                      <a:headEnd type="none" w="med" len="med"/>
                      <a:tailEnd type="none" w="med" len="med"/>
                    </a:lnB>
                    <a:solidFill>
                      <a:srgbClr val="141A33"/>
                    </a:solidFill>
                  </a:tcPr>
                </a:tc>
                <a:extLst>
                  <a:ext uri="{0D108BD9-81ED-4DB2-BD59-A6C34878D82A}">
                    <a16:rowId xmlns:a16="http://schemas.microsoft.com/office/drawing/2014/main" val="10004"/>
                  </a:ext>
                </a:extLst>
              </a:tr>
              <a:tr h="508000">
                <a:tc>
                  <a:txBody>
                    <a:bodyPr/>
                    <a:lstStyle/>
                    <a:p>
                      <a:pPr marL="0" indent="0">
                        <a:buNone/>
                      </a:pPr>
                      <a:r>
                        <a:rPr lang="en-US" sz="1100" dirty="0">
                          <a:solidFill>
                            <a:srgbClr val="E9ECF8"/>
                          </a:solidFill>
                        </a:rPr>
                        <a:t>Blank product category</a:t>
                      </a:r>
                      <a:endParaRPr lang="en-US" sz="1100" dirty="0"/>
                    </a:p>
                  </a:txBody>
                  <a:tcPr marL="109728" marR="109728" marT="54864" marB="54864" anchor="ctr">
                    <a:lnL w="6350" cap="flat" cmpd="sng" algn="ctr">
                      <a:solidFill>
                        <a:srgbClr val="2A2F4A"/>
                      </a:solidFill>
                      <a:prstDash val="solid"/>
                      <a:round/>
                      <a:headEnd type="none" w="med" len="med"/>
                      <a:tailEnd type="none" w="med" len="med"/>
                    </a:lnL>
                    <a:lnR w="6350" cap="flat" cmpd="sng" algn="ctr">
                      <a:solidFill>
                        <a:srgbClr val="2A2F4A"/>
                      </a:solidFill>
                      <a:prstDash val="solid"/>
                      <a:round/>
                      <a:headEnd type="none" w="med" len="med"/>
                      <a:tailEnd type="none" w="med" len="med"/>
                    </a:lnR>
                    <a:lnT w="6350" cap="flat" cmpd="sng" algn="ctr">
                      <a:solidFill>
                        <a:srgbClr val="2A2F4A"/>
                      </a:solidFill>
                      <a:prstDash val="solid"/>
                      <a:round/>
                      <a:headEnd type="none" w="med" len="med"/>
                      <a:tailEnd type="none" w="med" len="med"/>
                    </a:lnT>
                    <a:lnB w="6350" cap="flat" cmpd="sng" algn="ctr">
                      <a:solidFill>
                        <a:srgbClr val="2A2F4A"/>
                      </a:solidFill>
                      <a:prstDash val="solid"/>
                      <a:round/>
                      <a:headEnd type="none" w="med" len="med"/>
                      <a:tailEnd type="none" w="med" len="med"/>
                    </a:lnB>
                    <a:solidFill>
                      <a:srgbClr val="141A33"/>
                    </a:solidFill>
                  </a:tcPr>
                </a:tc>
                <a:tc>
                  <a:txBody>
                    <a:bodyPr/>
                    <a:lstStyle/>
                    <a:p>
                      <a:pPr marL="0" indent="0">
                        <a:buNone/>
                      </a:pPr>
                      <a:r>
                        <a:rPr lang="en-US" sz="1100" dirty="0">
                          <a:solidFill>
                            <a:srgbClr val="F472B6"/>
                          </a:solidFill>
                          <a:latin typeface="Consolas" pitchFamily="34" charset="0"/>
                          <a:ea typeface="Consolas" pitchFamily="34" charset="-122"/>
                          <a:cs typeface="Consolas" pitchFamily="34" charset="-120"/>
                        </a:rPr>
                        <a:t>132 rows (2.6%)</a:t>
                      </a:r>
                      <a:endParaRPr lang="en-US" sz="1100" dirty="0">
                        <a:latin typeface="Consolas" charset="0"/>
                        <a:ea typeface="Consolas" charset="0"/>
                        <a:cs typeface="Consolas" charset="0"/>
                      </a:endParaRPr>
                    </a:p>
                  </a:txBody>
                  <a:tcPr marL="109728" marR="109728" marT="54864" marB="54864" anchor="ctr">
                    <a:lnL w="6350" cap="flat" cmpd="sng" algn="ctr">
                      <a:solidFill>
                        <a:srgbClr val="2A2F4A"/>
                      </a:solidFill>
                      <a:prstDash val="solid"/>
                      <a:round/>
                      <a:headEnd type="none" w="med" len="med"/>
                      <a:tailEnd type="none" w="med" len="med"/>
                    </a:lnL>
                    <a:lnR w="6350" cap="flat" cmpd="sng" algn="ctr">
                      <a:solidFill>
                        <a:srgbClr val="2A2F4A"/>
                      </a:solidFill>
                      <a:prstDash val="solid"/>
                      <a:round/>
                      <a:headEnd type="none" w="med" len="med"/>
                      <a:tailEnd type="none" w="med" len="med"/>
                    </a:lnR>
                    <a:lnT w="6350" cap="flat" cmpd="sng" algn="ctr">
                      <a:solidFill>
                        <a:srgbClr val="2A2F4A"/>
                      </a:solidFill>
                      <a:prstDash val="solid"/>
                      <a:round/>
                      <a:headEnd type="none" w="med" len="med"/>
                      <a:tailEnd type="none" w="med" len="med"/>
                    </a:lnT>
                    <a:lnB w="6350" cap="flat" cmpd="sng" algn="ctr">
                      <a:solidFill>
                        <a:srgbClr val="2A2F4A"/>
                      </a:solidFill>
                      <a:prstDash val="solid"/>
                      <a:round/>
                      <a:headEnd type="none" w="med" len="med"/>
                      <a:tailEnd type="none" w="med" len="med"/>
                    </a:lnB>
                    <a:solidFill>
                      <a:srgbClr val="141A33"/>
                    </a:solidFill>
                  </a:tcPr>
                </a:tc>
                <a:tc>
                  <a:txBody>
                    <a:bodyPr/>
                    <a:lstStyle/>
                    <a:p>
                      <a:pPr marL="0" indent="0">
                        <a:buNone/>
                      </a:pPr>
                      <a:r>
                        <a:rPr lang="en-US" sz="1050" dirty="0">
                          <a:solidFill>
                            <a:srgbClr val="9098BD"/>
                          </a:solidFill>
                        </a:rPr>
                        <a:t>Backfilled from same SKU</a:t>
                      </a:r>
                      <a:endParaRPr lang="en-US" sz="1050" dirty="0"/>
                    </a:p>
                  </a:txBody>
                  <a:tcPr marL="109728" marR="109728" marT="54864" marB="54864" anchor="ctr">
                    <a:lnL w="6350" cap="flat" cmpd="sng" algn="ctr">
                      <a:solidFill>
                        <a:srgbClr val="2A2F4A"/>
                      </a:solidFill>
                      <a:prstDash val="solid"/>
                      <a:round/>
                      <a:headEnd type="none" w="med" len="med"/>
                      <a:tailEnd type="none" w="med" len="med"/>
                    </a:lnL>
                    <a:lnR w="6350" cap="flat" cmpd="sng" algn="ctr">
                      <a:solidFill>
                        <a:srgbClr val="2A2F4A"/>
                      </a:solidFill>
                      <a:prstDash val="solid"/>
                      <a:round/>
                      <a:headEnd type="none" w="med" len="med"/>
                      <a:tailEnd type="none" w="med" len="med"/>
                    </a:lnR>
                    <a:lnT w="6350" cap="flat" cmpd="sng" algn="ctr">
                      <a:solidFill>
                        <a:srgbClr val="2A2F4A"/>
                      </a:solidFill>
                      <a:prstDash val="solid"/>
                      <a:round/>
                      <a:headEnd type="none" w="med" len="med"/>
                      <a:tailEnd type="none" w="med" len="med"/>
                    </a:lnT>
                    <a:lnB w="6350" cap="flat" cmpd="sng" algn="ctr">
                      <a:solidFill>
                        <a:srgbClr val="2A2F4A"/>
                      </a:solidFill>
                      <a:prstDash val="solid"/>
                      <a:round/>
                      <a:headEnd type="none" w="med" len="med"/>
                      <a:tailEnd type="none" w="med" len="med"/>
                    </a:lnB>
                    <a:solidFill>
                      <a:srgbClr val="141A33"/>
                    </a:solidFill>
                  </a:tcPr>
                </a:tc>
                <a:extLst>
                  <a:ext uri="{0D108BD9-81ED-4DB2-BD59-A6C34878D82A}">
                    <a16:rowId xmlns:a16="http://schemas.microsoft.com/office/drawing/2014/main" val="10005"/>
                  </a:ext>
                </a:extLst>
              </a:tr>
              <a:tr h="508000">
                <a:tc>
                  <a:txBody>
                    <a:bodyPr/>
                    <a:lstStyle/>
                    <a:p>
                      <a:pPr marL="0" indent="0">
                        <a:buNone/>
                      </a:pPr>
                      <a:r>
                        <a:rPr lang="en-US" sz="1100" dirty="0">
                          <a:solidFill>
                            <a:srgbClr val="E9ECF8"/>
                          </a:solidFill>
                        </a:rPr>
                        <a:t>Inconsistent name casing</a:t>
                      </a:r>
                      <a:endParaRPr lang="en-US" sz="1100" dirty="0"/>
                    </a:p>
                  </a:txBody>
                  <a:tcPr marL="109728" marR="109728" marT="54864" marB="54864" anchor="ctr">
                    <a:lnL w="6350" cap="flat" cmpd="sng" algn="ctr">
                      <a:solidFill>
                        <a:srgbClr val="2A2F4A"/>
                      </a:solidFill>
                      <a:prstDash val="solid"/>
                      <a:round/>
                      <a:headEnd type="none" w="med" len="med"/>
                      <a:tailEnd type="none" w="med" len="med"/>
                    </a:lnL>
                    <a:lnR w="6350" cap="flat" cmpd="sng" algn="ctr">
                      <a:solidFill>
                        <a:srgbClr val="2A2F4A"/>
                      </a:solidFill>
                      <a:prstDash val="solid"/>
                      <a:round/>
                      <a:headEnd type="none" w="med" len="med"/>
                      <a:tailEnd type="none" w="med" len="med"/>
                    </a:lnR>
                    <a:lnT w="6350" cap="flat" cmpd="sng" algn="ctr">
                      <a:solidFill>
                        <a:srgbClr val="2A2F4A"/>
                      </a:solidFill>
                      <a:prstDash val="solid"/>
                      <a:round/>
                      <a:headEnd type="none" w="med" len="med"/>
                      <a:tailEnd type="none" w="med" len="med"/>
                    </a:lnT>
                    <a:lnB w="6350" cap="flat" cmpd="sng" algn="ctr">
                      <a:solidFill>
                        <a:srgbClr val="2A2F4A"/>
                      </a:solidFill>
                      <a:prstDash val="solid"/>
                      <a:round/>
                      <a:headEnd type="none" w="med" len="med"/>
                      <a:tailEnd type="none" w="med" len="med"/>
                    </a:lnB>
                    <a:solidFill>
                      <a:srgbClr val="141A33"/>
                    </a:solidFill>
                  </a:tcPr>
                </a:tc>
                <a:tc>
                  <a:txBody>
                    <a:bodyPr/>
                    <a:lstStyle/>
                    <a:p>
                      <a:pPr marL="0" indent="0">
                        <a:buNone/>
                      </a:pPr>
                      <a:r>
                        <a:rPr lang="en-US" sz="1100" dirty="0">
                          <a:solidFill>
                            <a:srgbClr val="F472B6"/>
                          </a:solidFill>
                          <a:latin typeface="Consolas" pitchFamily="34" charset="0"/>
                          <a:ea typeface="Consolas" pitchFamily="34" charset="-122"/>
                          <a:cs typeface="Consolas" pitchFamily="34" charset="-120"/>
                        </a:rPr>
                        <a:t>2,603 rows (21 emails)</a:t>
                      </a:r>
                      <a:endParaRPr lang="en-US" sz="1100" dirty="0">
                        <a:latin typeface="Consolas" charset="0"/>
                        <a:ea typeface="Consolas" charset="0"/>
                        <a:cs typeface="Consolas" charset="0"/>
                      </a:endParaRPr>
                    </a:p>
                  </a:txBody>
                  <a:tcPr marL="109728" marR="109728" marT="54864" marB="54864" anchor="ctr">
                    <a:lnL w="6350" cap="flat" cmpd="sng" algn="ctr">
                      <a:solidFill>
                        <a:srgbClr val="2A2F4A"/>
                      </a:solidFill>
                      <a:prstDash val="solid"/>
                      <a:round/>
                      <a:headEnd type="none" w="med" len="med"/>
                      <a:tailEnd type="none" w="med" len="med"/>
                    </a:lnL>
                    <a:lnR w="6350" cap="flat" cmpd="sng" algn="ctr">
                      <a:solidFill>
                        <a:srgbClr val="2A2F4A"/>
                      </a:solidFill>
                      <a:prstDash val="solid"/>
                      <a:round/>
                      <a:headEnd type="none" w="med" len="med"/>
                      <a:tailEnd type="none" w="med" len="med"/>
                    </a:lnR>
                    <a:lnT w="6350" cap="flat" cmpd="sng" algn="ctr">
                      <a:solidFill>
                        <a:srgbClr val="2A2F4A"/>
                      </a:solidFill>
                      <a:prstDash val="solid"/>
                      <a:round/>
                      <a:headEnd type="none" w="med" len="med"/>
                      <a:tailEnd type="none" w="med" len="med"/>
                    </a:lnT>
                    <a:lnB w="6350" cap="flat" cmpd="sng" algn="ctr">
                      <a:solidFill>
                        <a:srgbClr val="2A2F4A"/>
                      </a:solidFill>
                      <a:prstDash val="solid"/>
                      <a:round/>
                      <a:headEnd type="none" w="med" len="med"/>
                      <a:tailEnd type="none" w="med" len="med"/>
                    </a:lnB>
                    <a:solidFill>
                      <a:srgbClr val="141A33"/>
                    </a:solidFill>
                  </a:tcPr>
                </a:tc>
                <a:tc>
                  <a:txBody>
                    <a:bodyPr/>
                    <a:lstStyle/>
                    <a:p>
                      <a:pPr marL="0" indent="0">
                        <a:buNone/>
                      </a:pPr>
                      <a:r>
                        <a:rPr lang="en-US" sz="1050" dirty="0">
                          <a:solidFill>
                            <a:srgbClr val="9098BD"/>
                          </a:solidFill>
                        </a:rPr>
                        <a:t>Deduplicated on email key</a:t>
                      </a:r>
                      <a:endParaRPr lang="en-US" sz="1050" dirty="0"/>
                    </a:p>
                  </a:txBody>
                  <a:tcPr marL="109728" marR="109728" marT="54864" marB="54864" anchor="ctr">
                    <a:lnL w="6350" cap="flat" cmpd="sng" algn="ctr">
                      <a:solidFill>
                        <a:srgbClr val="2A2F4A"/>
                      </a:solidFill>
                      <a:prstDash val="solid"/>
                      <a:round/>
                      <a:headEnd type="none" w="med" len="med"/>
                      <a:tailEnd type="none" w="med" len="med"/>
                    </a:lnL>
                    <a:lnR w="6350" cap="flat" cmpd="sng" algn="ctr">
                      <a:solidFill>
                        <a:srgbClr val="2A2F4A"/>
                      </a:solidFill>
                      <a:prstDash val="solid"/>
                      <a:round/>
                      <a:headEnd type="none" w="med" len="med"/>
                      <a:tailEnd type="none" w="med" len="med"/>
                    </a:lnR>
                    <a:lnT w="6350" cap="flat" cmpd="sng" algn="ctr">
                      <a:solidFill>
                        <a:srgbClr val="2A2F4A"/>
                      </a:solidFill>
                      <a:prstDash val="solid"/>
                      <a:round/>
                      <a:headEnd type="none" w="med" len="med"/>
                      <a:tailEnd type="none" w="med" len="med"/>
                    </a:lnT>
                    <a:lnB w="6350" cap="flat" cmpd="sng" algn="ctr">
                      <a:solidFill>
                        <a:srgbClr val="2A2F4A"/>
                      </a:solidFill>
                      <a:prstDash val="solid"/>
                      <a:round/>
                      <a:headEnd type="none" w="med" len="med"/>
                      <a:tailEnd type="none" w="med" len="med"/>
                    </a:lnB>
                    <a:solidFill>
                      <a:srgbClr val="141A33"/>
                    </a:solidFill>
                  </a:tcPr>
                </a:tc>
                <a:extLst>
                  <a:ext uri="{0D108BD9-81ED-4DB2-BD59-A6C34878D82A}">
                    <a16:rowId xmlns:a16="http://schemas.microsoft.com/office/drawing/2014/main" val="10006"/>
                  </a:ext>
                </a:extLst>
              </a:tr>
              <a:tr h="508000">
                <a:tc>
                  <a:txBody>
                    <a:bodyPr/>
                    <a:lstStyle/>
                    <a:p>
                      <a:pPr marL="0" indent="0">
                        <a:buNone/>
                      </a:pPr>
                      <a:r>
                        <a:rPr lang="en-US" sz="1100" dirty="0">
                          <a:solidFill>
                            <a:srgbClr val="E9ECF8"/>
                          </a:solidFill>
                        </a:rPr>
                        <a:t>Discount &gt; 100%</a:t>
                      </a:r>
                      <a:endParaRPr lang="en-US" sz="1100" dirty="0"/>
                    </a:p>
                  </a:txBody>
                  <a:tcPr marL="109728" marR="109728" marT="54864" marB="54864" anchor="ctr">
                    <a:lnL w="6350" cap="flat" cmpd="sng" algn="ctr">
                      <a:solidFill>
                        <a:srgbClr val="2A2F4A"/>
                      </a:solidFill>
                      <a:prstDash val="solid"/>
                      <a:round/>
                      <a:headEnd type="none" w="med" len="med"/>
                      <a:tailEnd type="none" w="med" len="med"/>
                    </a:lnL>
                    <a:lnR w="6350" cap="flat" cmpd="sng" algn="ctr">
                      <a:solidFill>
                        <a:srgbClr val="2A2F4A"/>
                      </a:solidFill>
                      <a:prstDash val="solid"/>
                      <a:round/>
                      <a:headEnd type="none" w="med" len="med"/>
                      <a:tailEnd type="none" w="med" len="med"/>
                    </a:lnR>
                    <a:lnT w="6350" cap="flat" cmpd="sng" algn="ctr">
                      <a:solidFill>
                        <a:srgbClr val="2A2F4A"/>
                      </a:solidFill>
                      <a:prstDash val="solid"/>
                      <a:round/>
                      <a:headEnd type="none" w="med" len="med"/>
                      <a:tailEnd type="none" w="med" len="med"/>
                    </a:lnT>
                    <a:lnB w="6350" cap="flat" cmpd="sng" algn="ctr">
                      <a:solidFill>
                        <a:srgbClr val="2A2F4A"/>
                      </a:solidFill>
                      <a:prstDash val="solid"/>
                      <a:round/>
                      <a:headEnd type="none" w="med" len="med"/>
                      <a:tailEnd type="none" w="med" len="med"/>
                    </a:lnB>
                    <a:solidFill>
                      <a:srgbClr val="141A33"/>
                    </a:solidFill>
                  </a:tcPr>
                </a:tc>
                <a:tc>
                  <a:txBody>
                    <a:bodyPr/>
                    <a:lstStyle/>
                    <a:p>
                      <a:pPr marL="0" indent="0">
                        <a:buNone/>
                      </a:pPr>
                      <a:r>
                        <a:rPr lang="en-US" sz="1100" dirty="0">
                          <a:solidFill>
                            <a:srgbClr val="F472B6"/>
                          </a:solidFill>
                          <a:latin typeface="Consolas" pitchFamily="34" charset="0"/>
                          <a:ea typeface="Consolas" pitchFamily="34" charset="-122"/>
                          <a:cs typeface="Consolas" pitchFamily="34" charset="-120"/>
                        </a:rPr>
                        <a:t>1,213 rows (24.3%)</a:t>
                      </a:r>
                      <a:endParaRPr lang="en-US" sz="1100" dirty="0">
                        <a:latin typeface="Consolas" charset="0"/>
                        <a:ea typeface="Consolas" charset="0"/>
                        <a:cs typeface="Consolas" charset="0"/>
                      </a:endParaRPr>
                    </a:p>
                  </a:txBody>
                  <a:tcPr marL="109728" marR="109728" marT="54864" marB="54864" anchor="ctr">
                    <a:lnL w="6350" cap="flat" cmpd="sng" algn="ctr">
                      <a:solidFill>
                        <a:srgbClr val="2A2F4A"/>
                      </a:solidFill>
                      <a:prstDash val="solid"/>
                      <a:round/>
                      <a:headEnd type="none" w="med" len="med"/>
                      <a:tailEnd type="none" w="med" len="med"/>
                    </a:lnL>
                    <a:lnR w="6350" cap="flat" cmpd="sng" algn="ctr">
                      <a:solidFill>
                        <a:srgbClr val="2A2F4A"/>
                      </a:solidFill>
                      <a:prstDash val="solid"/>
                      <a:round/>
                      <a:headEnd type="none" w="med" len="med"/>
                      <a:tailEnd type="none" w="med" len="med"/>
                    </a:lnR>
                    <a:lnT w="6350" cap="flat" cmpd="sng" algn="ctr">
                      <a:solidFill>
                        <a:srgbClr val="2A2F4A"/>
                      </a:solidFill>
                      <a:prstDash val="solid"/>
                      <a:round/>
                      <a:headEnd type="none" w="med" len="med"/>
                      <a:tailEnd type="none" w="med" len="med"/>
                    </a:lnT>
                    <a:lnB w="6350" cap="flat" cmpd="sng" algn="ctr">
                      <a:solidFill>
                        <a:srgbClr val="2A2F4A"/>
                      </a:solidFill>
                      <a:prstDash val="solid"/>
                      <a:round/>
                      <a:headEnd type="none" w="med" len="med"/>
                      <a:tailEnd type="none" w="med" len="med"/>
                    </a:lnB>
                    <a:solidFill>
                      <a:srgbClr val="141A33"/>
                    </a:solidFill>
                  </a:tcPr>
                </a:tc>
                <a:tc>
                  <a:txBody>
                    <a:bodyPr/>
                    <a:lstStyle/>
                    <a:p>
                      <a:pPr marL="0" indent="0">
                        <a:buNone/>
                      </a:pPr>
                      <a:r>
                        <a:rPr lang="en-US" sz="1050" dirty="0">
                          <a:solidFill>
                            <a:srgbClr val="9098BD"/>
                          </a:solidFill>
                        </a:rPr>
                        <a:t>Flagged, needs clarification</a:t>
                      </a:r>
                      <a:endParaRPr lang="en-US" sz="1050" dirty="0"/>
                    </a:p>
                  </a:txBody>
                  <a:tcPr marL="109728" marR="109728" marT="54864" marB="54864" anchor="ctr">
                    <a:lnL w="6350" cap="flat" cmpd="sng" algn="ctr">
                      <a:solidFill>
                        <a:srgbClr val="2A2F4A"/>
                      </a:solidFill>
                      <a:prstDash val="solid"/>
                      <a:round/>
                      <a:headEnd type="none" w="med" len="med"/>
                      <a:tailEnd type="none" w="med" len="med"/>
                    </a:lnL>
                    <a:lnR w="6350" cap="flat" cmpd="sng" algn="ctr">
                      <a:solidFill>
                        <a:srgbClr val="2A2F4A"/>
                      </a:solidFill>
                      <a:prstDash val="solid"/>
                      <a:round/>
                      <a:headEnd type="none" w="med" len="med"/>
                      <a:tailEnd type="none" w="med" len="med"/>
                    </a:lnR>
                    <a:lnT w="6350" cap="flat" cmpd="sng" algn="ctr">
                      <a:solidFill>
                        <a:srgbClr val="2A2F4A"/>
                      </a:solidFill>
                      <a:prstDash val="solid"/>
                      <a:round/>
                      <a:headEnd type="none" w="med" len="med"/>
                      <a:tailEnd type="none" w="med" len="med"/>
                    </a:lnT>
                    <a:lnB w="6350" cap="flat" cmpd="sng" algn="ctr">
                      <a:solidFill>
                        <a:srgbClr val="2A2F4A"/>
                      </a:solidFill>
                      <a:prstDash val="solid"/>
                      <a:round/>
                      <a:headEnd type="none" w="med" len="med"/>
                      <a:tailEnd type="none" w="med" len="med"/>
                    </a:lnB>
                    <a:solidFill>
                      <a:srgbClr val="141A33"/>
                    </a:solidFill>
                  </a:tcPr>
                </a:tc>
                <a:extLst>
                  <a:ext uri="{0D108BD9-81ED-4DB2-BD59-A6C34878D82A}">
                    <a16:rowId xmlns:a16="http://schemas.microsoft.com/office/drawing/2014/main" val="10007"/>
                  </a:ext>
                </a:extLst>
              </a:tr>
              <a:tr h="508000">
                <a:tc>
                  <a:txBody>
                    <a:bodyPr/>
                    <a:lstStyle/>
                    <a:p>
                      <a:pPr marL="0" indent="0">
                        <a:buNone/>
                      </a:pPr>
                      <a:r>
                        <a:rPr lang="en-US" sz="1100" dirty="0">
                          <a:solidFill>
                            <a:srgbClr val="E9ECF8"/>
                          </a:solidFill>
                        </a:rPr>
                        <a:t>Negative transaction amount</a:t>
                      </a:r>
                      <a:endParaRPr lang="en-US" sz="1100" dirty="0"/>
                    </a:p>
                  </a:txBody>
                  <a:tcPr marL="109728" marR="109728" marT="54864" marB="54864" anchor="ctr">
                    <a:lnL w="6350" cap="flat" cmpd="sng" algn="ctr">
                      <a:solidFill>
                        <a:srgbClr val="2A2F4A"/>
                      </a:solidFill>
                      <a:prstDash val="solid"/>
                      <a:round/>
                      <a:headEnd type="none" w="med" len="med"/>
                      <a:tailEnd type="none" w="med" len="med"/>
                    </a:lnL>
                    <a:lnR w="6350" cap="flat" cmpd="sng" algn="ctr">
                      <a:solidFill>
                        <a:srgbClr val="2A2F4A"/>
                      </a:solidFill>
                      <a:prstDash val="solid"/>
                      <a:round/>
                      <a:headEnd type="none" w="med" len="med"/>
                      <a:tailEnd type="none" w="med" len="med"/>
                    </a:lnR>
                    <a:lnT w="6350" cap="flat" cmpd="sng" algn="ctr">
                      <a:solidFill>
                        <a:srgbClr val="2A2F4A"/>
                      </a:solidFill>
                      <a:prstDash val="solid"/>
                      <a:round/>
                      <a:headEnd type="none" w="med" len="med"/>
                      <a:tailEnd type="none" w="med" len="med"/>
                    </a:lnT>
                    <a:lnB w="6350" cap="flat" cmpd="sng" algn="ctr">
                      <a:solidFill>
                        <a:srgbClr val="2A2F4A"/>
                      </a:solidFill>
                      <a:prstDash val="solid"/>
                      <a:round/>
                      <a:headEnd type="none" w="med" len="med"/>
                      <a:tailEnd type="none" w="med" len="med"/>
                    </a:lnB>
                    <a:solidFill>
                      <a:srgbClr val="141A33"/>
                    </a:solidFill>
                  </a:tcPr>
                </a:tc>
                <a:tc>
                  <a:txBody>
                    <a:bodyPr/>
                    <a:lstStyle/>
                    <a:p>
                      <a:pPr marL="0" indent="0">
                        <a:buNone/>
                      </a:pPr>
                      <a:r>
                        <a:rPr lang="en-US" sz="1100" dirty="0">
                          <a:solidFill>
                            <a:srgbClr val="F472B6"/>
                          </a:solidFill>
                          <a:latin typeface="Consolas" pitchFamily="34" charset="0"/>
                          <a:ea typeface="Consolas" pitchFamily="34" charset="-122"/>
                          <a:cs typeface="Consolas" pitchFamily="34" charset="-120"/>
                        </a:rPr>
                        <a:t>435 rows (8.7%)</a:t>
                      </a:r>
                      <a:endParaRPr lang="en-US" sz="1100" dirty="0">
                        <a:latin typeface="Consolas" charset="0"/>
                        <a:ea typeface="Consolas" charset="0"/>
                        <a:cs typeface="Consolas" charset="0"/>
                      </a:endParaRPr>
                    </a:p>
                  </a:txBody>
                  <a:tcPr marL="109728" marR="109728" marT="54864" marB="54864" anchor="ctr">
                    <a:lnL w="6350" cap="flat" cmpd="sng" algn="ctr">
                      <a:solidFill>
                        <a:srgbClr val="2A2F4A"/>
                      </a:solidFill>
                      <a:prstDash val="solid"/>
                      <a:round/>
                      <a:headEnd type="none" w="med" len="med"/>
                      <a:tailEnd type="none" w="med" len="med"/>
                    </a:lnL>
                    <a:lnR w="6350" cap="flat" cmpd="sng" algn="ctr">
                      <a:solidFill>
                        <a:srgbClr val="2A2F4A"/>
                      </a:solidFill>
                      <a:prstDash val="solid"/>
                      <a:round/>
                      <a:headEnd type="none" w="med" len="med"/>
                      <a:tailEnd type="none" w="med" len="med"/>
                    </a:lnR>
                    <a:lnT w="6350" cap="flat" cmpd="sng" algn="ctr">
                      <a:solidFill>
                        <a:srgbClr val="2A2F4A"/>
                      </a:solidFill>
                      <a:prstDash val="solid"/>
                      <a:round/>
                      <a:headEnd type="none" w="med" len="med"/>
                      <a:tailEnd type="none" w="med" len="med"/>
                    </a:lnT>
                    <a:lnB w="6350" cap="flat" cmpd="sng" algn="ctr">
                      <a:solidFill>
                        <a:srgbClr val="2A2F4A"/>
                      </a:solidFill>
                      <a:prstDash val="solid"/>
                      <a:round/>
                      <a:headEnd type="none" w="med" len="med"/>
                      <a:tailEnd type="none" w="med" len="med"/>
                    </a:lnB>
                    <a:solidFill>
                      <a:srgbClr val="141A33"/>
                    </a:solidFill>
                  </a:tcPr>
                </a:tc>
                <a:tc>
                  <a:txBody>
                    <a:bodyPr/>
                    <a:lstStyle/>
                    <a:p>
                      <a:pPr marL="0" indent="0">
                        <a:buNone/>
                      </a:pPr>
                      <a:r>
                        <a:rPr lang="en-US" sz="1050" dirty="0">
                          <a:solidFill>
                            <a:srgbClr val="9098BD"/>
                          </a:solidFill>
                        </a:rPr>
                        <a:t>Flagged, needs clarification</a:t>
                      </a:r>
                      <a:endParaRPr lang="en-US" sz="1050" dirty="0"/>
                    </a:p>
                  </a:txBody>
                  <a:tcPr marL="109728" marR="109728" marT="54864" marB="54864" anchor="ctr">
                    <a:lnL w="6350" cap="flat" cmpd="sng" algn="ctr">
                      <a:solidFill>
                        <a:srgbClr val="2A2F4A"/>
                      </a:solidFill>
                      <a:prstDash val="solid"/>
                      <a:round/>
                      <a:headEnd type="none" w="med" len="med"/>
                      <a:tailEnd type="none" w="med" len="med"/>
                    </a:lnL>
                    <a:lnR w="6350" cap="flat" cmpd="sng" algn="ctr">
                      <a:solidFill>
                        <a:srgbClr val="2A2F4A"/>
                      </a:solidFill>
                      <a:prstDash val="solid"/>
                      <a:round/>
                      <a:headEnd type="none" w="med" len="med"/>
                      <a:tailEnd type="none" w="med" len="med"/>
                    </a:lnR>
                    <a:lnT w="6350" cap="flat" cmpd="sng" algn="ctr">
                      <a:solidFill>
                        <a:srgbClr val="2A2F4A"/>
                      </a:solidFill>
                      <a:prstDash val="solid"/>
                      <a:round/>
                      <a:headEnd type="none" w="med" len="med"/>
                      <a:tailEnd type="none" w="med" len="med"/>
                    </a:lnT>
                    <a:lnB w="6350" cap="flat" cmpd="sng" algn="ctr">
                      <a:solidFill>
                        <a:srgbClr val="2A2F4A"/>
                      </a:solidFill>
                      <a:prstDash val="solid"/>
                      <a:round/>
                      <a:headEnd type="none" w="med" len="med"/>
                      <a:tailEnd type="none" w="med" len="med"/>
                    </a:lnB>
                    <a:solidFill>
                      <a:srgbClr val="141A33"/>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1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lIns="0" tIns="0" rIns="0" bIns="0" rtlCol="0" anchor="ctr"/>
          <a:lstStyle/>
          <a:p>
            <a:pPr marL="0" indent="0">
              <a:buNone/>
            </a:pPr>
            <a:r>
              <a:rPr lang="en-US" sz="2400" b="1" kern="0" spc="200" dirty="0">
                <a:solidFill>
                  <a:srgbClr val="A78BFA"/>
                </a:solidFill>
                <a:latin typeface="Consolas" pitchFamily="34" charset="0"/>
                <a:ea typeface="Consolas" pitchFamily="34" charset="-122"/>
                <a:cs typeface="Consolas" pitchFamily="34" charset="-120"/>
              </a:rPr>
              <a:t>06 · SSIS PIPELINE</a:t>
            </a:r>
            <a:endParaRPr lang="en-US" sz="2400" dirty="0"/>
          </a:p>
        </p:txBody>
      </p:sp>
      <p:sp>
        <p:nvSpPr>
          <p:cNvPr id="3" name="Text 1"/>
          <p:cNvSpPr/>
          <p:nvPr/>
        </p:nvSpPr>
        <p:spPr>
          <a:xfrm>
            <a:off x="548640" y="658368"/>
            <a:ext cx="10972800" cy="731520"/>
          </a:xfrm>
          <a:prstGeom prst="rect">
            <a:avLst/>
          </a:prstGeom>
          <a:noFill/>
          <a:ln/>
        </p:spPr>
        <p:txBody>
          <a:bodyPr wrap="square" lIns="0" tIns="0" rIns="0" bIns="0" rtlCol="0" anchor="ctr"/>
          <a:lstStyle/>
          <a:p>
            <a:pPr marL="0" indent="0" algn="ctr">
              <a:buNone/>
            </a:pPr>
            <a:r>
              <a:rPr lang="en-US" sz="2700" b="1" dirty="0">
                <a:solidFill>
                  <a:srgbClr val="E9ECF8"/>
                </a:solidFill>
                <a:latin typeface="Georgia" pitchFamily="34" charset="0"/>
                <a:ea typeface="Georgia" pitchFamily="34" charset="-122"/>
                <a:cs typeface="Georgia" pitchFamily="34" charset="-120"/>
              </a:rPr>
              <a:t>Four stages, orchestrated by a master package</a:t>
            </a:r>
            <a:endParaRPr lang="en-US" sz="2700" dirty="0"/>
          </a:p>
        </p:txBody>
      </p:sp>
      <p:sp>
        <p:nvSpPr>
          <p:cNvPr id="5" name="Text 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9098BD"/>
                </a:solidFill>
                <a:latin typeface="Consolas" pitchFamily="34" charset="0"/>
                <a:ea typeface="Consolas" pitchFamily="34" charset="-122"/>
                <a:cs typeface="Consolas" pitchFamily="34" charset="-120"/>
              </a:rPr>
              <a:t>8</a:t>
            </a:r>
            <a:endParaRPr lang="en-US" sz="900" dirty="0"/>
          </a:p>
        </p:txBody>
      </p:sp>
      <p:sp>
        <p:nvSpPr>
          <p:cNvPr id="6" name="Shape 4"/>
          <p:cNvSpPr/>
          <p:nvPr/>
        </p:nvSpPr>
        <p:spPr>
          <a:xfrm>
            <a:off x="548640" y="2093976"/>
            <a:ext cx="2697480" cy="2377440"/>
          </a:xfrm>
          <a:prstGeom prst="roundRect">
            <a:avLst>
              <a:gd name="adj" fmla="val 4615"/>
            </a:avLst>
          </a:prstGeom>
          <a:solidFill>
            <a:srgbClr val="141A33"/>
          </a:solidFill>
          <a:ln w="12700">
            <a:solidFill>
              <a:srgbClr val="A78BFA"/>
            </a:solidFill>
            <a:prstDash val="solid"/>
          </a:ln>
        </p:spPr>
        <p:txBody>
          <a:bodyPr/>
          <a:lstStyle/>
          <a:p>
            <a:endParaRPr lang="en-US"/>
          </a:p>
        </p:txBody>
      </p:sp>
      <p:sp>
        <p:nvSpPr>
          <p:cNvPr id="7" name="Text 5"/>
          <p:cNvSpPr/>
          <p:nvPr/>
        </p:nvSpPr>
        <p:spPr>
          <a:xfrm>
            <a:off x="731520" y="2276856"/>
            <a:ext cx="1371600" cy="457200"/>
          </a:xfrm>
          <a:prstGeom prst="rect">
            <a:avLst/>
          </a:prstGeom>
          <a:noFill/>
          <a:ln/>
        </p:spPr>
        <p:txBody>
          <a:bodyPr wrap="square" lIns="0" tIns="0" rIns="0" bIns="0" rtlCol="0" anchor="ctr"/>
          <a:lstStyle/>
          <a:p>
            <a:pPr marL="0" indent="0">
              <a:buNone/>
            </a:pPr>
            <a:r>
              <a:rPr lang="en-US" sz="2200" b="1" dirty="0">
                <a:solidFill>
                  <a:srgbClr val="F472B6"/>
                </a:solidFill>
                <a:latin typeface="Consolas" pitchFamily="34" charset="0"/>
                <a:ea typeface="Consolas" pitchFamily="34" charset="-122"/>
                <a:cs typeface="Consolas" pitchFamily="34" charset="-120"/>
              </a:rPr>
              <a:t>01</a:t>
            </a:r>
            <a:endParaRPr lang="en-US" sz="2200" dirty="0"/>
          </a:p>
        </p:txBody>
      </p:sp>
      <p:sp>
        <p:nvSpPr>
          <p:cNvPr id="8" name="Text 6"/>
          <p:cNvSpPr/>
          <p:nvPr/>
        </p:nvSpPr>
        <p:spPr>
          <a:xfrm>
            <a:off x="731520" y="2871216"/>
            <a:ext cx="2331720" cy="411480"/>
          </a:xfrm>
          <a:prstGeom prst="rect">
            <a:avLst/>
          </a:prstGeom>
          <a:noFill/>
          <a:ln/>
        </p:spPr>
        <p:txBody>
          <a:bodyPr wrap="square" lIns="0" tIns="0" rIns="0" bIns="0" rtlCol="0" anchor="ctr"/>
          <a:lstStyle/>
          <a:p>
            <a:pPr marL="0" indent="0">
              <a:buNone/>
            </a:pPr>
            <a:r>
              <a:rPr lang="en-US" sz="1500" b="1" dirty="0">
                <a:solidFill>
                  <a:srgbClr val="E9ECF8"/>
                </a:solidFill>
                <a:latin typeface="Georgia" pitchFamily="34" charset="0"/>
                <a:ea typeface="Georgia" pitchFamily="34" charset="-122"/>
                <a:cs typeface="Georgia" pitchFamily="34" charset="-120"/>
              </a:rPr>
              <a:t>Load CSV</a:t>
            </a:r>
            <a:endParaRPr lang="en-US" sz="1500" dirty="0"/>
          </a:p>
        </p:txBody>
      </p:sp>
      <p:sp>
        <p:nvSpPr>
          <p:cNvPr id="9" name="Text 7"/>
          <p:cNvSpPr/>
          <p:nvPr/>
        </p:nvSpPr>
        <p:spPr>
          <a:xfrm>
            <a:off x="731520" y="3328416"/>
            <a:ext cx="2331720" cy="1005840"/>
          </a:xfrm>
          <a:prstGeom prst="rect">
            <a:avLst/>
          </a:prstGeom>
          <a:noFill/>
          <a:ln/>
        </p:spPr>
        <p:txBody>
          <a:bodyPr wrap="square" lIns="0" tIns="0" rIns="0" bIns="0" rtlCol="0" anchor="ctr"/>
          <a:lstStyle/>
          <a:p>
            <a:pPr marL="0" indent="0">
              <a:buNone/>
            </a:pPr>
            <a:r>
              <a:rPr lang="en-US" sz="1050" dirty="0">
                <a:solidFill>
                  <a:srgbClr val="9098BD"/>
                </a:solidFill>
                <a:latin typeface="Georgia" pitchFamily="34" charset="0"/>
                <a:ea typeface="Georgia" pitchFamily="34" charset="-122"/>
                <a:cs typeface="Georgia" pitchFamily="34" charset="-120"/>
              </a:rPr>
              <a:t>Raw flat file lands untouched in staging</a:t>
            </a:r>
            <a:endParaRPr lang="en-US" sz="1050" dirty="0"/>
          </a:p>
        </p:txBody>
      </p:sp>
      <p:sp>
        <p:nvSpPr>
          <p:cNvPr id="10" name="Text 8"/>
          <p:cNvSpPr/>
          <p:nvPr/>
        </p:nvSpPr>
        <p:spPr>
          <a:xfrm>
            <a:off x="3246120" y="3008376"/>
            <a:ext cx="182880" cy="548640"/>
          </a:xfrm>
          <a:prstGeom prst="rect">
            <a:avLst/>
          </a:prstGeom>
          <a:noFill/>
          <a:ln/>
        </p:spPr>
        <p:txBody>
          <a:bodyPr wrap="square" lIns="0" tIns="0" rIns="0" bIns="0" rtlCol="0" anchor="ctr"/>
          <a:lstStyle/>
          <a:p>
            <a:pPr marL="0" indent="0" algn="ctr">
              <a:buNone/>
            </a:pPr>
            <a:r>
              <a:rPr lang="en-US" sz="2000" dirty="0">
                <a:solidFill>
                  <a:srgbClr val="A78BFA"/>
                </a:solidFill>
                <a:latin typeface="Georgia" pitchFamily="34" charset="0"/>
                <a:ea typeface="Georgia" pitchFamily="34" charset="-122"/>
                <a:cs typeface="Georgia" pitchFamily="34" charset="-120"/>
              </a:rPr>
              <a:t>→</a:t>
            </a:r>
            <a:endParaRPr lang="en-US" sz="2000" dirty="0"/>
          </a:p>
        </p:txBody>
      </p:sp>
      <p:sp>
        <p:nvSpPr>
          <p:cNvPr id="11" name="Shape 9"/>
          <p:cNvSpPr/>
          <p:nvPr/>
        </p:nvSpPr>
        <p:spPr>
          <a:xfrm>
            <a:off x="3383280" y="2093976"/>
            <a:ext cx="2697480" cy="2377440"/>
          </a:xfrm>
          <a:prstGeom prst="roundRect">
            <a:avLst>
              <a:gd name="adj" fmla="val 4615"/>
            </a:avLst>
          </a:prstGeom>
          <a:solidFill>
            <a:srgbClr val="141A33"/>
          </a:solidFill>
          <a:ln w="12700">
            <a:solidFill>
              <a:srgbClr val="A78BFA"/>
            </a:solidFill>
            <a:prstDash val="solid"/>
          </a:ln>
        </p:spPr>
        <p:txBody>
          <a:bodyPr/>
          <a:lstStyle/>
          <a:p>
            <a:endParaRPr lang="en-US"/>
          </a:p>
        </p:txBody>
      </p:sp>
      <p:sp>
        <p:nvSpPr>
          <p:cNvPr id="12" name="Text 10"/>
          <p:cNvSpPr/>
          <p:nvPr/>
        </p:nvSpPr>
        <p:spPr>
          <a:xfrm>
            <a:off x="3566160" y="2276856"/>
            <a:ext cx="1371600" cy="457200"/>
          </a:xfrm>
          <a:prstGeom prst="rect">
            <a:avLst/>
          </a:prstGeom>
          <a:noFill/>
          <a:ln/>
        </p:spPr>
        <p:txBody>
          <a:bodyPr wrap="square" lIns="0" tIns="0" rIns="0" bIns="0" rtlCol="0" anchor="ctr"/>
          <a:lstStyle/>
          <a:p>
            <a:pPr marL="0" indent="0">
              <a:buNone/>
            </a:pPr>
            <a:r>
              <a:rPr lang="en-US" sz="2200" b="1" dirty="0">
                <a:solidFill>
                  <a:srgbClr val="F472B6"/>
                </a:solidFill>
                <a:latin typeface="Consolas" pitchFamily="34" charset="0"/>
                <a:ea typeface="Consolas" pitchFamily="34" charset="-122"/>
                <a:cs typeface="Consolas" pitchFamily="34" charset="-120"/>
              </a:rPr>
              <a:t>02</a:t>
            </a:r>
            <a:endParaRPr lang="en-US" sz="2200" dirty="0"/>
          </a:p>
        </p:txBody>
      </p:sp>
      <p:sp>
        <p:nvSpPr>
          <p:cNvPr id="13" name="Text 11"/>
          <p:cNvSpPr/>
          <p:nvPr/>
        </p:nvSpPr>
        <p:spPr>
          <a:xfrm>
            <a:off x="3566160" y="2871216"/>
            <a:ext cx="2331720" cy="411480"/>
          </a:xfrm>
          <a:prstGeom prst="rect">
            <a:avLst/>
          </a:prstGeom>
          <a:noFill/>
          <a:ln/>
        </p:spPr>
        <p:txBody>
          <a:bodyPr wrap="square" lIns="0" tIns="0" rIns="0" bIns="0" rtlCol="0" anchor="ctr"/>
          <a:lstStyle/>
          <a:p>
            <a:pPr marL="0" indent="0">
              <a:buNone/>
            </a:pPr>
            <a:r>
              <a:rPr lang="en-US" sz="1500" b="1" dirty="0">
                <a:solidFill>
                  <a:srgbClr val="E9ECF8"/>
                </a:solidFill>
                <a:latin typeface="Georgia" pitchFamily="34" charset="0"/>
                <a:ea typeface="Georgia" pitchFamily="34" charset="-122"/>
                <a:cs typeface="Georgia" pitchFamily="34" charset="-120"/>
              </a:rPr>
              <a:t>Load Schema</a:t>
            </a:r>
            <a:endParaRPr lang="en-US" sz="1500" dirty="0"/>
          </a:p>
        </p:txBody>
      </p:sp>
      <p:sp>
        <p:nvSpPr>
          <p:cNvPr id="14" name="Text 12"/>
          <p:cNvSpPr/>
          <p:nvPr/>
        </p:nvSpPr>
        <p:spPr>
          <a:xfrm>
            <a:off x="3566160" y="3328416"/>
            <a:ext cx="2331720" cy="1005840"/>
          </a:xfrm>
          <a:prstGeom prst="rect">
            <a:avLst/>
          </a:prstGeom>
          <a:noFill/>
          <a:ln/>
        </p:spPr>
        <p:txBody>
          <a:bodyPr wrap="square" lIns="0" tIns="0" rIns="0" bIns="0" rtlCol="0" anchor="ctr"/>
          <a:lstStyle/>
          <a:p>
            <a:pPr marL="0" indent="0">
              <a:buNone/>
            </a:pPr>
            <a:r>
              <a:rPr lang="en-US" sz="1050" dirty="0">
                <a:solidFill>
                  <a:srgbClr val="9098BD"/>
                </a:solidFill>
                <a:latin typeface="Georgia" pitchFamily="34" charset="0"/>
                <a:ea typeface="Georgia" pitchFamily="34" charset="-122"/>
                <a:cs typeface="Georgia" pitchFamily="34" charset="-120"/>
              </a:rPr>
              <a:t>Staging split into dimensions and fact table</a:t>
            </a:r>
            <a:endParaRPr lang="en-US" sz="1050" dirty="0"/>
          </a:p>
        </p:txBody>
      </p:sp>
      <p:sp>
        <p:nvSpPr>
          <p:cNvPr id="15" name="Text 13"/>
          <p:cNvSpPr/>
          <p:nvPr/>
        </p:nvSpPr>
        <p:spPr>
          <a:xfrm>
            <a:off x="6080760" y="3008376"/>
            <a:ext cx="182880" cy="548640"/>
          </a:xfrm>
          <a:prstGeom prst="rect">
            <a:avLst/>
          </a:prstGeom>
          <a:noFill/>
          <a:ln/>
        </p:spPr>
        <p:txBody>
          <a:bodyPr wrap="square" lIns="0" tIns="0" rIns="0" bIns="0" rtlCol="0" anchor="ctr"/>
          <a:lstStyle/>
          <a:p>
            <a:pPr marL="0" indent="0" algn="ctr">
              <a:buNone/>
            </a:pPr>
            <a:r>
              <a:rPr lang="en-US" sz="2000" dirty="0">
                <a:solidFill>
                  <a:srgbClr val="A78BFA"/>
                </a:solidFill>
                <a:latin typeface="Georgia" pitchFamily="34" charset="0"/>
                <a:ea typeface="Georgia" pitchFamily="34" charset="-122"/>
                <a:cs typeface="Georgia" pitchFamily="34" charset="-120"/>
              </a:rPr>
              <a:t>→</a:t>
            </a:r>
            <a:endParaRPr lang="en-US" sz="2000" dirty="0"/>
          </a:p>
        </p:txBody>
      </p:sp>
      <p:sp>
        <p:nvSpPr>
          <p:cNvPr id="16" name="Shape 14"/>
          <p:cNvSpPr/>
          <p:nvPr/>
        </p:nvSpPr>
        <p:spPr>
          <a:xfrm>
            <a:off x="6217920" y="2093976"/>
            <a:ext cx="2697480" cy="2377440"/>
          </a:xfrm>
          <a:prstGeom prst="roundRect">
            <a:avLst>
              <a:gd name="adj" fmla="val 4615"/>
            </a:avLst>
          </a:prstGeom>
          <a:solidFill>
            <a:srgbClr val="141A33"/>
          </a:solidFill>
          <a:ln w="12700">
            <a:solidFill>
              <a:srgbClr val="A78BFA"/>
            </a:solidFill>
            <a:prstDash val="solid"/>
          </a:ln>
        </p:spPr>
        <p:txBody>
          <a:bodyPr/>
          <a:lstStyle/>
          <a:p>
            <a:endParaRPr lang="en-US"/>
          </a:p>
        </p:txBody>
      </p:sp>
      <p:sp>
        <p:nvSpPr>
          <p:cNvPr id="17" name="Text 15"/>
          <p:cNvSpPr/>
          <p:nvPr/>
        </p:nvSpPr>
        <p:spPr>
          <a:xfrm>
            <a:off x="6400800" y="2276856"/>
            <a:ext cx="1371600" cy="457200"/>
          </a:xfrm>
          <a:prstGeom prst="rect">
            <a:avLst/>
          </a:prstGeom>
          <a:noFill/>
          <a:ln/>
        </p:spPr>
        <p:txBody>
          <a:bodyPr wrap="square" lIns="0" tIns="0" rIns="0" bIns="0" rtlCol="0" anchor="ctr"/>
          <a:lstStyle/>
          <a:p>
            <a:pPr marL="0" indent="0">
              <a:buNone/>
            </a:pPr>
            <a:r>
              <a:rPr lang="en-US" sz="2200" b="1" dirty="0">
                <a:solidFill>
                  <a:srgbClr val="F472B6"/>
                </a:solidFill>
                <a:latin typeface="Consolas" pitchFamily="34" charset="0"/>
                <a:ea typeface="Consolas" pitchFamily="34" charset="-122"/>
                <a:cs typeface="Consolas" pitchFamily="34" charset="-120"/>
              </a:rPr>
              <a:t>03</a:t>
            </a:r>
            <a:endParaRPr lang="en-US" sz="2200" dirty="0"/>
          </a:p>
        </p:txBody>
      </p:sp>
      <p:sp>
        <p:nvSpPr>
          <p:cNvPr id="18" name="Text 16"/>
          <p:cNvSpPr/>
          <p:nvPr/>
        </p:nvSpPr>
        <p:spPr>
          <a:xfrm>
            <a:off x="6400800" y="2871216"/>
            <a:ext cx="2331720" cy="411480"/>
          </a:xfrm>
          <a:prstGeom prst="rect">
            <a:avLst/>
          </a:prstGeom>
          <a:noFill/>
          <a:ln/>
        </p:spPr>
        <p:txBody>
          <a:bodyPr wrap="square" lIns="0" tIns="0" rIns="0" bIns="0" rtlCol="0" anchor="ctr"/>
          <a:lstStyle/>
          <a:p>
            <a:pPr marL="0" indent="0">
              <a:buNone/>
            </a:pPr>
            <a:r>
              <a:rPr lang="en-US" sz="1500" b="1" dirty="0">
                <a:solidFill>
                  <a:srgbClr val="E9ECF8"/>
                </a:solidFill>
                <a:latin typeface="Georgia" pitchFamily="34" charset="0"/>
                <a:ea typeface="Georgia" pitchFamily="34" charset="-122"/>
                <a:cs typeface="Georgia" pitchFamily="34" charset="-120"/>
              </a:rPr>
              <a:t>Clean</a:t>
            </a:r>
            <a:endParaRPr lang="en-US" sz="1500" dirty="0"/>
          </a:p>
        </p:txBody>
      </p:sp>
      <p:sp>
        <p:nvSpPr>
          <p:cNvPr id="19" name="Text 17"/>
          <p:cNvSpPr/>
          <p:nvPr/>
        </p:nvSpPr>
        <p:spPr>
          <a:xfrm>
            <a:off x="6400800" y="3328416"/>
            <a:ext cx="2331720" cy="1005840"/>
          </a:xfrm>
          <a:prstGeom prst="rect">
            <a:avLst/>
          </a:prstGeom>
          <a:noFill/>
          <a:ln/>
        </p:spPr>
        <p:txBody>
          <a:bodyPr wrap="square" lIns="0" tIns="0" rIns="0" bIns="0" rtlCol="0" anchor="ctr"/>
          <a:lstStyle/>
          <a:p>
            <a:pPr marL="0" indent="0">
              <a:buNone/>
            </a:pPr>
            <a:r>
              <a:rPr lang="en-US" sz="1050" dirty="0">
                <a:solidFill>
                  <a:srgbClr val="9098BD"/>
                </a:solidFill>
                <a:latin typeface="Georgia" pitchFamily="34" charset="0"/>
                <a:ea typeface="Georgia" pitchFamily="34" charset="-122"/>
                <a:cs typeface="Georgia" pitchFamily="34" charset="-120"/>
              </a:rPr>
              <a:t>Type fixes, blanks resolved, casing standardised</a:t>
            </a:r>
            <a:endParaRPr lang="en-US" sz="1050" dirty="0"/>
          </a:p>
        </p:txBody>
      </p:sp>
      <p:sp>
        <p:nvSpPr>
          <p:cNvPr id="20" name="Text 18"/>
          <p:cNvSpPr/>
          <p:nvPr/>
        </p:nvSpPr>
        <p:spPr>
          <a:xfrm>
            <a:off x="8915400" y="3008376"/>
            <a:ext cx="182880" cy="548640"/>
          </a:xfrm>
          <a:prstGeom prst="rect">
            <a:avLst/>
          </a:prstGeom>
          <a:noFill/>
          <a:ln/>
        </p:spPr>
        <p:txBody>
          <a:bodyPr wrap="square" lIns="0" tIns="0" rIns="0" bIns="0" rtlCol="0" anchor="ctr"/>
          <a:lstStyle/>
          <a:p>
            <a:pPr marL="0" indent="0" algn="ctr">
              <a:buNone/>
            </a:pPr>
            <a:r>
              <a:rPr lang="en-US" sz="2000" dirty="0">
                <a:solidFill>
                  <a:srgbClr val="A78BFA"/>
                </a:solidFill>
                <a:latin typeface="Georgia" pitchFamily="34" charset="0"/>
                <a:ea typeface="Georgia" pitchFamily="34" charset="-122"/>
                <a:cs typeface="Georgia" pitchFamily="34" charset="-120"/>
              </a:rPr>
              <a:t>→</a:t>
            </a:r>
            <a:endParaRPr lang="en-US" sz="2000" dirty="0"/>
          </a:p>
        </p:txBody>
      </p:sp>
      <p:sp>
        <p:nvSpPr>
          <p:cNvPr id="21" name="Shape 19"/>
          <p:cNvSpPr/>
          <p:nvPr/>
        </p:nvSpPr>
        <p:spPr>
          <a:xfrm>
            <a:off x="9052560" y="2093976"/>
            <a:ext cx="2697480" cy="2377440"/>
          </a:xfrm>
          <a:prstGeom prst="roundRect">
            <a:avLst>
              <a:gd name="adj" fmla="val 4615"/>
            </a:avLst>
          </a:prstGeom>
          <a:solidFill>
            <a:srgbClr val="141A33"/>
          </a:solidFill>
          <a:ln w="12700">
            <a:solidFill>
              <a:srgbClr val="A78BFA"/>
            </a:solidFill>
            <a:prstDash val="solid"/>
          </a:ln>
        </p:spPr>
        <p:txBody>
          <a:bodyPr/>
          <a:lstStyle/>
          <a:p>
            <a:endParaRPr lang="en-US"/>
          </a:p>
        </p:txBody>
      </p:sp>
      <p:sp>
        <p:nvSpPr>
          <p:cNvPr id="22" name="Text 20"/>
          <p:cNvSpPr/>
          <p:nvPr/>
        </p:nvSpPr>
        <p:spPr>
          <a:xfrm>
            <a:off x="9235440" y="2276856"/>
            <a:ext cx="1371600" cy="457200"/>
          </a:xfrm>
          <a:prstGeom prst="rect">
            <a:avLst/>
          </a:prstGeom>
          <a:noFill/>
          <a:ln/>
        </p:spPr>
        <p:txBody>
          <a:bodyPr wrap="square" lIns="0" tIns="0" rIns="0" bIns="0" rtlCol="0" anchor="ctr"/>
          <a:lstStyle/>
          <a:p>
            <a:pPr marL="0" indent="0">
              <a:buNone/>
            </a:pPr>
            <a:r>
              <a:rPr lang="en-US" sz="2200" b="1" dirty="0">
                <a:solidFill>
                  <a:srgbClr val="F472B6"/>
                </a:solidFill>
                <a:latin typeface="Consolas" pitchFamily="34" charset="0"/>
                <a:ea typeface="Consolas" pitchFamily="34" charset="-122"/>
                <a:cs typeface="Consolas" pitchFamily="34" charset="-120"/>
              </a:rPr>
              <a:t>04</a:t>
            </a:r>
            <a:endParaRPr lang="en-US" sz="2200" dirty="0"/>
          </a:p>
        </p:txBody>
      </p:sp>
      <p:sp>
        <p:nvSpPr>
          <p:cNvPr id="23" name="Text 21"/>
          <p:cNvSpPr/>
          <p:nvPr/>
        </p:nvSpPr>
        <p:spPr>
          <a:xfrm>
            <a:off x="9235440" y="2871216"/>
            <a:ext cx="2331720" cy="411480"/>
          </a:xfrm>
          <a:prstGeom prst="rect">
            <a:avLst/>
          </a:prstGeom>
          <a:noFill/>
          <a:ln/>
        </p:spPr>
        <p:txBody>
          <a:bodyPr wrap="square" lIns="0" tIns="0" rIns="0" bIns="0" rtlCol="0" anchor="ctr"/>
          <a:lstStyle/>
          <a:p>
            <a:pPr marL="0" indent="0">
              <a:buNone/>
            </a:pPr>
            <a:r>
              <a:rPr lang="en-US" sz="1500" b="1" dirty="0">
                <a:solidFill>
                  <a:srgbClr val="E9ECF8"/>
                </a:solidFill>
                <a:latin typeface="Georgia" pitchFamily="34" charset="0"/>
                <a:ea typeface="Georgia" pitchFamily="34" charset="-122"/>
                <a:cs typeface="Georgia" pitchFamily="34" charset="-120"/>
              </a:rPr>
              <a:t>Load Warehouse</a:t>
            </a:r>
            <a:endParaRPr lang="en-US" sz="1500" dirty="0"/>
          </a:p>
        </p:txBody>
      </p:sp>
      <p:sp>
        <p:nvSpPr>
          <p:cNvPr id="24" name="Text 22"/>
          <p:cNvSpPr/>
          <p:nvPr/>
        </p:nvSpPr>
        <p:spPr>
          <a:xfrm>
            <a:off x="9235440" y="3328416"/>
            <a:ext cx="2331720" cy="1005840"/>
          </a:xfrm>
          <a:prstGeom prst="rect">
            <a:avLst/>
          </a:prstGeom>
          <a:noFill/>
          <a:ln/>
        </p:spPr>
        <p:txBody>
          <a:bodyPr wrap="square" lIns="0" tIns="0" rIns="0" bIns="0" rtlCol="0" anchor="ctr"/>
          <a:lstStyle/>
          <a:p>
            <a:pPr marL="0" indent="0">
              <a:buNone/>
            </a:pPr>
            <a:r>
              <a:rPr lang="en-US" sz="1050" dirty="0">
                <a:solidFill>
                  <a:srgbClr val="9098BD"/>
                </a:solidFill>
                <a:latin typeface="Georgia" pitchFamily="34" charset="0"/>
                <a:ea typeface="Georgia" pitchFamily="34" charset="-122"/>
                <a:cs typeface="Georgia" pitchFamily="34" charset="-120"/>
              </a:rPr>
              <a:t>Stored procedures load dwh_* </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1F"/>
        </a:solidFill>
        <a:effectLst/>
      </p:bgPr>
    </p:bg>
    <p:spTree>
      <p:nvGrpSpPr>
        <p:cNvPr id="1" name=""/>
        <p:cNvGrpSpPr/>
        <p:nvPr/>
      </p:nvGrpSpPr>
      <p:grpSpPr>
        <a:xfrm>
          <a:off x="0" y="0"/>
          <a:ext cx="0" cy="0"/>
          <a:chOff x="0" y="0"/>
          <a:chExt cx="0" cy="0"/>
        </a:xfrm>
      </p:grpSpPr>
      <p:sp>
        <p:nvSpPr>
          <p:cNvPr id="32" name="Shape 4">
            <a:extLst>
              <a:ext uri="{FF2B5EF4-FFF2-40B4-BE49-F238E27FC236}">
                <a16:creationId xmlns:a16="http://schemas.microsoft.com/office/drawing/2014/main" id="{8EE2056B-EA7C-8C96-9B8B-B0A196E4F53F}"/>
              </a:ext>
            </a:extLst>
          </p:cNvPr>
          <p:cNvSpPr/>
          <p:nvPr/>
        </p:nvSpPr>
        <p:spPr>
          <a:xfrm>
            <a:off x="8830611" y="1165741"/>
            <a:ext cx="2892830" cy="3151355"/>
          </a:xfrm>
          <a:prstGeom prst="roundRect">
            <a:avLst>
              <a:gd name="adj" fmla="val 1653"/>
            </a:avLst>
          </a:prstGeom>
          <a:solidFill>
            <a:srgbClr val="141A33"/>
          </a:solidFill>
          <a:ln w="12700">
            <a:solidFill>
              <a:srgbClr val="60A5FA"/>
            </a:solidFill>
            <a:prstDash val="solid"/>
          </a:ln>
        </p:spPr>
        <p:txBody>
          <a:bodyPr/>
          <a:lstStyle/>
          <a:p>
            <a:endParaRPr lang="en-US"/>
          </a:p>
        </p:txBody>
      </p:sp>
      <p:sp>
        <p:nvSpPr>
          <p:cNvPr id="2" name="Text 0"/>
          <p:cNvSpPr/>
          <p:nvPr/>
        </p:nvSpPr>
        <p:spPr>
          <a:xfrm>
            <a:off x="548640" y="365760"/>
            <a:ext cx="9144000" cy="320040"/>
          </a:xfrm>
          <a:prstGeom prst="rect">
            <a:avLst/>
          </a:prstGeom>
          <a:noFill/>
          <a:ln/>
        </p:spPr>
        <p:txBody>
          <a:bodyPr wrap="square" lIns="0" tIns="0" rIns="0" bIns="0" rtlCol="0" anchor="ctr"/>
          <a:lstStyle/>
          <a:p>
            <a:pPr marL="0" indent="0">
              <a:buNone/>
            </a:pPr>
            <a:r>
              <a:rPr lang="en-US" sz="2400" b="1" kern="0" spc="200" dirty="0">
                <a:solidFill>
                  <a:srgbClr val="A78BFA"/>
                </a:solidFill>
                <a:latin typeface="Consolas" pitchFamily="34" charset="0"/>
                <a:ea typeface="Consolas" pitchFamily="34" charset="-122"/>
                <a:cs typeface="Consolas" pitchFamily="34" charset="-120"/>
              </a:rPr>
              <a:t>06 · SSIS PIPELINE</a:t>
            </a:r>
            <a:endParaRPr lang="en-US" sz="2400" dirty="0"/>
          </a:p>
        </p:txBody>
      </p:sp>
      <p:sp>
        <p:nvSpPr>
          <p:cNvPr id="3" name="Text 1"/>
          <p:cNvSpPr/>
          <p:nvPr/>
        </p:nvSpPr>
        <p:spPr>
          <a:xfrm>
            <a:off x="685730" y="750806"/>
            <a:ext cx="2593571" cy="479940"/>
          </a:xfrm>
          <a:prstGeom prst="rect">
            <a:avLst/>
          </a:prstGeom>
          <a:noFill/>
          <a:ln>
            <a:solidFill>
              <a:srgbClr val="5390DB"/>
            </a:solidFill>
          </a:ln>
        </p:spPr>
        <p:txBody>
          <a:bodyPr wrap="square" lIns="0" tIns="0" rIns="0" bIns="0" rtlCol="0" anchor="ctr"/>
          <a:lstStyle/>
          <a:p>
            <a:pPr marL="0" indent="0">
              <a:buNone/>
            </a:pPr>
            <a:r>
              <a:rPr lang="en-US" sz="1200" b="1" dirty="0">
                <a:solidFill>
                  <a:srgbClr val="E9ECF8"/>
                </a:solidFill>
                <a:latin typeface="Georgia" pitchFamily="34" charset="0"/>
                <a:ea typeface="Georgia" pitchFamily="34" charset="-122"/>
                <a:cs typeface="Georgia" pitchFamily="34" charset="-120"/>
              </a:rPr>
              <a:t>The master package, end to end</a:t>
            </a:r>
            <a:endParaRPr lang="en-US" sz="1200" dirty="0"/>
          </a:p>
        </p:txBody>
      </p:sp>
      <p:sp>
        <p:nvSpPr>
          <p:cNvPr id="5" name="Text 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9098BD"/>
                </a:solidFill>
                <a:latin typeface="Consolas" pitchFamily="34" charset="0"/>
                <a:ea typeface="Consolas" pitchFamily="34" charset="-122"/>
                <a:cs typeface="Consolas" pitchFamily="34" charset="-120"/>
              </a:rPr>
              <a:t>9</a:t>
            </a:r>
            <a:endParaRPr lang="en-US" sz="900" dirty="0"/>
          </a:p>
        </p:txBody>
      </p:sp>
      <p:sp>
        <p:nvSpPr>
          <p:cNvPr id="6" name="Shape 4"/>
          <p:cNvSpPr/>
          <p:nvPr/>
        </p:nvSpPr>
        <p:spPr>
          <a:xfrm>
            <a:off x="790055" y="1324668"/>
            <a:ext cx="2123486" cy="3160227"/>
          </a:xfrm>
          <a:prstGeom prst="roundRect">
            <a:avLst>
              <a:gd name="adj" fmla="val 1653"/>
            </a:avLst>
          </a:prstGeom>
          <a:solidFill>
            <a:srgbClr val="141A33"/>
          </a:solidFill>
          <a:ln w="12700">
            <a:solidFill>
              <a:srgbClr val="60A5FA"/>
            </a:solidFill>
            <a:prstDash val="solid"/>
          </a:ln>
        </p:spPr>
        <p:txBody>
          <a:bodyPr/>
          <a:lstStyle/>
          <a:p>
            <a:endParaRPr lang="en-US"/>
          </a:p>
        </p:txBody>
      </p:sp>
      <p:pic>
        <p:nvPicPr>
          <p:cNvPr id="7" name="Image 0" descr="/home/claude/cropped/00_master.png"/>
          <p:cNvPicPr>
            <a:picLocks noChangeAspect="1"/>
          </p:cNvPicPr>
          <p:nvPr/>
        </p:nvPicPr>
        <p:blipFill>
          <a:blip r:embed="rId3"/>
          <a:srcRect t="11771" r="77361" b="14658"/>
          <a:stretch>
            <a:fillRect/>
          </a:stretch>
        </p:blipFill>
        <p:spPr>
          <a:xfrm>
            <a:off x="818734" y="1431493"/>
            <a:ext cx="2010433" cy="2909455"/>
          </a:xfrm>
          <a:prstGeom prst="rect">
            <a:avLst/>
          </a:prstGeom>
        </p:spPr>
      </p:pic>
      <p:sp>
        <p:nvSpPr>
          <p:cNvPr id="8" name="Shape 5"/>
          <p:cNvSpPr/>
          <p:nvPr/>
        </p:nvSpPr>
        <p:spPr>
          <a:xfrm>
            <a:off x="901168" y="4613279"/>
            <a:ext cx="1845564" cy="466058"/>
          </a:xfrm>
          <a:prstGeom prst="roundRect">
            <a:avLst>
              <a:gd name="adj" fmla="val 19620"/>
            </a:avLst>
          </a:prstGeom>
          <a:solidFill>
            <a:srgbClr val="141A33"/>
          </a:solidFill>
          <a:ln w="12700">
            <a:solidFill>
              <a:srgbClr val="F472B6"/>
            </a:solidFill>
            <a:prstDash val="solid"/>
          </a:ln>
        </p:spPr>
        <p:txBody>
          <a:bodyPr/>
          <a:lstStyle/>
          <a:p>
            <a:endParaRPr lang="en-US"/>
          </a:p>
        </p:txBody>
      </p:sp>
      <p:sp>
        <p:nvSpPr>
          <p:cNvPr id="9" name="Text 6"/>
          <p:cNvSpPr/>
          <p:nvPr/>
        </p:nvSpPr>
        <p:spPr>
          <a:xfrm>
            <a:off x="1425770" y="4693967"/>
            <a:ext cx="1113490" cy="274320"/>
          </a:xfrm>
          <a:prstGeom prst="rect">
            <a:avLst/>
          </a:prstGeom>
          <a:noFill/>
          <a:ln/>
        </p:spPr>
        <p:txBody>
          <a:bodyPr wrap="square" lIns="0" tIns="0" rIns="0" bIns="0" rtlCol="0" anchor="ctr"/>
          <a:lstStyle/>
          <a:p>
            <a:pPr marL="0" indent="0" algn="ctr">
              <a:buNone/>
            </a:pPr>
            <a:r>
              <a:rPr lang="en-US" sz="1000" b="1" kern="0" spc="150" dirty="0">
                <a:solidFill>
                  <a:srgbClr val="F472B6"/>
                </a:solidFill>
                <a:latin typeface="Consolas" pitchFamily="34" charset="0"/>
                <a:ea typeface="Consolas" pitchFamily="34" charset="-122"/>
                <a:cs typeface="Consolas" pitchFamily="34" charset="-120"/>
              </a:rPr>
              <a:t>INSIGHT</a:t>
            </a:r>
            <a:endParaRPr lang="en-US" sz="1000" dirty="0"/>
          </a:p>
        </p:txBody>
      </p:sp>
      <p:sp>
        <p:nvSpPr>
          <p:cNvPr id="10" name="Text 7"/>
          <p:cNvSpPr/>
          <p:nvPr/>
        </p:nvSpPr>
        <p:spPr>
          <a:xfrm>
            <a:off x="585146" y="5153938"/>
            <a:ext cx="2593572" cy="1601993"/>
          </a:xfrm>
          <a:prstGeom prst="rect">
            <a:avLst/>
          </a:prstGeom>
          <a:noFill/>
          <a:ln/>
        </p:spPr>
        <p:txBody>
          <a:bodyPr wrap="square" lIns="0" tIns="0" rIns="0" bIns="0" rtlCol="0" anchor="t"/>
          <a:lstStyle/>
          <a:p>
            <a:pPr marL="0" indent="0">
              <a:lnSpc>
                <a:spcPct val="118000"/>
              </a:lnSpc>
              <a:buNone/>
            </a:pPr>
            <a:r>
              <a:rPr lang="en-US" sz="1150" dirty="0">
                <a:solidFill>
                  <a:srgbClr val="E9ECF8"/>
                </a:solidFill>
                <a:latin typeface="Georgia" pitchFamily="34" charset="0"/>
                <a:ea typeface="Georgia" pitchFamily="34" charset="-122"/>
                <a:cs typeface="Georgia" pitchFamily="34" charset="-120"/>
              </a:rPr>
              <a:t>Five sequential stages — create databases, load CSV, build staging dimensions, clean them, then load the warehouse, all complete with a green check. </a:t>
            </a:r>
            <a:endParaRPr lang="en-US" sz="1150" dirty="0"/>
          </a:p>
        </p:txBody>
      </p:sp>
      <p:sp>
        <p:nvSpPr>
          <p:cNvPr id="12" name="Text 1">
            <a:extLst>
              <a:ext uri="{FF2B5EF4-FFF2-40B4-BE49-F238E27FC236}">
                <a16:creationId xmlns:a16="http://schemas.microsoft.com/office/drawing/2014/main" id="{823C1FCD-B081-04FA-90C7-45CAAD6D88B9}"/>
              </a:ext>
            </a:extLst>
          </p:cNvPr>
          <p:cNvSpPr/>
          <p:nvPr/>
        </p:nvSpPr>
        <p:spPr>
          <a:xfrm>
            <a:off x="4804479" y="603684"/>
            <a:ext cx="2435629" cy="479940"/>
          </a:xfrm>
          <a:prstGeom prst="rect">
            <a:avLst/>
          </a:prstGeom>
          <a:noFill/>
          <a:ln>
            <a:solidFill>
              <a:srgbClr val="5390DB"/>
            </a:solidFill>
          </a:ln>
        </p:spPr>
        <p:txBody>
          <a:bodyPr wrap="square" lIns="0" tIns="0" rIns="0" bIns="0" rtlCol="0" anchor="ctr"/>
          <a:lstStyle/>
          <a:p>
            <a:pPr marL="0" indent="0">
              <a:buNone/>
            </a:pPr>
            <a:r>
              <a:rPr lang="en-US" sz="1200" b="1" dirty="0">
                <a:solidFill>
                  <a:srgbClr val="E9ECF8"/>
                </a:solidFill>
                <a:latin typeface="Georgia" pitchFamily="34" charset="0"/>
                <a:ea typeface="Georgia" pitchFamily="34" charset="-122"/>
                <a:cs typeface="Georgia" pitchFamily="34" charset="-120"/>
              </a:rPr>
              <a:t> Creating both databases</a:t>
            </a:r>
            <a:endParaRPr lang="en-US" sz="1200" dirty="0"/>
          </a:p>
        </p:txBody>
      </p:sp>
      <p:sp>
        <p:nvSpPr>
          <p:cNvPr id="16" name="Shape 4">
            <a:extLst>
              <a:ext uri="{FF2B5EF4-FFF2-40B4-BE49-F238E27FC236}">
                <a16:creationId xmlns:a16="http://schemas.microsoft.com/office/drawing/2014/main" id="{EB4ADA3A-1E96-7697-A997-5728CBA90CB0}"/>
              </a:ext>
            </a:extLst>
          </p:cNvPr>
          <p:cNvSpPr/>
          <p:nvPr/>
        </p:nvSpPr>
        <p:spPr>
          <a:xfrm>
            <a:off x="4804479" y="1263694"/>
            <a:ext cx="2563369" cy="3077254"/>
          </a:xfrm>
          <a:prstGeom prst="roundRect">
            <a:avLst>
              <a:gd name="adj" fmla="val 1653"/>
            </a:avLst>
          </a:prstGeom>
          <a:solidFill>
            <a:srgbClr val="141A33"/>
          </a:solidFill>
          <a:ln w="12700">
            <a:solidFill>
              <a:srgbClr val="60A5FA"/>
            </a:solidFill>
            <a:prstDash val="solid"/>
          </a:ln>
        </p:spPr>
        <p:txBody>
          <a:bodyPr/>
          <a:lstStyle/>
          <a:p>
            <a:endParaRPr lang="en-US"/>
          </a:p>
        </p:txBody>
      </p:sp>
      <p:pic>
        <p:nvPicPr>
          <p:cNvPr id="14" name="Image 0" descr="/home/claude/cropped/02_databases.png">
            <a:extLst>
              <a:ext uri="{FF2B5EF4-FFF2-40B4-BE49-F238E27FC236}">
                <a16:creationId xmlns:a16="http://schemas.microsoft.com/office/drawing/2014/main" id="{D2652F44-CC62-ABBC-2C52-CAC176FC85F8}"/>
              </a:ext>
            </a:extLst>
          </p:cNvPr>
          <p:cNvPicPr>
            <a:picLocks noChangeAspect="1"/>
          </p:cNvPicPr>
          <p:nvPr/>
        </p:nvPicPr>
        <p:blipFill>
          <a:blip r:embed="rId4"/>
          <a:srcRect t="10689" r="67437" b="14586"/>
          <a:stretch>
            <a:fillRect/>
          </a:stretch>
        </p:blipFill>
        <p:spPr>
          <a:xfrm>
            <a:off x="4857404" y="1372186"/>
            <a:ext cx="2435629" cy="2824814"/>
          </a:xfrm>
          <a:prstGeom prst="rect">
            <a:avLst/>
          </a:prstGeom>
        </p:spPr>
      </p:pic>
      <p:sp>
        <p:nvSpPr>
          <p:cNvPr id="20" name="Shape 5">
            <a:extLst>
              <a:ext uri="{FF2B5EF4-FFF2-40B4-BE49-F238E27FC236}">
                <a16:creationId xmlns:a16="http://schemas.microsoft.com/office/drawing/2014/main" id="{739BB169-9929-1895-3976-6F973D92AE71}"/>
              </a:ext>
            </a:extLst>
          </p:cNvPr>
          <p:cNvSpPr/>
          <p:nvPr/>
        </p:nvSpPr>
        <p:spPr>
          <a:xfrm>
            <a:off x="5130199" y="4517844"/>
            <a:ext cx="1911927" cy="466058"/>
          </a:xfrm>
          <a:prstGeom prst="roundRect">
            <a:avLst>
              <a:gd name="adj" fmla="val 19620"/>
            </a:avLst>
          </a:prstGeom>
          <a:solidFill>
            <a:srgbClr val="141A33"/>
          </a:solidFill>
          <a:ln w="12700">
            <a:solidFill>
              <a:srgbClr val="F472B6"/>
            </a:solidFill>
            <a:prstDash val="solid"/>
          </a:ln>
        </p:spPr>
        <p:txBody>
          <a:bodyPr/>
          <a:lstStyle/>
          <a:p>
            <a:endParaRPr lang="en-US"/>
          </a:p>
        </p:txBody>
      </p:sp>
      <p:sp>
        <p:nvSpPr>
          <p:cNvPr id="22" name="Text 7">
            <a:extLst>
              <a:ext uri="{FF2B5EF4-FFF2-40B4-BE49-F238E27FC236}">
                <a16:creationId xmlns:a16="http://schemas.microsoft.com/office/drawing/2014/main" id="{8C323034-6061-B495-2772-E6945CD74E7A}"/>
              </a:ext>
            </a:extLst>
          </p:cNvPr>
          <p:cNvSpPr/>
          <p:nvPr/>
        </p:nvSpPr>
        <p:spPr>
          <a:xfrm rot="10800000" flipV="1">
            <a:off x="4804479" y="5191899"/>
            <a:ext cx="2676698" cy="1676972"/>
          </a:xfrm>
          <a:prstGeom prst="rect">
            <a:avLst/>
          </a:prstGeom>
          <a:noFill/>
          <a:ln/>
        </p:spPr>
        <p:txBody>
          <a:bodyPr wrap="square" lIns="0" tIns="0" rIns="0" bIns="0" rtlCol="0" anchor="t"/>
          <a:lstStyle/>
          <a:p>
            <a:pPr marL="0" indent="0">
              <a:lnSpc>
                <a:spcPct val="118000"/>
              </a:lnSpc>
              <a:buNone/>
            </a:pPr>
            <a:r>
              <a:rPr lang="en-US" sz="1150" dirty="0">
                <a:solidFill>
                  <a:srgbClr val="E9ECF8"/>
                </a:solidFill>
                <a:latin typeface="Georgia" pitchFamily="34" charset="0"/>
                <a:ea typeface="Georgia" pitchFamily="34" charset="-122"/>
                <a:cs typeface="Georgia" pitchFamily="34" charset="-120"/>
              </a:rPr>
              <a:t>Two independent Execute SQL Tasks create stg_bright_retail and dwh_bright_retail if they don't already exist. Because neither depends on the other, they're structured as separate tasks rather than one script, making the whole environment reproducible from a blank SQL Server instance.</a:t>
            </a:r>
            <a:endParaRPr lang="en-US" sz="1150" dirty="0"/>
          </a:p>
        </p:txBody>
      </p:sp>
      <p:sp>
        <p:nvSpPr>
          <p:cNvPr id="24" name="Text 6">
            <a:extLst>
              <a:ext uri="{FF2B5EF4-FFF2-40B4-BE49-F238E27FC236}">
                <a16:creationId xmlns:a16="http://schemas.microsoft.com/office/drawing/2014/main" id="{49C8FDD0-F668-83A2-A1AC-780035D00208}"/>
              </a:ext>
            </a:extLst>
          </p:cNvPr>
          <p:cNvSpPr/>
          <p:nvPr/>
        </p:nvSpPr>
        <p:spPr>
          <a:xfrm>
            <a:off x="5409161" y="4613713"/>
            <a:ext cx="1077537" cy="274320"/>
          </a:xfrm>
          <a:prstGeom prst="rect">
            <a:avLst/>
          </a:prstGeom>
          <a:noFill/>
          <a:ln/>
        </p:spPr>
        <p:txBody>
          <a:bodyPr wrap="square" lIns="0" tIns="0" rIns="0" bIns="0" rtlCol="0" anchor="ctr"/>
          <a:lstStyle/>
          <a:p>
            <a:pPr marL="0" indent="0" algn="ctr">
              <a:buNone/>
            </a:pPr>
            <a:r>
              <a:rPr lang="en-US" sz="1000" b="1" kern="0" spc="150" dirty="0">
                <a:solidFill>
                  <a:srgbClr val="F472B6"/>
                </a:solidFill>
                <a:latin typeface="Consolas" pitchFamily="34" charset="0"/>
                <a:ea typeface="Consolas" pitchFamily="34" charset="-122"/>
                <a:cs typeface="Consolas" pitchFamily="34" charset="-120"/>
              </a:rPr>
              <a:t>INSIGHT</a:t>
            </a:r>
            <a:endParaRPr lang="en-US" sz="1000" dirty="0"/>
          </a:p>
        </p:txBody>
      </p:sp>
      <p:sp>
        <p:nvSpPr>
          <p:cNvPr id="26" name="Text 1">
            <a:extLst>
              <a:ext uri="{FF2B5EF4-FFF2-40B4-BE49-F238E27FC236}">
                <a16:creationId xmlns:a16="http://schemas.microsoft.com/office/drawing/2014/main" id="{65A6F903-99B8-02E5-98AE-20F68510DA02}"/>
              </a:ext>
            </a:extLst>
          </p:cNvPr>
          <p:cNvSpPr/>
          <p:nvPr/>
        </p:nvSpPr>
        <p:spPr>
          <a:xfrm>
            <a:off x="8750531" y="525780"/>
            <a:ext cx="2892829" cy="479941"/>
          </a:xfrm>
          <a:prstGeom prst="rect">
            <a:avLst/>
          </a:prstGeom>
          <a:noFill/>
          <a:ln>
            <a:solidFill>
              <a:srgbClr val="5390DB"/>
            </a:solidFill>
          </a:ln>
        </p:spPr>
        <p:txBody>
          <a:bodyPr wrap="square" lIns="0" tIns="0" rIns="0" bIns="0" rtlCol="0" anchor="ctr"/>
          <a:lstStyle/>
          <a:p>
            <a:pPr marL="0" indent="0">
              <a:buNone/>
            </a:pPr>
            <a:r>
              <a:rPr lang="en-US" sz="1200" b="1" dirty="0">
                <a:solidFill>
                  <a:srgbClr val="E9ECF8"/>
                </a:solidFill>
                <a:latin typeface="Georgia" pitchFamily="34" charset="0"/>
                <a:ea typeface="Georgia" pitchFamily="34" charset="-122"/>
                <a:cs typeface="Georgia" pitchFamily="34" charset="-120"/>
              </a:rPr>
              <a:t>Loading the raw CSV into staging</a:t>
            </a:r>
            <a:endParaRPr lang="en-US" sz="1200" dirty="0"/>
          </a:p>
        </p:txBody>
      </p:sp>
      <p:pic>
        <p:nvPicPr>
          <p:cNvPr id="30" name="Image 0" descr="/home/claude/cropped/01_load_csv.png">
            <a:extLst>
              <a:ext uri="{FF2B5EF4-FFF2-40B4-BE49-F238E27FC236}">
                <a16:creationId xmlns:a16="http://schemas.microsoft.com/office/drawing/2014/main" id="{7AA1742C-53E4-4592-6A5C-60D541B00D8F}"/>
              </a:ext>
            </a:extLst>
          </p:cNvPr>
          <p:cNvPicPr>
            <a:picLocks noChangeAspect="1"/>
          </p:cNvPicPr>
          <p:nvPr/>
        </p:nvPicPr>
        <p:blipFill>
          <a:blip r:embed="rId5"/>
          <a:srcRect t="11806" r="72821" b="12801"/>
          <a:stretch>
            <a:fillRect/>
          </a:stretch>
        </p:blipFill>
        <p:spPr>
          <a:xfrm>
            <a:off x="8959873" y="1263694"/>
            <a:ext cx="2634303" cy="2971175"/>
          </a:xfrm>
          <a:prstGeom prst="rect">
            <a:avLst/>
          </a:prstGeom>
        </p:spPr>
      </p:pic>
      <p:sp>
        <p:nvSpPr>
          <p:cNvPr id="34" name="Shape 5">
            <a:extLst>
              <a:ext uri="{FF2B5EF4-FFF2-40B4-BE49-F238E27FC236}">
                <a16:creationId xmlns:a16="http://schemas.microsoft.com/office/drawing/2014/main" id="{498C81B6-0246-C900-6AFD-DF2B68286F17}"/>
              </a:ext>
            </a:extLst>
          </p:cNvPr>
          <p:cNvSpPr/>
          <p:nvPr/>
        </p:nvSpPr>
        <p:spPr>
          <a:xfrm>
            <a:off x="9310253" y="4493993"/>
            <a:ext cx="1911927" cy="466058"/>
          </a:xfrm>
          <a:prstGeom prst="roundRect">
            <a:avLst>
              <a:gd name="adj" fmla="val 19620"/>
            </a:avLst>
          </a:prstGeom>
          <a:solidFill>
            <a:srgbClr val="141A33"/>
          </a:solidFill>
          <a:ln w="12700">
            <a:solidFill>
              <a:srgbClr val="F472B6"/>
            </a:solidFill>
            <a:prstDash val="solid"/>
          </a:ln>
        </p:spPr>
        <p:txBody>
          <a:bodyPr/>
          <a:lstStyle/>
          <a:p>
            <a:endParaRPr lang="en-US"/>
          </a:p>
        </p:txBody>
      </p:sp>
      <p:sp>
        <p:nvSpPr>
          <p:cNvPr id="36" name="Text 6">
            <a:extLst>
              <a:ext uri="{FF2B5EF4-FFF2-40B4-BE49-F238E27FC236}">
                <a16:creationId xmlns:a16="http://schemas.microsoft.com/office/drawing/2014/main" id="{CAC3FA82-AEA8-B4E0-1A07-AF0E564A568F}"/>
              </a:ext>
            </a:extLst>
          </p:cNvPr>
          <p:cNvSpPr/>
          <p:nvPr/>
        </p:nvSpPr>
        <p:spPr>
          <a:xfrm>
            <a:off x="9589215" y="4589862"/>
            <a:ext cx="1077537" cy="274320"/>
          </a:xfrm>
          <a:prstGeom prst="rect">
            <a:avLst/>
          </a:prstGeom>
          <a:noFill/>
          <a:ln/>
        </p:spPr>
        <p:txBody>
          <a:bodyPr wrap="square" lIns="0" tIns="0" rIns="0" bIns="0" rtlCol="0" anchor="ctr"/>
          <a:lstStyle/>
          <a:p>
            <a:pPr marL="0" indent="0" algn="ctr">
              <a:buNone/>
            </a:pPr>
            <a:r>
              <a:rPr lang="en-US" sz="1000" b="1" kern="0" spc="150" dirty="0">
                <a:solidFill>
                  <a:srgbClr val="F472B6"/>
                </a:solidFill>
                <a:latin typeface="Consolas" pitchFamily="34" charset="0"/>
                <a:ea typeface="Consolas" pitchFamily="34" charset="-122"/>
                <a:cs typeface="Consolas" pitchFamily="34" charset="-120"/>
              </a:rPr>
              <a:t>INSIGHT</a:t>
            </a:r>
            <a:endParaRPr lang="en-US" sz="1000" dirty="0"/>
          </a:p>
        </p:txBody>
      </p:sp>
      <p:sp>
        <p:nvSpPr>
          <p:cNvPr id="38" name="Text 7">
            <a:extLst>
              <a:ext uri="{FF2B5EF4-FFF2-40B4-BE49-F238E27FC236}">
                <a16:creationId xmlns:a16="http://schemas.microsoft.com/office/drawing/2014/main" id="{AAE7F0FD-FFF3-6A18-BB75-D20161368B3B}"/>
              </a:ext>
            </a:extLst>
          </p:cNvPr>
          <p:cNvSpPr/>
          <p:nvPr/>
        </p:nvSpPr>
        <p:spPr>
          <a:xfrm rot="10800000" flipV="1">
            <a:off x="9046743" y="5146310"/>
            <a:ext cx="2676698" cy="1678122"/>
          </a:xfrm>
          <a:prstGeom prst="rect">
            <a:avLst/>
          </a:prstGeom>
          <a:noFill/>
          <a:ln/>
        </p:spPr>
        <p:txBody>
          <a:bodyPr wrap="square" lIns="0" tIns="0" rIns="0" bIns="0" rtlCol="0" anchor="t"/>
          <a:lstStyle/>
          <a:p>
            <a:pPr marL="0" indent="0">
              <a:lnSpc>
                <a:spcPct val="118000"/>
              </a:lnSpc>
              <a:buNone/>
            </a:pPr>
            <a:r>
              <a:rPr lang="en-US" sz="1150" dirty="0">
                <a:solidFill>
                  <a:srgbClr val="E9ECF8"/>
                </a:solidFill>
                <a:latin typeface="Georgia" pitchFamily="34" charset="0"/>
                <a:ea typeface="Georgia" pitchFamily="34" charset="-122"/>
                <a:cs typeface="Georgia" pitchFamily="34" charset="-120"/>
              </a:rPr>
              <a:t>The Flat File Source moves exactly 5,000 rows into bright_retail_raw on every run, confirming the source extract size before any cleaning or transformation begins, used as a baseline number to compare later row counts against.</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0A0E1F"/>
        </a:solidFill>
        <a:effectLst/>
      </p:bgPr>
    </p:bg>
    <p:spTree>
      <p:nvGrpSpPr>
        <p:cNvPr id="1" name=""/>
        <p:cNvGrpSpPr/>
        <p:nvPr/>
      </p:nvGrpSpPr>
      <p:grpSpPr>
        <a:xfrm>
          <a:off x="0" y="0"/>
          <a:ext cx="0" cy="0"/>
          <a:chOff x="0" y="0"/>
          <a:chExt cx="0" cy="0"/>
        </a:xfrm>
      </p:grpSpPr>
      <p:sp>
        <p:nvSpPr>
          <p:cNvPr id="20" name="Shape 4">
            <a:extLst>
              <a:ext uri="{FF2B5EF4-FFF2-40B4-BE49-F238E27FC236}">
                <a16:creationId xmlns:a16="http://schemas.microsoft.com/office/drawing/2014/main" id="{72021387-6289-EAF6-39C5-3D55D5BDEB63}"/>
              </a:ext>
            </a:extLst>
          </p:cNvPr>
          <p:cNvSpPr/>
          <p:nvPr/>
        </p:nvSpPr>
        <p:spPr>
          <a:xfrm>
            <a:off x="897775" y="4395210"/>
            <a:ext cx="9869285" cy="1735154"/>
          </a:xfrm>
          <a:prstGeom prst="roundRect">
            <a:avLst>
              <a:gd name="adj" fmla="val 1653"/>
            </a:avLst>
          </a:prstGeom>
          <a:solidFill>
            <a:srgbClr val="141A33"/>
          </a:solidFill>
          <a:ln w="12700">
            <a:solidFill>
              <a:srgbClr val="60A5FA"/>
            </a:solidFill>
            <a:prstDash val="solid"/>
          </a:ln>
        </p:spPr>
        <p:txBody>
          <a:bodyPr/>
          <a:lstStyle/>
          <a:p>
            <a:endParaRPr lang="en-US"/>
          </a:p>
        </p:txBody>
      </p:sp>
      <p:sp>
        <p:nvSpPr>
          <p:cNvPr id="16" name="Shape 4">
            <a:extLst>
              <a:ext uri="{FF2B5EF4-FFF2-40B4-BE49-F238E27FC236}">
                <a16:creationId xmlns:a16="http://schemas.microsoft.com/office/drawing/2014/main" id="{F01561A7-5461-58C5-EC1E-4988D8F558FC}"/>
              </a:ext>
            </a:extLst>
          </p:cNvPr>
          <p:cNvSpPr/>
          <p:nvPr/>
        </p:nvSpPr>
        <p:spPr>
          <a:xfrm>
            <a:off x="5119953" y="850392"/>
            <a:ext cx="6850374" cy="3089841"/>
          </a:xfrm>
          <a:prstGeom prst="roundRect">
            <a:avLst>
              <a:gd name="adj" fmla="val 1653"/>
            </a:avLst>
          </a:prstGeom>
          <a:solidFill>
            <a:srgbClr val="141A33"/>
          </a:solidFill>
          <a:ln w="12700">
            <a:solidFill>
              <a:srgbClr val="60A5FA"/>
            </a:solidFill>
            <a:prstDash val="solid"/>
          </a:ln>
        </p:spPr>
        <p:txBody>
          <a:bodyPr/>
          <a:lstStyle/>
          <a:p>
            <a:endParaRPr lang="en-US"/>
          </a:p>
        </p:txBody>
      </p:sp>
      <p:sp>
        <p:nvSpPr>
          <p:cNvPr id="2" name="Text 0"/>
          <p:cNvSpPr/>
          <p:nvPr/>
        </p:nvSpPr>
        <p:spPr>
          <a:xfrm>
            <a:off x="548640" y="30896"/>
            <a:ext cx="9144000" cy="320040"/>
          </a:xfrm>
          <a:prstGeom prst="rect">
            <a:avLst/>
          </a:prstGeom>
          <a:noFill/>
          <a:ln/>
        </p:spPr>
        <p:txBody>
          <a:bodyPr wrap="square" lIns="0" tIns="0" rIns="0" bIns="0" rtlCol="0" anchor="ctr"/>
          <a:lstStyle/>
          <a:p>
            <a:pPr marL="0" indent="0">
              <a:buNone/>
            </a:pPr>
            <a:r>
              <a:rPr lang="en-US" sz="2400" b="1" kern="0" spc="200" dirty="0">
                <a:solidFill>
                  <a:srgbClr val="A78BFA"/>
                </a:solidFill>
                <a:latin typeface="Consolas" pitchFamily="34" charset="0"/>
                <a:ea typeface="Consolas" pitchFamily="34" charset="-122"/>
                <a:cs typeface="Consolas" pitchFamily="34" charset="-120"/>
              </a:rPr>
              <a:t>06 · SSIS PIPELINE</a:t>
            </a:r>
            <a:endParaRPr lang="en-US" sz="2400" dirty="0"/>
          </a:p>
        </p:txBody>
      </p:sp>
      <p:sp>
        <p:nvSpPr>
          <p:cNvPr id="5" name="Text 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9098BD"/>
                </a:solidFill>
                <a:latin typeface="Consolas" pitchFamily="34" charset="0"/>
                <a:ea typeface="Consolas" pitchFamily="34" charset="-122"/>
                <a:cs typeface="Consolas" pitchFamily="34" charset="-120"/>
              </a:rPr>
              <a:t>12</a:t>
            </a:r>
            <a:endParaRPr lang="en-US" sz="900" dirty="0"/>
          </a:p>
        </p:txBody>
      </p:sp>
      <p:sp>
        <p:nvSpPr>
          <p:cNvPr id="6" name="Shape 4"/>
          <p:cNvSpPr/>
          <p:nvPr/>
        </p:nvSpPr>
        <p:spPr>
          <a:xfrm>
            <a:off x="465513" y="850392"/>
            <a:ext cx="4106487" cy="3089841"/>
          </a:xfrm>
          <a:prstGeom prst="roundRect">
            <a:avLst>
              <a:gd name="adj" fmla="val 1653"/>
            </a:avLst>
          </a:prstGeom>
          <a:solidFill>
            <a:srgbClr val="141A33"/>
          </a:solidFill>
          <a:ln w="12700">
            <a:solidFill>
              <a:srgbClr val="60A5FA"/>
            </a:solidFill>
            <a:prstDash val="solid"/>
          </a:ln>
        </p:spPr>
        <p:txBody>
          <a:bodyPr/>
          <a:lstStyle/>
          <a:p>
            <a:endParaRPr lang="en-US"/>
          </a:p>
        </p:txBody>
      </p:sp>
      <p:pic>
        <p:nvPicPr>
          <p:cNvPr id="12" name="Image 0" descr="/home/claude/cropped/03_stg_dim_tables.png">
            <a:extLst>
              <a:ext uri="{FF2B5EF4-FFF2-40B4-BE49-F238E27FC236}">
                <a16:creationId xmlns:a16="http://schemas.microsoft.com/office/drawing/2014/main" id="{BC04EAD2-7201-C0BC-0110-F8A2A03E4958}"/>
              </a:ext>
            </a:extLst>
          </p:cNvPr>
          <p:cNvPicPr>
            <a:picLocks noChangeAspect="1"/>
          </p:cNvPicPr>
          <p:nvPr/>
        </p:nvPicPr>
        <p:blipFill>
          <a:blip r:embed="rId3"/>
          <a:srcRect l="3247" t="8955" r="42809" b="3801"/>
          <a:stretch>
            <a:fillRect/>
          </a:stretch>
        </p:blipFill>
        <p:spPr>
          <a:xfrm>
            <a:off x="548640" y="1038049"/>
            <a:ext cx="3897981" cy="2807290"/>
          </a:xfrm>
          <a:prstGeom prst="rect">
            <a:avLst/>
          </a:prstGeom>
        </p:spPr>
      </p:pic>
      <p:pic>
        <p:nvPicPr>
          <p:cNvPr id="14" name="Image 0" descr="/home/claude/cropped/04_clean_dim_tables.png">
            <a:extLst>
              <a:ext uri="{FF2B5EF4-FFF2-40B4-BE49-F238E27FC236}">
                <a16:creationId xmlns:a16="http://schemas.microsoft.com/office/drawing/2014/main" id="{D387FFD0-D3CE-B8C1-0CC6-D5CD4C2DBFAE}"/>
              </a:ext>
            </a:extLst>
          </p:cNvPr>
          <p:cNvPicPr>
            <a:picLocks noChangeAspect="1"/>
          </p:cNvPicPr>
          <p:nvPr/>
        </p:nvPicPr>
        <p:blipFill>
          <a:blip r:embed="rId4"/>
          <a:srcRect l="3590" t="7607" r="28830" b="21904"/>
          <a:stretch>
            <a:fillRect/>
          </a:stretch>
        </p:blipFill>
        <p:spPr>
          <a:xfrm>
            <a:off x="5245332" y="897775"/>
            <a:ext cx="6550429" cy="2947564"/>
          </a:xfrm>
          <a:prstGeom prst="rect">
            <a:avLst/>
          </a:prstGeom>
        </p:spPr>
      </p:pic>
      <p:pic>
        <p:nvPicPr>
          <p:cNvPr id="18" name="Image 0" descr="/home/claude/cropped/05_dwh_tables.png">
            <a:extLst>
              <a:ext uri="{FF2B5EF4-FFF2-40B4-BE49-F238E27FC236}">
                <a16:creationId xmlns:a16="http://schemas.microsoft.com/office/drawing/2014/main" id="{041CFAA2-3EBF-2230-4B30-8F8EE64539DE}"/>
              </a:ext>
            </a:extLst>
          </p:cNvPr>
          <p:cNvPicPr>
            <a:picLocks noChangeAspect="1"/>
          </p:cNvPicPr>
          <p:nvPr/>
        </p:nvPicPr>
        <p:blipFill>
          <a:blip r:embed="rId5"/>
          <a:srcRect b="65237"/>
          <a:stretch>
            <a:fillRect/>
          </a:stretch>
        </p:blipFill>
        <p:spPr>
          <a:xfrm>
            <a:off x="998774" y="4507161"/>
            <a:ext cx="9692640" cy="1500447"/>
          </a:xfrm>
          <a:prstGeom prst="rect">
            <a:avLst/>
          </a:prstGeom>
        </p:spPr>
      </p:pic>
      <p:sp>
        <p:nvSpPr>
          <p:cNvPr id="22" name="Text 1">
            <a:extLst>
              <a:ext uri="{FF2B5EF4-FFF2-40B4-BE49-F238E27FC236}">
                <a16:creationId xmlns:a16="http://schemas.microsoft.com/office/drawing/2014/main" id="{4D5A1ABE-CAF5-B73E-0CC0-D02349924127}"/>
              </a:ext>
            </a:extLst>
          </p:cNvPr>
          <p:cNvSpPr/>
          <p:nvPr/>
        </p:nvSpPr>
        <p:spPr>
          <a:xfrm>
            <a:off x="2809702" y="4052183"/>
            <a:ext cx="3897981" cy="248133"/>
          </a:xfrm>
          <a:prstGeom prst="rect">
            <a:avLst/>
          </a:prstGeom>
          <a:noFill/>
          <a:ln>
            <a:solidFill>
              <a:srgbClr val="5390DB"/>
            </a:solidFill>
          </a:ln>
        </p:spPr>
        <p:txBody>
          <a:bodyPr wrap="square" lIns="0" tIns="0" rIns="0" bIns="0" rtlCol="0" anchor="ctr"/>
          <a:lstStyle/>
          <a:p>
            <a:pPr marL="0" indent="0" algn="ctr">
              <a:buNone/>
            </a:pPr>
            <a:r>
              <a:rPr lang="en-US" sz="1200" b="1" dirty="0">
                <a:solidFill>
                  <a:srgbClr val="E9ECF8"/>
                </a:solidFill>
                <a:latin typeface="Georgia" pitchFamily="34" charset="0"/>
                <a:ea typeface="Georgia" pitchFamily="34" charset="-122"/>
                <a:cs typeface="Georgia" pitchFamily="34" charset="-120"/>
              </a:rPr>
              <a:t>Loading the warehouse </a:t>
            </a:r>
            <a:endParaRPr lang="en-US" sz="1200" dirty="0"/>
          </a:p>
        </p:txBody>
      </p:sp>
      <p:sp>
        <p:nvSpPr>
          <p:cNvPr id="24" name="Text 1">
            <a:extLst>
              <a:ext uri="{FF2B5EF4-FFF2-40B4-BE49-F238E27FC236}">
                <a16:creationId xmlns:a16="http://schemas.microsoft.com/office/drawing/2014/main" id="{F459643C-EFDC-1CDE-B748-5CCFE78CA258}"/>
              </a:ext>
            </a:extLst>
          </p:cNvPr>
          <p:cNvSpPr/>
          <p:nvPr/>
        </p:nvSpPr>
        <p:spPr>
          <a:xfrm>
            <a:off x="7297887" y="322821"/>
            <a:ext cx="2960019" cy="445275"/>
          </a:xfrm>
          <a:prstGeom prst="rect">
            <a:avLst/>
          </a:prstGeom>
          <a:noFill/>
          <a:ln>
            <a:solidFill>
              <a:srgbClr val="5390DB"/>
            </a:solidFill>
          </a:ln>
        </p:spPr>
        <p:txBody>
          <a:bodyPr wrap="square" lIns="0" tIns="0" rIns="0" bIns="0" rtlCol="0" anchor="ctr"/>
          <a:lstStyle/>
          <a:p>
            <a:pPr marL="0" indent="0">
              <a:buNone/>
            </a:pPr>
            <a:r>
              <a:rPr lang="en-US" sz="1400" b="1" dirty="0">
                <a:solidFill>
                  <a:srgbClr val="E9ECF8"/>
                </a:solidFill>
                <a:latin typeface="Georgia" pitchFamily="34" charset="0"/>
                <a:ea typeface="Georgia" pitchFamily="34" charset="-122"/>
                <a:cs typeface="Georgia" pitchFamily="34" charset="-120"/>
              </a:rPr>
              <a:t>Cleaning the dimensions</a:t>
            </a:r>
            <a:endParaRPr lang="en-US" sz="1400" dirty="0"/>
          </a:p>
        </p:txBody>
      </p:sp>
      <p:sp>
        <p:nvSpPr>
          <p:cNvPr id="26" name="Text 1">
            <a:extLst>
              <a:ext uri="{FF2B5EF4-FFF2-40B4-BE49-F238E27FC236}">
                <a16:creationId xmlns:a16="http://schemas.microsoft.com/office/drawing/2014/main" id="{C1C0210B-9298-9394-FD77-46E39E53F0A7}"/>
              </a:ext>
            </a:extLst>
          </p:cNvPr>
          <p:cNvSpPr/>
          <p:nvPr/>
        </p:nvSpPr>
        <p:spPr>
          <a:xfrm>
            <a:off x="627266" y="371786"/>
            <a:ext cx="3192088" cy="433995"/>
          </a:xfrm>
          <a:prstGeom prst="rect">
            <a:avLst/>
          </a:prstGeom>
          <a:noFill/>
          <a:ln>
            <a:solidFill>
              <a:srgbClr val="5390DB"/>
            </a:solidFill>
          </a:ln>
        </p:spPr>
        <p:txBody>
          <a:bodyPr wrap="square" lIns="0" tIns="0" rIns="0" bIns="0" rtlCol="0" anchor="ctr"/>
          <a:lstStyle/>
          <a:p>
            <a:pPr marL="0" indent="0">
              <a:buNone/>
            </a:pPr>
            <a:r>
              <a:rPr lang="en-US" sz="1200" b="1" dirty="0">
                <a:solidFill>
                  <a:srgbClr val="E9ECF8"/>
                </a:solidFill>
                <a:latin typeface="Georgia" pitchFamily="34" charset="0"/>
                <a:ea typeface="Georgia" pitchFamily="34" charset="-122"/>
                <a:cs typeface="Georgia" pitchFamily="34" charset="-120"/>
              </a:rPr>
              <a:t>Building the staging dimensions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7">
    <p:bg>
      <p:bgPr>
        <a:solidFill>
          <a:srgbClr val="0A0E1F"/>
        </a:solidFill>
        <a:effectLst/>
      </p:bgPr>
    </p:bg>
    <p:spTree>
      <p:nvGrpSpPr>
        <p:cNvPr id="1" name=""/>
        <p:cNvGrpSpPr/>
        <p:nvPr/>
      </p:nvGrpSpPr>
      <p:grpSpPr>
        <a:xfrm>
          <a:off x="0" y="0"/>
          <a:ext cx="0" cy="0"/>
          <a:chOff x="0" y="0"/>
          <a:chExt cx="0" cy="0"/>
        </a:xfrm>
      </p:grpSpPr>
      <p:sp>
        <p:nvSpPr>
          <p:cNvPr id="16" name="Shape 4">
            <a:extLst>
              <a:ext uri="{FF2B5EF4-FFF2-40B4-BE49-F238E27FC236}">
                <a16:creationId xmlns:a16="http://schemas.microsoft.com/office/drawing/2014/main" id="{FF0E0699-A089-68CA-5B4E-1D999A9874E2}"/>
              </a:ext>
            </a:extLst>
          </p:cNvPr>
          <p:cNvSpPr/>
          <p:nvPr/>
        </p:nvSpPr>
        <p:spPr>
          <a:xfrm>
            <a:off x="6247845" y="1187268"/>
            <a:ext cx="5855485" cy="3808681"/>
          </a:xfrm>
          <a:prstGeom prst="roundRect">
            <a:avLst>
              <a:gd name="adj" fmla="val 1610"/>
            </a:avLst>
          </a:prstGeom>
          <a:solidFill>
            <a:srgbClr val="141A33"/>
          </a:solidFill>
          <a:ln w="12700">
            <a:solidFill>
              <a:srgbClr val="60A5FA"/>
            </a:solidFill>
            <a:prstDash val="solid"/>
          </a:ln>
        </p:spPr>
        <p:txBody>
          <a:bodyPr/>
          <a:lstStyle/>
          <a:p>
            <a:endParaRPr lang="en-US"/>
          </a:p>
        </p:txBody>
      </p:sp>
      <p:sp>
        <p:nvSpPr>
          <p:cNvPr id="2" name="Text 0"/>
          <p:cNvSpPr/>
          <p:nvPr/>
        </p:nvSpPr>
        <p:spPr>
          <a:xfrm>
            <a:off x="299812" y="456457"/>
            <a:ext cx="1321723" cy="320040"/>
          </a:xfrm>
          <a:prstGeom prst="rect">
            <a:avLst/>
          </a:prstGeom>
          <a:noFill/>
          <a:ln/>
        </p:spPr>
        <p:txBody>
          <a:bodyPr wrap="square" lIns="0" tIns="0" rIns="0" bIns="0" rtlCol="0" anchor="ctr"/>
          <a:lstStyle/>
          <a:p>
            <a:pPr marL="0" indent="0">
              <a:buNone/>
            </a:pPr>
            <a:r>
              <a:rPr lang="en-US" sz="2400" b="1" kern="0" spc="200" dirty="0">
                <a:solidFill>
                  <a:srgbClr val="A78BFA"/>
                </a:solidFill>
                <a:latin typeface="Consolas" pitchFamily="34" charset="0"/>
                <a:ea typeface="Consolas" pitchFamily="34" charset="-122"/>
                <a:cs typeface="Consolas" pitchFamily="34" charset="-120"/>
              </a:rPr>
              <a:t>BQ-01</a:t>
            </a:r>
            <a:endParaRPr lang="en-US" sz="1200" dirty="0"/>
          </a:p>
        </p:txBody>
      </p:sp>
      <p:sp>
        <p:nvSpPr>
          <p:cNvPr id="3" name="Text 1"/>
          <p:cNvSpPr/>
          <p:nvPr/>
        </p:nvSpPr>
        <p:spPr>
          <a:xfrm>
            <a:off x="598516" y="776901"/>
            <a:ext cx="3607724" cy="384011"/>
          </a:xfrm>
          <a:prstGeom prst="rect">
            <a:avLst/>
          </a:prstGeom>
          <a:noFill/>
          <a:ln>
            <a:solidFill>
              <a:srgbClr val="5390DB"/>
            </a:solidFill>
          </a:ln>
        </p:spPr>
        <p:txBody>
          <a:bodyPr wrap="square" lIns="0" tIns="0" rIns="0" bIns="0" rtlCol="0" anchor="ctr"/>
          <a:lstStyle/>
          <a:p>
            <a:pPr marL="0" indent="0" algn="ctr">
              <a:buNone/>
            </a:pPr>
            <a:r>
              <a:rPr lang="en-US" sz="1200" b="1" dirty="0">
                <a:solidFill>
                  <a:srgbClr val="E9ECF8"/>
                </a:solidFill>
                <a:latin typeface="Georgia" pitchFamily="34" charset="0"/>
                <a:ea typeface="Georgia" pitchFamily="34" charset="-122"/>
                <a:cs typeface="Georgia" pitchFamily="34" charset="-120"/>
              </a:rPr>
              <a:t>Top 5 best-selling products by revenue</a:t>
            </a:r>
            <a:endParaRPr lang="en-US" sz="1200" dirty="0"/>
          </a:p>
        </p:txBody>
      </p:sp>
      <p:sp>
        <p:nvSpPr>
          <p:cNvPr id="5" name="Text 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9098BD"/>
                </a:solidFill>
                <a:latin typeface="Consolas" pitchFamily="34" charset="0"/>
                <a:ea typeface="Consolas" pitchFamily="34" charset="-122"/>
                <a:cs typeface="Consolas" pitchFamily="34" charset="-120"/>
              </a:rPr>
              <a:t>17</a:t>
            </a:r>
            <a:endParaRPr lang="en-US" sz="900" dirty="0"/>
          </a:p>
        </p:txBody>
      </p:sp>
      <p:sp>
        <p:nvSpPr>
          <p:cNvPr id="6" name="Shape 4"/>
          <p:cNvSpPr/>
          <p:nvPr/>
        </p:nvSpPr>
        <p:spPr>
          <a:xfrm>
            <a:off x="299812" y="1268977"/>
            <a:ext cx="5699206" cy="2585258"/>
          </a:xfrm>
          <a:prstGeom prst="roundRect">
            <a:avLst>
              <a:gd name="adj" fmla="val 1610"/>
            </a:avLst>
          </a:prstGeom>
          <a:solidFill>
            <a:srgbClr val="141A33"/>
          </a:solidFill>
          <a:ln w="12700">
            <a:solidFill>
              <a:srgbClr val="60A5FA"/>
            </a:solidFill>
            <a:prstDash val="solid"/>
          </a:ln>
        </p:spPr>
        <p:txBody>
          <a:bodyPr/>
          <a:lstStyle/>
          <a:p>
            <a:endParaRPr lang="en-US"/>
          </a:p>
        </p:txBody>
      </p:sp>
      <p:pic>
        <p:nvPicPr>
          <p:cNvPr id="7" name="Image 0" descr="/home/claude/cropped/BQ_01.png"/>
          <p:cNvPicPr>
            <a:picLocks noChangeAspect="1"/>
          </p:cNvPicPr>
          <p:nvPr/>
        </p:nvPicPr>
        <p:blipFill>
          <a:blip r:embed="rId3"/>
          <a:srcRect t="16964" r="28160" b="28866"/>
          <a:stretch>
            <a:fillRect/>
          </a:stretch>
        </p:blipFill>
        <p:spPr>
          <a:xfrm>
            <a:off x="354676" y="1343792"/>
            <a:ext cx="5547360" cy="2402378"/>
          </a:xfrm>
          <a:prstGeom prst="rect">
            <a:avLst/>
          </a:prstGeom>
        </p:spPr>
      </p:pic>
      <p:sp>
        <p:nvSpPr>
          <p:cNvPr id="8" name="Shape 5"/>
          <p:cNvSpPr/>
          <p:nvPr/>
        </p:nvSpPr>
        <p:spPr>
          <a:xfrm>
            <a:off x="307634" y="4039023"/>
            <a:ext cx="2901079" cy="2363440"/>
          </a:xfrm>
          <a:prstGeom prst="roundRect">
            <a:avLst>
              <a:gd name="adj" fmla="val 2998"/>
            </a:avLst>
          </a:prstGeom>
          <a:solidFill>
            <a:srgbClr val="141A33"/>
          </a:solidFill>
          <a:ln w="12700">
            <a:solidFill>
              <a:srgbClr val="F472B6"/>
            </a:solidFill>
            <a:prstDash val="solid"/>
          </a:ln>
        </p:spPr>
        <p:txBody>
          <a:bodyPr/>
          <a:lstStyle/>
          <a:p>
            <a:endParaRPr lang="en-US"/>
          </a:p>
        </p:txBody>
      </p:sp>
      <p:sp>
        <p:nvSpPr>
          <p:cNvPr id="9" name="Text 6"/>
          <p:cNvSpPr/>
          <p:nvPr/>
        </p:nvSpPr>
        <p:spPr>
          <a:xfrm>
            <a:off x="1910346" y="2308034"/>
            <a:ext cx="2592593" cy="135979"/>
          </a:xfrm>
          <a:prstGeom prst="rect">
            <a:avLst/>
          </a:prstGeom>
          <a:noFill/>
          <a:ln/>
        </p:spPr>
        <p:txBody>
          <a:bodyPr wrap="square" lIns="0" tIns="0" rIns="0" bIns="0" rtlCol="0" anchor="ctr"/>
          <a:lstStyle/>
          <a:p>
            <a:pPr marL="0" indent="0">
              <a:buNone/>
            </a:pPr>
            <a:r>
              <a:rPr lang="en-US" sz="1000" b="1" kern="0" spc="150" dirty="0">
                <a:solidFill>
                  <a:srgbClr val="F472B6"/>
                </a:solidFill>
                <a:latin typeface="Consolas" pitchFamily="34" charset="0"/>
                <a:ea typeface="Consolas" pitchFamily="34" charset="-122"/>
                <a:cs typeface="Consolas" pitchFamily="34" charset="-120"/>
              </a:rPr>
              <a:t>INSIGHT</a:t>
            </a:r>
            <a:endParaRPr lang="en-US" sz="1000" dirty="0"/>
          </a:p>
        </p:txBody>
      </p:sp>
      <p:sp>
        <p:nvSpPr>
          <p:cNvPr id="10" name="Text 7"/>
          <p:cNvSpPr/>
          <p:nvPr/>
        </p:nvSpPr>
        <p:spPr>
          <a:xfrm>
            <a:off x="525086" y="4323971"/>
            <a:ext cx="2466173" cy="1793543"/>
          </a:xfrm>
          <a:prstGeom prst="rect">
            <a:avLst/>
          </a:prstGeom>
          <a:noFill/>
          <a:ln/>
        </p:spPr>
        <p:txBody>
          <a:bodyPr wrap="square" lIns="0" tIns="0" rIns="0" bIns="0" rtlCol="0" anchor="t"/>
          <a:lstStyle/>
          <a:p>
            <a:pPr>
              <a:lnSpc>
                <a:spcPct val="118000"/>
              </a:lnSpc>
            </a:pPr>
            <a:r>
              <a:rPr lang="en-US" sz="1200" dirty="0">
                <a:solidFill>
                  <a:schemeClr val="bg1"/>
                </a:solidFill>
              </a:rPr>
              <a:t>The Samsung Galaxy A14 64GB generated the highest revenue during the reporting period, followed by the JBL Clip 4 Bluetooth Speaker. Electronics dominated the top five products, demonstrating strong customer demand. These products should be </a:t>
            </a:r>
            <a:r>
              <a:rPr lang="en-US" sz="1200" dirty="0" err="1">
                <a:solidFill>
                  <a:schemeClr val="bg1"/>
                </a:solidFill>
              </a:rPr>
              <a:t>prioritised</a:t>
            </a:r>
            <a:r>
              <a:rPr lang="en-US" sz="1200" dirty="0">
                <a:solidFill>
                  <a:schemeClr val="bg1"/>
                </a:solidFill>
              </a:rPr>
              <a:t> for inventory planning and promotional campaigns.</a:t>
            </a:r>
            <a:endParaRPr lang="en-US" sz="1150" dirty="0">
              <a:solidFill>
                <a:schemeClr val="bg1"/>
              </a:solidFill>
            </a:endParaRPr>
          </a:p>
        </p:txBody>
      </p:sp>
      <p:sp>
        <p:nvSpPr>
          <p:cNvPr id="12" name="Text 6">
            <a:extLst>
              <a:ext uri="{FF2B5EF4-FFF2-40B4-BE49-F238E27FC236}">
                <a16:creationId xmlns:a16="http://schemas.microsoft.com/office/drawing/2014/main" id="{0A9784E6-ED67-2A10-9488-11FBF07CE8E0}"/>
              </a:ext>
            </a:extLst>
          </p:cNvPr>
          <p:cNvSpPr/>
          <p:nvPr/>
        </p:nvSpPr>
        <p:spPr>
          <a:xfrm>
            <a:off x="1353407" y="4096057"/>
            <a:ext cx="1293944" cy="287804"/>
          </a:xfrm>
          <a:prstGeom prst="rect">
            <a:avLst/>
          </a:prstGeom>
          <a:noFill/>
          <a:ln/>
        </p:spPr>
        <p:txBody>
          <a:bodyPr wrap="square" lIns="0" tIns="0" rIns="0" bIns="0" rtlCol="0" anchor="ctr"/>
          <a:lstStyle/>
          <a:p>
            <a:pPr marL="0" indent="0">
              <a:buNone/>
            </a:pPr>
            <a:r>
              <a:rPr lang="en-US" sz="1000" b="1" kern="0" spc="150" dirty="0">
                <a:solidFill>
                  <a:srgbClr val="F472B6"/>
                </a:solidFill>
                <a:latin typeface="Consolas" pitchFamily="34" charset="0"/>
                <a:ea typeface="Consolas" pitchFamily="34" charset="-122"/>
                <a:cs typeface="Consolas" pitchFamily="34" charset="-120"/>
              </a:rPr>
              <a:t>BQ-01 INSIGHT</a:t>
            </a:r>
            <a:endParaRPr lang="en-US" sz="1000" dirty="0"/>
          </a:p>
        </p:txBody>
      </p:sp>
      <p:pic>
        <p:nvPicPr>
          <p:cNvPr id="14" name="Image 0" descr="/home/claude/cropped/BQ_02.png">
            <a:extLst>
              <a:ext uri="{FF2B5EF4-FFF2-40B4-BE49-F238E27FC236}">
                <a16:creationId xmlns:a16="http://schemas.microsoft.com/office/drawing/2014/main" id="{4B687C8F-7E00-FFCF-2074-C28FE11AD5DC}"/>
              </a:ext>
            </a:extLst>
          </p:cNvPr>
          <p:cNvPicPr>
            <a:picLocks noChangeAspect="1"/>
          </p:cNvPicPr>
          <p:nvPr/>
        </p:nvPicPr>
        <p:blipFill>
          <a:blip r:embed="rId4"/>
          <a:srcRect t="15961" r="26436"/>
          <a:stretch>
            <a:fillRect/>
          </a:stretch>
        </p:blipFill>
        <p:spPr>
          <a:xfrm>
            <a:off x="6304924" y="1228105"/>
            <a:ext cx="5741326" cy="3727006"/>
          </a:xfrm>
          <a:prstGeom prst="rect">
            <a:avLst/>
          </a:prstGeom>
        </p:spPr>
      </p:pic>
      <p:sp>
        <p:nvSpPr>
          <p:cNvPr id="18" name="Text 1">
            <a:extLst>
              <a:ext uri="{FF2B5EF4-FFF2-40B4-BE49-F238E27FC236}">
                <a16:creationId xmlns:a16="http://schemas.microsoft.com/office/drawing/2014/main" id="{366A1977-A0C9-4257-8F2E-C01968AAF4C9}"/>
              </a:ext>
            </a:extLst>
          </p:cNvPr>
          <p:cNvSpPr/>
          <p:nvPr/>
        </p:nvSpPr>
        <p:spPr>
          <a:xfrm>
            <a:off x="7403592" y="726637"/>
            <a:ext cx="4059659" cy="406598"/>
          </a:xfrm>
          <a:prstGeom prst="rect">
            <a:avLst/>
          </a:prstGeom>
          <a:noFill/>
          <a:ln>
            <a:solidFill>
              <a:srgbClr val="5390DB"/>
            </a:solidFill>
          </a:ln>
        </p:spPr>
        <p:txBody>
          <a:bodyPr wrap="square" lIns="0" tIns="0" rIns="0" bIns="0" rtlCol="0" anchor="ctr"/>
          <a:lstStyle/>
          <a:p>
            <a:pPr marL="0" indent="0" algn="ctr">
              <a:buNone/>
            </a:pPr>
            <a:r>
              <a:rPr lang="en-US" sz="1200" b="1" dirty="0">
                <a:solidFill>
                  <a:srgbClr val="E9ECF8"/>
                </a:solidFill>
                <a:latin typeface="Georgia" pitchFamily="34" charset="0"/>
                <a:ea typeface="Georgia" pitchFamily="34" charset="-122"/>
                <a:cs typeface="Georgia" pitchFamily="34" charset="-120"/>
              </a:rPr>
              <a:t>Revenue per store, by month</a:t>
            </a:r>
            <a:endParaRPr lang="en-US" sz="1200" dirty="0"/>
          </a:p>
        </p:txBody>
      </p:sp>
      <p:sp>
        <p:nvSpPr>
          <p:cNvPr id="20" name="Text 0">
            <a:extLst>
              <a:ext uri="{FF2B5EF4-FFF2-40B4-BE49-F238E27FC236}">
                <a16:creationId xmlns:a16="http://schemas.microsoft.com/office/drawing/2014/main" id="{3BE1EF93-288A-C850-1B50-D5ABEAC90021}"/>
              </a:ext>
            </a:extLst>
          </p:cNvPr>
          <p:cNvSpPr/>
          <p:nvPr/>
        </p:nvSpPr>
        <p:spPr>
          <a:xfrm>
            <a:off x="6247845" y="338328"/>
            <a:ext cx="1216984" cy="320040"/>
          </a:xfrm>
          <a:prstGeom prst="rect">
            <a:avLst/>
          </a:prstGeom>
          <a:noFill/>
          <a:ln/>
        </p:spPr>
        <p:txBody>
          <a:bodyPr wrap="square" lIns="0" tIns="0" rIns="0" bIns="0" rtlCol="0" anchor="ctr"/>
          <a:lstStyle/>
          <a:p>
            <a:pPr marL="0" indent="0">
              <a:buNone/>
            </a:pPr>
            <a:r>
              <a:rPr lang="en-US" sz="2400" b="1" kern="0" spc="200" dirty="0">
                <a:solidFill>
                  <a:srgbClr val="A78BFA"/>
                </a:solidFill>
                <a:latin typeface="Consolas" pitchFamily="34" charset="0"/>
                <a:ea typeface="Consolas" pitchFamily="34" charset="-122"/>
                <a:cs typeface="Consolas" pitchFamily="34" charset="-120"/>
              </a:rPr>
              <a:t>BQ-02</a:t>
            </a:r>
            <a:endParaRPr lang="en-US" sz="1200" dirty="0"/>
          </a:p>
        </p:txBody>
      </p:sp>
      <p:sp>
        <p:nvSpPr>
          <p:cNvPr id="22" name="Shape 5">
            <a:extLst>
              <a:ext uri="{FF2B5EF4-FFF2-40B4-BE49-F238E27FC236}">
                <a16:creationId xmlns:a16="http://schemas.microsoft.com/office/drawing/2014/main" id="{969A4BCA-66D7-E321-B30B-71F118706FA1}"/>
              </a:ext>
            </a:extLst>
          </p:cNvPr>
          <p:cNvSpPr/>
          <p:nvPr/>
        </p:nvSpPr>
        <p:spPr>
          <a:xfrm>
            <a:off x="3372854" y="4039023"/>
            <a:ext cx="2738557" cy="2471505"/>
          </a:xfrm>
          <a:prstGeom prst="roundRect">
            <a:avLst>
              <a:gd name="adj" fmla="val 3082"/>
            </a:avLst>
          </a:prstGeom>
          <a:solidFill>
            <a:srgbClr val="141A33"/>
          </a:solidFill>
          <a:ln w="12700">
            <a:solidFill>
              <a:srgbClr val="F472B6"/>
            </a:solidFill>
            <a:prstDash val="solid"/>
          </a:ln>
        </p:spPr>
        <p:txBody>
          <a:bodyPr/>
          <a:lstStyle/>
          <a:p>
            <a:endParaRPr lang="en-US"/>
          </a:p>
        </p:txBody>
      </p:sp>
      <p:sp>
        <p:nvSpPr>
          <p:cNvPr id="24" name="Text 6">
            <a:extLst>
              <a:ext uri="{FF2B5EF4-FFF2-40B4-BE49-F238E27FC236}">
                <a16:creationId xmlns:a16="http://schemas.microsoft.com/office/drawing/2014/main" id="{0CFD860C-1916-85BF-6732-A2C437710D7B}"/>
              </a:ext>
            </a:extLst>
          </p:cNvPr>
          <p:cNvSpPr/>
          <p:nvPr/>
        </p:nvSpPr>
        <p:spPr>
          <a:xfrm>
            <a:off x="3587600" y="4203615"/>
            <a:ext cx="2316581" cy="132264"/>
          </a:xfrm>
          <a:prstGeom prst="rect">
            <a:avLst/>
          </a:prstGeom>
          <a:noFill/>
          <a:ln/>
        </p:spPr>
        <p:txBody>
          <a:bodyPr wrap="square" lIns="0" tIns="0" rIns="0" bIns="0" rtlCol="0" anchor="ctr"/>
          <a:lstStyle/>
          <a:p>
            <a:pPr marL="0" indent="0">
              <a:buNone/>
            </a:pPr>
            <a:r>
              <a:rPr lang="en-US" sz="1000" b="1" kern="0" spc="150" dirty="0">
                <a:solidFill>
                  <a:srgbClr val="F472B6"/>
                </a:solidFill>
                <a:latin typeface="Consolas" pitchFamily="34" charset="0"/>
                <a:ea typeface="Consolas" pitchFamily="34" charset="-122"/>
                <a:cs typeface="Consolas" pitchFamily="34" charset="-120"/>
              </a:rPr>
              <a:t>BQ-02 INSIGHT</a:t>
            </a:r>
            <a:endParaRPr lang="en-US" sz="1000" dirty="0"/>
          </a:p>
        </p:txBody>
      </p:sp>
      <p:sp>
        <p:nvSpPr>
          <p:cNvPr id="26" name="Text 7">
            <a:extLst>
              <a:ext uri="{FF2B5EF4-FFF2-40B4-BE49-F238E27FC236}">
                <a16:creationId xmlns:a16="http://schemas.microsoft.com/office/drawing/2014/main" id="{8355E5DC-CAE0-3111-F759-2F0DEF9B3D4C}"/>
              </a:ext>
            </a:extLst>
          </p:cNvPr>
          <p:cNvSpPr/>
          <p:nvPr/>
        </p:nvSpPr>
        <p:spPr>
          <a:xfrm>
            <a:off x="3457540" y="4451165"/>
            <a:ext cx="2541478" cy="1539156"/>
          </a:xfrm>
          <a:prstGeom prst="rect">
            <a:avLst/>
          </a:prstGeom>
          <a:noFill/>
          <a:ln/>
        </p:spPr>
        <p:txBody>
          <a:bodyPr wrap="square" lIns="0" tIns="0" rIns="0" bIns="0" rtlCol="0" anchor="t"/>
          <a:lstStyle/>
          <a:p>
            <a:pPr>
              <a:lnSpc>
                <a:spcPct val="118000"/>
              </a:lnSpc>
            </a:pPr>
            <a:r>
              <a:rPr lang="en-US" sz="1200" dirty="0" err="1">
                <a:solidFill>
                  <a:schemeClr val="bg1"/>
                </a:solidFill>
              </a:rPr>
              <a:t>BrightMart</a:t>
            </a:r>
            <a:r>
              <a:rPr lang="en-US" sz="1200" dirty="0">
                <a:solidFill>
                  <a:schemeClr val="bg1"/>
                </a:solidFill>
              </a:rPr>
              <a:t> Gateway Mall consistently achieved the highest monthly revenue, with notable increases in April and June. Revenue patterns varied across stores, reflecting differences in customer demand and performance. These insights can help identify best practices and improve lower-performing stores.</a:t>
            </a:r>
            <a:endParaRPr lang="en-US" sz="1150" dirty="0">
              <a:solidFill>
                <a:schemeClr val="bg1"/>
              </a:solidFill>
            </a:endParaRPr>
          </a:p>
        </p:txBody>
      </p:sp>
      <p:sp>
        <p:nvSpPr>
          <p:cNvPr id="28" name="Text 0">
            <a:extLst>
              <a:ext uri="{FF2B5EF4-FFF2-40B4-BE49-F238E27FC236}">
                <a16:creationId xmlns:a16="http://schemas.microsoft.com/office/drawing/2014/main" id="{B9F054EA-D459-640E-8B6F-9AC98F86E499}"/>
              </a:ext>
            </a:extLst>
          </p:cNvPr>
          <p:cNvSpPr/>
          <p:nvPr/>
        </p:nvSpPr>
        <p:spPr>
          <a:xfrm>
            <a:off x="170132" y="78774"/>
            <a:ext cx="9144000" cy="320040"/>
          </a:xfrm>
          <a:prstGeom prst="rect">
            <a:avLst/>
          </a:prstGeom>
          <a:noFill/>
          <a:ln/>
        </p:spPr>
        <p:txBody>
          <a:bodyPr wrap="square" lIns="0" tIns="0" rIns="0" bIns="0" rtlCol="0" anchor="ctr"/>
          <a:lstStyle/>
          <a:p>
            <a:pPr marL="0" indent="0">
              <a:buNone/>
            </a:pPr>
            <a:r>
              <a:rPr lang="en-US" sz="2400" b="1" kern="0" spc="200" dirty="0">
                <a:solidFill>
                  <a:srgbClr val="A78BFA"/>
                </a:solidFill>
                <a:latin typeface="Consolas" pitchFamily="34" charset="0"/>
                <a:ea typeface="Consolas" pitchFamily="34" charset="-122"/>
                <a:cs typeface="Consolas" pitchFamily="34" charset="-120"/>
              </a:rPr>
              <a:t>07 · BUSINESS QUESTIONS </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9">
    <p:bg>
      <p:bgPr>
        <a:solidFill>
          <a:srgbClr val="0A0E1F"/>
        </a:solidFill>
        <a:effectLst/>
      </p:bgPr>
    </p:bg>
    <p:spTree>
      <p:nvGrpSpPr>
        <p:cNvPr id="1" name=""/>
        <p:cNvGrpSpPr/>
        <p:nvPr/>
      </p:nvGrpSpPr>
      <p:grpSpPr>
        <a:xfrm>
          <a:off x="0" y="0"/>
          <a:ext cx="0" cy="0"/>
          <a:chOff x="0" y="0"/>
          <a:chExt cx="0" cy="0"/>
        </a:xfrm>
      </p:grpSpPr>
      <p:sp>
        <p:nvSpPr>
          <p:cNvPr id="2" name="Text 0"/>
          <p:cNvSpPr/>
          <p:nvPr/>
        </p:nvSpPr>
        <p:spPr>
          <a:xfrm>
            <a:off x="548640" y="365760"/>
            <a:ext cx="980902" cy="320040"/>
          </a:xfrm>
          <a:prstGeom prst="rect">
            <a:avLst/>
          </a:prstGeom>
          <a:noFill/>
          <a:ln/>
        </p:spPr>
        <p:txBody>
          <a:bodyPr wrap="square" lIns="0" tIns="0" rIns="0" bIns="0" rtlCol="0" anchor="ctr"/>
          <a:lstStyle/>
          <a:p>
            <a:pPr marL="0" indent="0">
              <a:buNone/>
            </a:pPr>
            <a:r>
              <a:rPr lang="en-US" sz="2400" b="1" kern="0" spc="200" dirty="0">
                <a:solidFill>
                  <a:srgbClr val="A78BFA"/>
                </a:solidFill>
                <a:latin typeface="Consolas" pitchFamily="34" charset="0"/>
                <a:ea typeface="Consolas" pitchFamily="34" charset="-122"/>
                <a:cs typeface="Consolas" pitchFamily="34" charset="-120"/>
              </a:rPr>
              <a:t>BQ-03</a:t>
            </a:r>
            <a:endParaRPr lang="en-US" sz="2400" dirty="0"/>
          </a:p>
        </p:txBody>
      </p:sp>
      <p:sp>
        <p:nvSpPr>
          <p:cNvPr id="3" name="Text 1"/>
          <p:cNvSpPr/>
          <p:nvPr/>
        </p:nvSpPr>
        <p:spPr>
          <a:xfrm>
            <a:off x="493777" y="685800"/>
            <a:ext cx="4031673" cy="384048"/>
          </a:xfrm>
          <a:prstGeom prst="rect">
            <a:avLst/>
          </a:prstGeom>
          <a:noFill/>
          <a:ln>
            <a:solidFill>
              <a:srgbClr val="5390DB"/>
            </a:solidFill>
          </a:ln>
        </p:spPr>
        <p:txBody>
          <a:bodyPr wrap="square" lIns="0" tIns="0" rIns="0" bIns="0" rtlCol="0" anchor="ctr"/>
          <a:lstStyle/>
          <a:p>
            <a:pPr marL="0" indent="0" algn="ctr">
              <a:buNone/>
            </a:pPr>
            <a:r>
              <a:rPr lang="en-US" sz="1200" b="1" dirty="0">
                <a:solidFill>
                  <a:srgbClr val="E9ECF8"/>
                </a:solidFill>
                <a:latin typeface="Georgia" pitchFamily="34" charset="0"/>
                <a:ea typeface="Georgia" pitchFamily="34" charset="-122"/>
                <a:cs typeface="Georgia" pitchFamily="34" charset="-120"/>
              </a:rPr>
              <a:t>Month-over-month revenue growth</a:t>
            </a:r>
            <a:endParaRPr lang="en-US" sz="1200" dirty="0"/>
          </a:p>
        </p:txBody>
      </p:sp>
      <p:sp>
        <p:nvSpPr>
          <p:cNvPr id="5" name="Text 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9098BD"/>
                </a:solidFill>
                <a:latin typeface="Consolas" pitchFamily="34" charset="0"/>
                <a:ea typeface="Consolas" pitchFamily="34" charset="-122"/>
                <a:cs typeface="Consolas" pitchFamily="34" charset="-120"/>
              </a:rPr>
              <a:t>19</a:t>
            </a:r>
            <a:endParaRPr lang="en-US" sz="900" dirty="0"/>
          </a:p>
        </p:txBody>
      </p:sp>
      <p:sp>
        <p:nvSpPr>
          <p:cNvPr id="6" name="Shape 4"/>
          <p:cNvSpPr/>
          <p:nvPr/>
        </p:nvSpPr>
        <p:spPr>
          <a:xfrm>
            <a:off x="224444" y="1238596"/>
            <a:ext cx="5195453" cy="3208712"/>
          </a:xfrm>
          <a:prstGeom prst="roundRect">
            <a:avLst>
              <a:gd name="adj" fmla="val 1610"/>
            </a:avLst>
          </a:prstGeom>
          <a:solidFill>
            <a:srgbClr val="141A33"/>
          </a:solidFill>
          <a:ln w="12700">
            <a:solidFill>
              <a:srgbClr val="60A5FA"/>
            </a:solidFill>
            <a:prstDash val="solid"/>
          </a:ln>
        </p:spPr>
        <p:txBody>
          <a:bodyPr/>
          <a:lstStyle/>
          <a:p>
            <a:endParaRPr lang="en-US"/>
          </a:p>
        </p:txBody>
      </p:sp>
      <p:pic>
        <p:nvPicPr>
          <p:cNvPr id="7" name="Image 0" descr="/home/claude/cropped/BQ_03.png"/>
          <p:cNvPicPr>
            <a:picLocks noChangeAspect="1"/>
          </p:cNvPicPr>
          <p:nvPr/>
        </p:nvPicPr>
        <p:blipFill>
          <a:blip r:embed="rId3"/>
          <a:srcRect t="16589" r="39284" b="16289"/>
          <a:stretch>
            <a:fillRect/>
          </a:stretch>
        </p:blipFill>
        <p:spPr>
          <a:xfrm>
            <a:off x="440575" y="1338348"/>
            <a:ext cx="4688378" cy="2976788"/>
          </a:xfrm>
          <a:prstGeom prst="rect">
            <a:avLst/>
          </a:prstGeom>
        </p:spPr>
      </p:pic>
      <p:sp>
        <p:nvSpPr>
          <p:cNvPr id="8" name="Shape 5"/>
          <p:cNvSpPr/>
          <p:nvPr/>
        </p:nvSpPr>
        <p:spPr>
          <a:xfrm>
            <a:off x="332509" y="4547060"/>
            <a:ext cx="4904510" cy="1775875"/>
          </a:xfrm>
          <a:prstGeom prst="roundRect">
            <a:avLst>
              <a:gd name="adj" fmla="val 2998"/>
            </a:avLst>
          </a:prstGeom>
          <a:solidFill>
            <a:srgbClr val="141A33"/>
          </a:solidFill>
          <a:ln w="12700">
            <a:solidFill>
              <a:srgbClr val="F472B6"/>
            </a:solidFill>
            <a:prstDash val="solid"/>
          </a:ln>
        </p:spPr>
        <p:txBody>
          <a:bodyPr/>
          <a:lstStyle/>
          <a:p>
            <a:endParaRPr lang="en-US"/>
          </a:p>
        </p:txBody>
      </p:sp>
      <p:sp>
        <p:nvSpPr>
          <p:cNvPr id="9" name="Text 6"/>
          <p:cNvSpPr/>
          <p:nvPr/>
        </p:nvSpPr>
        <p:spPr>
          <a:xfrm>
            <a:off x="696215" y="4609538"/>
            <a:ext cx="4169267" cy="115174"/>
          </a:xfrm>
          <a:prstGeom prst="rect">
            <a:avLst/>
          </a:prstGeom>
          <a:noFill/>
          <a:ln/>
        </p:spPr>
        <p:txBody>
          <a:bodyPr wrap="square" lIns="0" tIns="0" rIns="0" bIns="0" rtlCol="0" anchor="ctr"/>
          <a:lstStyle/>
          <a:p>
            <a:pPr marL="0" indent="0">
              <a:buNone/>
            </a:pPr>
            <a:r>
              <a:rPr lang="en-US" sz="1000" b="1" kern="0" spc="150" dirty="0">
                <a:solidFill>
                  <a:srgbClr val="F472B6"/>
                </a:solidFill>
                <a:latin typeface="Consolas" pitchFamily="34" charset="0"/>
                <a:ea typeface="Consolas" pitchFamily="34" charset="-122"/>
                <a:cs typeface="Consolas" pitchFamily="34" charset="-120"/>
              </a:rPr>
              <a:t>BQ-03 INSIGHT</a:t>
            </a:r>
            <a:endParaRPr lang="en-US" sz="1000" dirty="0"/>
          </a:p>
        </p:txBody>
      </p:sp>
      <p:sp>
        <p:nvSpPr>
          <p:cNvPr id="10" name="Text 7"/>
          <p:cNvSpPr/>
          <p:nvPr/>
        </p:nvSpPr>
        <p:spPr>
          <a:xfrm>
            <a:off x="696216" y="4856884"/>
            <a:ext cx="4169267" cy="1620112"/>
          </a:xfrm>
          <a:prstGeom prst="rect">
            <a:avLst/>
          </a:prstGeom>
          <a:noFill/>
          <a:ln/>
        </p:spPr>
        <p:txBody>
          <a:bodyPr wrap="square" lIns="0" tIns="0" rIns="0" bIns="0" rtlCol="0" anchor="t"/>
          <a:lstStyle/>
          <a:p>
            <a:pPr>
              <a:lnSpc>
                <a:spcPct val="118000"/>
              </a:lnSpc>
            </a:pPr>
            <a:r>
              <a:rPr lang="en-US" sz="1200" dirty="0">
                <a:solidFill>
                  <a:schemeClr val="bg1"/>
                </a:solidFill>
              </a:rPr>
              <a:t>Revenue increased by 4.46% in February, declined in March, recovered in April, and experienced the strongest growth of 20.82% in June. This trend highlights seasonal fluctuations in customer spending. Understanding these patterns can support better sales planning and forecasting.</a:t>
            </a:r>
            <a:endParaRPr lang="en-US" sz="1150" dirty="0">
              <a:solidFill>
                <a:schemeClr val="bg1"/>
              </a:solidFill>
            </a:endParaRPr>
          </a:p>
        </p:txBody>
      </p:sp>
      <p:sp>
        <p:nvSpPr>
          <p:cNvPr id="12" name="Shape 4">
            <a:extLst>
              <a:ext uri="{FF2B5EF4-FFF2-40B4-BE49-F238E27FC236}">
                <a16:creationId xmlns:a16="http://schemas.microsoft.com/office/drawing/2014/main" id="{AE4E7D90-A8D0-FF9B-A842-8FAECCE2004F}"/>
              </a:ext>
            </a:extLst>
          </p:cNvPr>
          <p:cNvSpPr/>
          <p:nvPr/>
        </p:nvSpPr>
        <p:spPr>
          <a:xfrm>
            <a:off x="5793972" y="1238596"/>
            <a:ext cx="5744094" cy="3208712"/>
          </a:xfrm>
          <a:prstGeom prst="roundRect">
            <a:avLst>
              <a:gd name="adj" fmla="val 1610"/>
            </a:avLst>
          </a:prstGeom>
          <a:solidFill>
            <a:srgbClr val="141A33"/>
          </a:solidFill>
          <a:ln w="12700">
            <a:solidFill>
              <a:srgbClr val="60A5FA"/>
            </a:solidFill>
            <a:prstDash val="solid"/>
          </a:ln>
        </p:spPr>
        <p:txBody>
          <a:bodyPr/>
          <a:lstStyle/>
          <a:p>
            <a:endParaRPr lang="en-US"/>
          </a:p>
        </p:txBody>
      </p:sp>
      <p:pic>
        <p:nvPicPr>
          <p:cNvPr id="14" name="Image 0" descr="/home/claude/cropped/BQ_04.png">
            <a:extLst>
              <a:ext uri="{FF2B5EF4-FFF2-40B4-BE49-F238E27FC236}">
                <a16:creationId xmlns:a16="http://schemas.microsoft.com/office/drawing/2014/main" id="{C401CDF2-1482-E5A3-E853-385737C6737E}"/>
              </a:ext>
            </a:extLst>
          </p:cNvPr>
          <p:cNvPicPr>
            <a:picLocks noChangeAspect="1"/>
          </p:cNvPicPr>
          <p:nvPr/>
        </p:nvPicPr>
        <p:blipFill>
          <a:blip r:embed="rId4"/>
          <a:srcRect t="18188" r="32632" b="16371"/>
          <a:stretch>
            <a:fillRect/>
          </a:stretch>
        </p:blipFill>
        <p:spPr>
          <a:xfrm>
            <a:off x="6096000" y="1288472"/>
            <a:ext cx="5202038" cy="3026664"/>
          </a:xfrm>
          <a:prstGeom prst="rect">
            <a:avLst/>
          </a:prstGeom>
        </p:spPr>
      </p:pic>
      <p:sp>
        <p:nvSpPr>
          <p:cNvPr id="16" name="Text 3">
            <a:extLst>
              <a:ext uri="{FF2B5EF4-FFF2-40B4-BE49-F238E27FC236}">
                <a16:creationId xmlns:a16="http://schemas.microsoft.com/office/drawing/2014/main" id="{5C6B9C8D-8399-1204-E14E-005C76EBED71}"/>
              </a:ext>
            </a:extLst>
          </p:cNvPr>
          <p:cNvSpPr/>
          <p:nvPr/>
        </p:nvSpPr>
        <p:spPr>
          <a:xfrm>
            <a:off x="9770817" y="9462376"/>
            <a:ext cx="846462" cy="113817"/>
          </a:xfrm>
          <a:prstGeom prst="rect">
            <a:avLst/>
          </a:prstGeom>
          <a:noFill/>
          <a:ln/>
        </p:spPr>
        <p:txBody>
          <a:bodyPr wrap="square" lIns="0" tIns="0" rIns="0" bIns="0" rtlCol="0" anchor="ctr"/>
          <a:lstStyle/>
          <a:p>
            <a:pPr marL="0" indent="0" algn="r">
              <a:buNone/>
            </a:pPr>
            <a:r>
              <a:rPr lang="en-US" sz="900" dirty="0">
                <a:solidFill>
                  <a:srgbClr val="9098BD"/>
                </a:solidFill>
                <a:latin typeface="Consolas" pitchFamily="34" charset="0"/>
                <a:ea typeface="Consolas" pitchFamily="34" charset="-122"/>
                <a:cs typeface="Consolas" pitchFamily="34" charset="-120"/>
              </a:rPr>
              <a:t>20</a:t>
            </a:r>
            <a:endParaRPr lang="en-US" sz="900" dirty="0"/>
          </a:p>
        </p:txBody>
      </p:sp>
      <p:sp>
        <p:nvSpPr>
          <p:cNvPr id="18" name="Shape 5">
            <a:extLst>
              <a:ext uri="{FF2B5EF4-FFF2-40B4-BE49-F238E27FC236}">
                <a16:creationId xmlns:a16="http://schemas.microsoft.com/office/drawing/2014/main" id="{A1EF7DA3-B9B4-F29B-04A1-E977635ADC6F}"/>
              </a:ext>
            </a:extLst>
          </p:cNvPr>
          <p:cNvSpPr/>
          <p:nvPr/>
        </p:nvSpPr>
        <p:spPr>
          <a:xfrm>
            <a:off x="5891669" y="4531156"/>
            <a:ext cx="5646397" cy="1885575"/>
          </a:xfrm>
          <a:prstGeom prst="roundRect">
            <a:avLst>
              <a:gd name="adj" fmla="val 2998"/>
            </a:avLst>
          </a:prstGeom>
          <a:solidFill>
            <a:srgbClr val="141A33"/>
          </a:solidFill>
          <a:ln w="12700">
            <a:solidFill>
              <a:srgbClr val="F472B6"/>
            </a:solidFill>
            <a:prstDash val="solid"/>
          </a:ln>
        </p:spPr>
        <p:txBody>
          <a:bodyPr/>
          <a:lstStyle/>
          <a:p>
            <a:endParaRPr lang="en-US"/>
          </a:p>
        </p:txBody>
      </p:sp>
      <p:sp>
        <p:nvSpPr>
          <p:cNvPr id="20" name="Text 6">
            <a:extLst>
              <a:ext uri="{FF2B5EF4-FFF2-40B4-BE49-F238E27FC236}">
                <a16:creationId xmlns:a16="http://schemas.microsoft.com/office/drawing/2014/main" id="{E17CBC62-85FA-AAF8-CA61-09B5D18DB8B7}"/>
              </a:ext>
            </a:extLst>
          </p:cNvPr>
          <p:cNvSpPr/>
          <p:nvPr/>
        </p:nvSpPr>
        <p:spPr>
          <a:xfrm>
            <a:off x="6214604" y="4661776"/>
            <a:ext cx="4799935" cy="113817"/>
          </a:xfrm>
          <a:prstGeom prst="rect">
            <a:avLst/>
          </a:prstGeom>
          <a:noFill/>
          <a:ln/>
        </p:spPr>
        <p:txBody>
          <a:bodyPr wrap="square" lIns="0" tIns="0" rIns="0" bIns="0" rtlCol="0" anchor="ctr"/>
          <a:lstStyle/>
          <a:p>
            <a:pPr marL="0" indent="0">
              <a:buNone/>
            </a:pPr>
            <a:r>
              <a:rPr lang="en-US" sz="1000" b="1" kern="0" spc="150" dirty="0">
                <a:solidFill>
                  <a:srgbClr val="F472B6"/>
                </a:solidFill>
                <a:latin typeface="Consolas" pitchFamily="34" charset="0"/>
                <a:ea typeface="Consolas" pitchFamily="34" charset="-122"/>
                <a:cs typeface="Consolas" pitchFamily="34" charset="-120"/>
              </a:rPr>
              <a:t>BQ-04 INSIGHT</a:t>
            </a:r>
            <a:endParaRPr lang="en-US" sz="1000" dirty="0"/>
          </a:p>
        </p:txBody>
      </p:sp>
      <p:sp>
        <p:nvSpPr>
          <p:cNvPr id="22" name="Text 7">
            <a:extLst>
              <a:ext uri="{FF2B5EF4-FFF2-40B4-BE49-F238E27FC236}">
                <a16:creationId xmlns:a16="http://schemas.microsoft.com/office/drawing/2014/main" id="{7DE7E93A-A7C5-AE10-E4CC-396E280D36AF}"/>
              </a:ext>
            </a:extLst>
          </p:cNvPr>
          <p:cNvSpPr/>
          <p:nvPr/>
        </p:nvSpPr>
        <p:spPr>
          <a:xfrm>
            <a:off x="6214604" y="4909498"/>
            <a:ext cx="5083434" cy="1299622"/>
          </a:xfrm>
          <a:prstGeom prst="rect">
            <a:avLst/>
          </a:prstGeom>
          <a:noFill/>
          <a:ln/>
        </p:spPr>
        <p:txBody>
          <a:bodyPr wrap="square" lIns="0" tIns="0" rIns="0" bIns="0" rtlCol="0" anchor="t"/>
          <a:lstStyle/>
          <a:p>
            <a:pPr>
              <a:lnSpc>
                <a:spcPct val="118000"/>
              </a:lnSpc>
            </a:pPr>
            <a:r>
              <a:rPr lang="en-US" sz="1200" dirty="0">
                <a:solidFill>
                  <a:schemeClr val="bg1"/>
                </a:solidFill>
              </a:rPr>
              <a:t>The top ten highest-spending customers all belonged to the Gold loyalty tier, with the highest spender exceeding R1.17 million in purchases. This demonstrates the value of the loyalty </a:t>
            </a:r>
            <a:r>
              <a:rPr lang="en-US" sz="1200" dirty="0" err="1">
                <a:solidFill>
                  <a:schemeClr val="bg1"/>
                </a:solidFill>
              </a:rPr>
              <a:t>programme</a:t>
            </a:r>
            <a:r>
              <a:rPr lang="en-US" sz="1200" dirty="0">
                <a:solidFill>
                  <a:schemeClr val="bg1"/>
                </a:solidFill>
              </a:rPr>
              <a:t> in retaining high-value customers. Continued investment in loyalty rewards can strengthen customer retention.</a:t>
            </a:r>
            <a:endParaRPr lang="en-US" sz="1150" dirty="0">
              <a:solidFill>
                <a:schemeClr val="bg1"/>
              </a:solidFill>
            </a:endParaRPr>
          </a:p>
        </p:txBody>
      </p:sp>
      <p:sp>
        <p:nvSpPr>
          <p:cNvPr id="24" name="Text 0">
            <a:extLst>
              <a:ext uri="{FF2B5EF4-FFF2-40B4-BE49-F238E27FC236}">
                <a16:creationId xmlns:a16="http://schemas.microsoft.com/office/drawing/2014/main" id="{11F07A1D-6481-0F14-C33F-0B72FD8265E7}"/>
              </a:ext>
            </a:extLst>
          </p:cNvPr>
          <p:cNvSpPr/>
          <p:nvPr/>
        </p:nvSpPr>
        <p:spPr>
          <a:xfrm>
            <a:off x="6424600" y="340159"/>
            <a:ext cx="1546167" cy="320040"/>
          </a:xfrm>
          <a:prstGeom prst="rect">
            <a:avLst/>
          </a:prstGeom>
          <a:noFill/>
          <a:ln/>
        </p:spPr>
        <p:txBody>
          <a:bodyPr wrap="square" lIns="0" tIns="0" rIns="0" bIns="0" rtlCol="0" anchor="ctr"/>
          <a:lstStyle/>
          <a:p>
            <a:pPr marL="0" indent="0">
              <a:buNone/>
            </a:pPr>
            <a:r>
              <a:rPr lang="en-US" sz="2400" b="1" kern="0" spc="200" dirty="0">
                <a:solidFill>
                  <a:srgbClr val="A78BFA"/>
                </a:solidFill>
                <a:latin typeface="Consolas" pitchFamily="34" charset="0"/>
                <a:ea typeface="Consolas" pitchFamily="34" charset="-122"/>
                <a:cs typeface="Consolas" pitchFamily="34" charset="-120"/>
              </a:rPr>
              <a:t>BQ-04</a:t>
            </a:r>
            <a:endParaRPr lang="en-US" sz="1200" dirty="0"/>
          </a:p>
        </p:txBody>
      </p:sp>
      <p:sp>
        <p:nvSpPr>
          <p:cNvPr id="26" name="Text 1">
            <a:extLst>
              <a:ext uri="{FF2B5EF4-FFF2-40B4-BE49-F238E27FC236}">
                <a16:creationId xmlns:a16="http://schemas.microsoft.com/office/drawing/2014/main" id="{051AD26C-F6B4-C6FA-E8FE-4BE0517001EC}"/>
              </a:ext>
            </a:extLst>
          </p:cNvPr>
          <p:cNvSpPr/>
          <p:nvPr/>
        </p:nvSpPr>
        <p:spPr>
          <a:xfrm>
            <a:off x="7197684" y="685137"/>
            <a:ext cx="3117273" cy="395724"/>
          </a:xfrm>
          <a:prstGeom prst="rect">
            <a:avLst/>
          </a:prstGeom>
          <a:noFill/>
          <a:ln>
            <a:solidFill>
              <a:srgbClr val="5390DB"/>
            </a:solidFill>
          </a:ln>
        </p:spPr>
        <p:txBody>
          <a:bodyPr wrap="square" lIns="0" tIns="0" rIns="0" bIns="0" rtlCol="0" anchor="ctr"/>
          <a:lstStyle/>
          <a:p>
            <a:pPr marL="0" indent="0" algn="ctr">
              <a:buNone/>
            </a:pPr>
            <a:r>
              <a:rPr lang="en-US" sz="1200" b="1" dirty="0">
                <a:solidFill>
                  <a:srgbClr val="E9ECF8"/>
                </a:solidFill>
                <a:latin typeface="Georgia" pitchFamily="34" charset="0"/>
                <a:ea typeface="Georgia" pitchFamily="34" charset="-122"/>
                <a:cs typeface="Georgia" pitchFamily="34" charset="-120"/>
              </a:rPr>
              <a:t>Top 10 loyalty customers by spend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21">
    <p:bg>
      <p:bgPr>
        <a:solidFill>
          <a:srgbClr val="0A0E1F"/>
        </a:solidFill>
        <a:effectLst/>
      </p:bgPr>
    </p:bg>
    <p:spTree>
      <p:nvGrpSpPr>
        <p:cNvPr id="1" name=""/>
        <p:cNvGrpSpPr/>
        <p:nvPr/>
      </p:nvGrpSpPr>
      <p:grpSpPr>
        <a:xfrm>
          <a:off x="0" y="0"/>
          <a:ext cx="0" cy="0"/>
          <a:chOff x="0" y="0"/>
          <a:chExt cx="0" cy="0"/>
        </a:xfrm>
      </p:grpSpPr>
      <p:sp>
        <p:nvSpPr>
          <p:cNvPr id="2" name="Text 0"/>
          <p:cNvSpPr/>
          <p:nvPr/>
        </p:nvSpPr>
        <p:spPr>
          <a:xfrm>
            <a:off x="548640" y="365760"/>
            <a:ext cx="1047404" cy="320040"/>
          </a:xfrm>
          <a:prstGeom prst="rect">
            <a:avLst/>
          </a:prstGeom>
          <a:noFill/>
          <a:ln/>
        </p:spPr>
        <p:txBody>
          <a:bodyPr wrap="square" lIns="0" tIns="0" rIns="0" bIns="0" rtlCol="0" anchor="ctr"/>
          <a:lstStyle/>
          <a:p>
            <a:pPr marL="0" indent="0">
              <a:buNone/>
            </a:pPr>
            <a:r>
              <a:rPr lang="en-US" sz="2400" b="1" kern="0" spc="200" dirty="0">
                <a:solidFill>
                  <a:srgbClr val="A78BFA"/>
                </a:solidFill>
                <a:latin typeface="Consolas" pitchFamily="34" charset="0"/>
                <a:ea typeface="Consolas" pitchFamily="34" charset="-122"/>
                <a:cs typeface="Consolas" pitchFamily="34" charset="-120"/>
              </a:rPr>
              <a:t>BQ-05</a:t>
            </a:r>
            <a:endParaRPr lang="en-US" sz="2400" dirty="0"/>
          </a:p>
        </p:txBody>
      </p:sp>
      <p:sp>
        <p:nvSpPr>
          <p:cNvPr id="3" name="Text 1"/>
          <p:cNvSpPr/>
          <p:nvPr/>
        </p:nvSpPr>
        <p:spPr>
          <a:xfrm>
            <a:off x="493776" y="732351"/>
            <a:ext cx="3815542" cy="392361"/>
          </a:xfrm>
          <a:prstGeom prst="rect">
            <a:avLst/>
          </a:prstGeom>
          <a:noFill/>
          <a:ln>
            <a:solidFill>
              <a:srgbClr val="5390DB"/>
            </a:solidFill>
          </a:ln>
        </p:spPr>
        <p:txBody>
          <a:bodyPr wrap="square" lIns="0" tIns="0" rIns="0" bIns="0" rtlCol="0" anchor="ctr"/>
          <a:lstStyle/>
          <a:p>
            <a:pPr marL="0" indent="0" algn="ctr">
              <a:buNone/>
            </a:pPr>
            <a:r>
              <a:rPr lang="en-US" sz="1200" b="1" dirty="0">
                <a:solidFill>
                  <a:srgbClr val="E9ECF8"/>
                </a:solidFill>
                <a:latin typeface="Georgia" pitchFamily="34" charset="0"/>
                <a:ea typeface="Georgia" pitchFamily="34" charset="-122"/>
                <a:cs typeface="Georgia" pitchFamily="34" charset="-120"/>
              </a:rPr>
              <a:t>Customers overdue for a win-back campaign</a:t>
            </a:r>
            <a:endParaRPr lang="en-US" sz="1200" dirty="0"/>
          </a:p>
        </p:txBody>
      </p:sp>
      <p:sp>
        <p:nvSpPr>
          <p:cNvPr id="4" name="Text 2"/>
          <p:cNvSpPr/>
          <p:nvPr/>
        </p:nvSpPr>
        <p:spPr>
          <a:xfrm>
            <a:off x="548640" y="6510528"/>
            <a:ext cx="7315200" cy="274320"/>
          </a:xfrm>
          <a:prstGeom prst="rect">
            <a:avLst/>
          </a:prstGeom>
          <a:noFill/>
          <a:ln/>
        </p:spPr>
        <p:txBody>
          <a:bodyPr wrap="square" lIns="0" tIns="0" rIns="0" bIns="0" rtlCol="0" anchor="ctr"/>
          <a:lstStyle/>
          <a:p>
            <a:pPr marL="0" indent="0">
              <a:buNone/>
            </a:pPr>
            <a:r>
              <a:rPr lang="en-US" sz="900" dirty="0">
                <a:solidFill>
                  <a:srgbClr val="9098BD"/>
                </a:solidFill>
                <a:latin typeface="Consolas" pitchFamily="34" charset="0"/>
                <a:ea typeface="Consolas" pitchFamily="34" charset="-122"/>
                <a:cs typeface="Consolas" pitchFamily="34" charset="-120"/>
              </a:rPr>
              <a:t>BrightLearn Data Warehouse Build  ·  Tshifhiwa Tshikosi</a:t>
            </a:r>
            <a:endParaRPr lang="en-US" sz="900" dirty="0"/>
          </a:p>
        </p:txBody>
      </p:sp>
      <p:sp>
        <p:nvSpPr>
          <p:cNvPr id="5" name="Text 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9098BD"/>
                </a:solidFill>
                <a:latin typeface="Consolas" pitchFamily="34" charset="0"/>
                <a:ea typeface="Consolas" pitchFamily="34" charset="-122"/>
                <a:cs typeface="Consolas" pitchFamily="34" charset="-120"/>
              </a:rPr>
              <a:t>21</a:t>
            </a:r>
            <a:endParaRPr lang="en-US" sz="900" dirty="0"/>
          </a:p>
        </p:txBody>
      </p:sp>
      <p:sp>
        <p:nvSpPr>
          <p:cNvPr id="6" name="Shape 4"/>
          <p:cNvSpPr/>
          <p:nvPr/>
        </p:nvSpPr>
        <p:spPr>
          <a:xfrm>
            <a:off x="377397" y="1305098"/>
            <a:ext cx="5162203" cy="3665914"/>
          </a:xfrm>
          <a:prstGeom prst="roundRect">
            <a:avLst>
              <a:gd name="adj" fmla="val 1610"/>
            </a:avLst>
          </a:prstGeom>
          <a:solidFill>
            <a:srgbClr val="141A33"/>
          </a:solidFill>
          <a:ln w="12700">
            <a:solidFill>
              <a:srgbClr val="60A5FA"/>
            </a:solidFill>
            <a:prstDash val="solid"/>
          </a:ln>
        </p:spPr>
        <p:txBody>
          <a:bodyPr/>
          <a:lstStyle/>
          <a:p>
            <a:endParaRPr lang="en-US"/>
          </a:p>
        </p:txBody>
      </p:sp>
      <p:pic>
        <p:nvPicPr>
          <p:cNvPr id="7" name="Image 0" descr="/home/claude/cropped/BQ_05.png"/>
          <p:cNvPicPr>
            <a:picLocks noChangeAspect="1"/>
          </p:cNvPicPr>
          <p:nvPr/>
        </p:nvPicPr>
        <p:blipFill>
          <a:blip r:embed="rId3"/>
          <a:srcRect t="15651" r="36701" b="8435"/>
          <a:stretch>
            <a:fillRect/>
          </a:stretch>
        </p:blipFill>
        <p:spPr>
          <a:xfrm>
            <a:off x="493776" y="1438101"/>
            <a:ext cx="4887884" cy="3366655"/>
          </a:xfrm>
          <a:prstGeom prst="rect">
            <a:avLst/>
          </a:prstGeom>
        </p:spPr>
      </p:pic>
      <p:sp>
        <p:nvSpPr>
          <p:cNvPr id="8" name="Shape 5"/>
          <p:cNvSpPr/>
          <p:nvPr/>
        </p:nvSpPr>
        <p:spPr>
          <a:xfrm>
            <a:off x="377397" y="5104015"/>
            <a:ext cx="5740433" cy="1635440"/>
          </a:xfrm>
          <a:prstGeom prst="roundRect">
            <a:avLst>
              <a:gd name="adj" fmla="val 2998"/>
            </a:avLst>
          </a:prstGeom>
          <a:solidFill>
            <a:srgbClr val="141A33"/>
          </a:solidFill>
          <a:ln w="12700">
            <a:solidFill>
              <a:srgbClr val="F472B6"/>
            </a:solidFill>
            <a:prstDash val="solid"/>
          </a:ln>
        </p:spPr>
        <p:txBody>
          <a:bodyPr/>
          <a:lstStyle/>
          <a:p>
            <a:endParaRPr lang="en-US"/>
          </a:p>
        </p:txBody>
      </p:sp>
      <p:sp>
        <p:nvSpPr>
          <p:cNvPr id="9" name="Text 6"/>
          <p:cNvSpPr/>
          <p:nvPr/>
        </p:nvSpPr>
        <p:spPr>
          <a:xfrm>
            <a:off x="803778" y="5268606"/>
            <a:ext cx="4879874" cy="98719"/>
          </a:xfrm>
          <a:prstGeom prst="rect">
            <a:avLst/>
          </a:prstGeom>
          <a:noFill/>
          <a:ln/>
        </p:spPr>
        <p:txBody>
          <a:bodyPr wrap="square" lIns="0" tIns="0" rIns="0" bIns="0" rtlCol="0" anchor="ctr"/>
          <a:lstStyle/>
          <a:p>
            <a:pPr marL="0" indent="0">
              <a:buNone/>
            </a:pPr>
            <a:r>
              <a:rPr lang="en-US" sz="1000" b="1" kern="0" spc="150" dirty="0">
                <a:solidFill>
                  <a:srgbClr val="F472B6"/>
                </a:solidFill>
                <a:latin typeface="Consolas" pitchFamily="34" charset="0"/>
                <a:ea typeface="Consolas" pitchFamily="34" charset="-122"/>
                <a:cs typeface="Consolas" pitchFamily="34" charset="-120"/>
              </a:rPr>
              <a:t>BQ-05 INSIGHT</a:t>
            </a:r>
            <a:endParaRPr lang="en-US" sz="1000" dirty="0"/>
          </a:p>
        </p:txBody>
      </p:sp>
      <p:sp>
        <p:nvSpPr>
          <p:cNvPr id="10" name="Text 7"/>
          <p:cNvSpPr/>
          <p:nvPr/>
        </p:nvSpPr>
        <p:spPr>
          <a:xfrm>
            <a:off x="803778" y="5606934"/>
            <a:ext cx="4879874" cy="1388643"/>
          </a:xfrm>
          <a:prstGeom prst="rect">
            <a:avLst/>
          </a:prstGeom>
          <a:noFill/>
          <a:ln/>
        </p:spPr>
        <p:txBody>
          <a:bodyPr wrap="square" lIns="0" tIns="0" rIns="0" bIns="0" rtlCol="0" anchor="t"/>
          <a:lstStyle/>
          <a:p>
            <a:pPr>
              <a:lnSpc>
                <a:spcPct val="118000"/>
              </a:lnSpc>
            </a:pPr>
            <a:r>
              <a:rPr lang="en-US" sz="1200" dirty="0">
                <a:solidFill>
                  <a:schemeClr val="bg1"/>
                </a:solidFill>
              </a:rPr>
              <a:t>No registered loyalty customers met the criteria for the win-back campaign, as all active members made purchases after 28 April 2024. This indicates strong customer engagement during the reporting period. Ongoing monitoring will help identify future retention opportunities.</a:t>
            </a:r>
            <a:endParaRPr lang="en-US" sz="1150" dirty="0">
              <a:solidFill>
                <a:schemeClr val="bg1"/>
              </a:solidFill>
            </a:endParaRPr>
          </a:p>
          <a:p>
            <a:pPr marL="0" indent="0">
              <a:lnSpc>
                <a:spcPct val="118000"/>
              </a:lnSpc>
              <a:buNone/>
            </a:pPr>
            <a:endParaRPr lang="en-US" sz="1150" dirty="0">
              <a:solidFill>
                <a:schemeClr val="bg1"/>
              </a:solidFill>
            </a:endParaRPr>
          </a:p>
        </p:txBody>
      </p:sp>
      <p:sp>
        <p:nvSpPr>
          <p:cNvPr id="12" name="Text 0">
            <a:extLst>
              <a:ext uri="{FF2B5EF4-FFF2-40B4-BE49-F238E27FC236}">
                <a16:creationId xmlns:a16="http://schemas.microsoft.com/office/drawing/2014/main" id="{E6201473-FF55-A293-9D5C-F9A364F60BA0}"/>
              </a:ext>
            </a:extLst>
          </p:cNvPr>
          <p:cNvSpPr/>
          <p:nvPr/>
        </p:nvSpPr>
        <p:spPr>
          <a:xfrm>
            <a:off x="6317672" y="240235"/>
            <a:ext cx="1213658" cy="320040"/>
          </a:xfrm>
          <a:prstGeom prst="rect">
            <a:avLst/>
          </a:prstGeom>
          <a:noFill/>
          <a:ln/>
        </p:spPr>
        <p:txBody>
          <a:bodyPr wrap="square" lIns="0" tIns="0" rIns="0" bIns="0" rtlCol="0" anchor="ctr"/>
          <a:lstStyle/>
          <a:p>
            <a:pPr marL="0" indent="0">
              <a:buNone/>
            </a:pPr>
            <a:r>
              <a:rPr lang="en-US" sz="2400" b="1" kern="0" spc="200" dirty="0">
                <a:solidFill>
                  <a:srgbClr val="A78BFA"/>
                </a:solidFill>
                <a:latin typeface="Consolas" pitchFamily="34" charset="0"/>
                <a:ea typeface="Consolas" pitchFamily="34" charset="-122"/>
                <a:cs typeface="Consolas" pitchFamily="34" charset="-120"/>
              </a:rPr>
              <a:t>BQ-06</a:t>
            </a:r>
            <a:endParaRPr lang="en-US" sz="2400" dirty="0"/>
          </a:p>
        </p:txBody>
      </p:sp>
      <p:sp>
        <p:nvSpPr>
          <p:cNvPr id="14" name="Text 1">
            <a:extLst>
              <a:ext uri="{FF2B5EF4-FFF2-40B4-BE49-F238E27FC236}">
                <a16:creationId xmlns:a16="http://schemas.microsoft.com/office/drawing/2014/main" id="{570DB79C-B9C4-37EA-CC28-37F9608A544C}"/>
              </a:ext>
            </a:extLst>
          </p:cNvPr>
          <p:cNvSpPr/>
          <p:nvPr/>
        </p:nvSpPr>
        <p:spPr>
          <a:xfrm>
            <a:off x="6317672" y="610984"/>
            <a:ext cx="3258589" cy="458863"/>
          </a:xfrm>
          <a:prstGeom prst="rect">
            <a:avLst/>
          </a:prstGeom>
          <a:noFill/>
          <a:ln>
            <a:solidFill>
              <a:srgbClr val="5390DB"/>
            </a:solidFill>
          </a:ln>
        </p:spPr>
        <p:txBody>
          <a:bodyPr wrap="square" lIns="0" tIns="0" rIns="0" bIns="0" rtlCol="0" anchor="ctr"/>
          <a:lstStyle/>
          <a:p>
            <a:pPr marL="0" indent="0" algn="ctr">
              <a:buNone/>
            </a:pPr>
            <a:r>
              <a:rPr lang="en-US" sz="1200" b="1" dirty="0">
                <a:solidFill>
                  <a:srgbClr val="E9ECF8"/>
                </a:solidFill>
                <a:latin typeface="Georgia" pitchFamily="34" charset="0"/>
                <a:ea typeface="Georgia" pitchFamily="34" charset="-122"/>
                <a:cs typeface="Georgia" pitchFamily="34" charset="-120"/>
              </a:rPr>
              <a:t>Average transaction value by loyalty tier</a:t>
            </a:r>
            <a:endParaRPr lang="en-US" sz="1200" dirty="0"/>
          </a:p>
        </p:txBody>
      </p:sp>
      <p:sp>
        <p:nvSpPr>
          <p:cNvPr id="16" name="Shape 4">
            <a:extLst>
              <a:ext uri="{FF2B5EF4-FFF2-40B4-BE49-F238E27FC236}">
                <a16:creationId xmlns:a16="http://schemas.microsoft.com/office/drawing/2014/main" id="{06B04143-2DF5-D21B-7A3E-0199462F1642}"/>
              </a:ext>
            </a:extLst>
          </p:cNvPr>
          <p:cNvSpPr/>
          <p:nvPr/>
        </p:nvSpPr>
        <p:spPr>
          <a:xfrm>
            <a:off x="5910348" y="1305098"/>
            <a:ext cx="6134793" cy="3665914"/>
          </a:xfrm>
          <a:prstGeom prst="roundRect">
            <a:avLst>
              <a:gd name="adj" fmla="val 1610"/>
            </a:avLst>
          </a:prstGeom>
          <a:solidFill>
            <a:srgbClr val="141A33"/>
          </a:solidFill>
          <a:ln w="12700">
            <a:solidFill>
              <a:srgbClr val="60A5FA"/>
            </a:solidFill>
            <a:prstDash val="solid"/>
          </a:ln>
        </p:spPr>
        <p:txBody>
          <a:bodyPr/>
          <a:lstStyle/>
          <a:p>
            <a:endParaRPr lang="en-US"/>
          </a:p>
        </p:txBody>
      </p:sp>
      <p:pic>
        <p:nvPicPr>
          <p:cNvPr id="18" name="Image 0" descr="/home/claude/cropped/BQ_06.png">
            <a:extLst>
              <a:ext uri="{FF2B5EF4-FFF2-40B4-BE49-F238E27FC236}">
                <a16:creationId xmlns:a16="http://schemas.microsoft.com/office/drawing/2014/main" id="{4BE1D325-B80D-268F-EB48-657BD5C0D798}"/>
              </a:ext>
            </a:extLst>
          </p:cNvPr>
          <p:cNvPicPr>
            <a:picLocks noChangeAspect="1"/>
          </p:cNvPicPr>
          <p:nvPr/>
        </p:nvPicPr>
        <p:blipFill>
          <a:blip r:embed="rId4"/>
          <a:srcRect t="17152" r="23459" b="34301"/>
          <a:stretch>
            <a:fillRect/>
          </a:stretch>
        </p:blipFill>
        <p:spPr>
          <a:xfrm>
            <a:off x="5976851" y="1502108"/>
            <a:ext cx="5910349" cy="2152997"/>
          </a:xfrm>
          <a:prstGeom prst="rect">
            <a:avLst/>
          </a:prstGeom>
        </p:spPr>
      </p:pic>
      <p:sp>
        <p:nvSpPr>
          <p:cNvPr id="20" name="Shape 5">
            <a:extLst>
              <a:ext uri="{FF2B5EF4-FFF2-40B4-BE49-F238E27FC236}">
                <a16:creationId xmlns:a16="http://schemas.microsoft.com/office/drawing/2014/main" id="{0BDC24EE-FDD6-8362-37ED-B36408A96890}"/>
              </a:ext>
            </a:extLst>
          </p:cNvPr>
          <p:cNvSpPr/>
          <p:nvPr/>
        </p:nvSpPr>
        <p:spPr>
          <a:xfrm>
            <a:off x="6234209" y="5104016"/>
            <a:ext cx="5810932" cy="1635440"/>
          </a:xfrm>
          <a:prstGeom prst="roundRect">
            <a:avLst>
              <a:gd name="adj" fmla="val 2998"/>
            </a:avLst>
          </a:prstGeom>
          <a:solidFill>
            <a:srgbClr val="141A33"/>
          </a:solidFill>
          <a:ln w="12700">
            <a:solidFill>
              <a:srgbClr val="F472B6"/>
            </a:solidFill>
            <a:prstDash val="solid"/>
          </a:ln>
        </p:spPr>
        <p:txBody>
          <a:bodyPr/>
          <a:lstStyle/>
          <a:p>
            <a:endParaRPr lang="en-US" dirty="0"/>
          </a:p>
        </p:txBody>
      </p:sp>
      <p:sp>
        <p:nvSpPr>
          <p:cNvPr id="22" name="Text 6">
            <a:extLst>
              <a:ext uri="{FF2B5EF4-FFF2-40B4-BE49-F238E27FC236}">
                <a16:creationId xmlns:a16="http://schemas.microsoft.com/office/drawing/2014/main" id="{884CBF97-B8C3-B1A2-0D03-DA79EC7F01E9}"/>
              </a:ext>
            </a:extLst>
          </p:cNvPr>
          <p:cNvSpPr/>
          <p:nvPr/>
        </p:nvSpPr>
        <p:spPr>
          <a:xfrm>
            <a:off x="6947396" y="5268606"/>
            <a:ext cx="4939804" cy="105874"/>
          </a:xfrm>
          <a:prstGeom prst="rect">
            <a:avLst/>
          </a:prstGeom>
          <a:noFill/>
          <a:ln/>
        </p:spPr>
        <p:txBody>
          <a:bodyPr wrap="square" lIns="0" tIns="0" rIns="0" bIns="0" rtlCol="0" anchor="ctr"/>
          <a:lstStyle/>
          <a:p>
            <a:pPr marL="0" indent="0">
              <a:buNone/>
            </a:pPr>
            <a:r>
              <a:rPr lang="en-US" sz="1000" b="1" kern="0" spc="150" dirty="0">
                <a:solidFill>
                  <a:srgbClr val="F472B6"/>
                </a:solidFill>
                <a:latin typeface="Consolas" pitchFamily="34" charset="0"/>
                <a:ea typeface="Consolas" pitchFamily="34" charset="-122"/>
                <a:cs typeface="Consolas" pitchFamily="34" charset="-120"/>
              </a:rPr>
              <a:t>BQ-06 INSIGHT</a:t>
            </a:r>
            <a:endParaRPr lang="en-US" sz="1000" dirty="0"/>
          </a:p>
        </p:txBody>
      </p:sp>
      <p:sp>
        <p:nvSpPr>
          <p:cNvPr id="24" name="Text 7">
            <a:extLst>
              <a:ext uri="{FF2B5EF4-FFF2-40B4-BE49-F238E27FC236}">
                <a16:creationId xmlns:a16="http://schemas.microsoft.com/office/drawing/2014/main" id="{ECDBE9E9-3C2B-DF1D-74ED-D0AE21EF9D11}"/>
              </a:ext>
            </a:extLst>
          </p:cNvPr>
          <p:cNvSpPr/>
          <p:nvPr/>
        </p:nvSpPr>
        <p:spPr>
          <a:xfrm>
            <a:off x="6544211" y="5501705"/>
            <a:ext cx="5401178" cy="605356"/>
          </a:xfrm>
          <a:prstGeom prst="rect">
            <a:avLst/>
          </a:prstGeom>
          <a:noFill/>
          <a:ln/>
        </p:spPr>
        <p:txBody>
          <a:bodyPr wrap="square" lIns="0" tIns="0" rIns="0" bIns="0" rtlCol="0" anchor="t"/>
          <a:lstStyle/>
          <a:p>
            <a:pPr marL="0" indent="0">
              <a:lnSpc>
                <a:spcPct val="118000"/>
              </a:lnSpc>
              <a:buNone/>
            </a:pPr>
            <a:endParaRPr lang="en-US" sz="1150" dirty="0"/>
          </a:p>
        </p:txBody>
      </p:sp>
      <p:sp>
        <p:nvSpPr>
          <p:cNvPr id="25" name="TextBox 24">
            <a:extLst>
              <a:ext uri="{FF2B5EF4-FFF2-40B4-BE49-F238E27FC236}">
                <a16:creationId xmlns:a16="http://schemas.microsoft.com/office/drawing/2014/main" id="{E4458A37-932B-4490-E327-605A602CA862}"/>
              </a:ext>
            </a:extLst>
          </p:cNvPr>
          <p:cNvSpPr txBox="1"/>
          <p:nvPr/>
        </p:nvSpPr>
        <p:spPr>
          <a:xfrm>
            <a:off x="6381280" y="5523428"/>
            <a:ext cx="5551492" cy="830997"/>
          </a:xfrm>
          <a:prstGeom prst="rect">
            <a:avLst/>
          </a:prstGeom>
          <a:noFill/>
        </p:spPr>
        <p:txBody>
          <a:bodyPr wrap="square" rtlCol="0">
            <a:spAutoFit/>
          </a:bodyPr>
          <a:lstStyle/>
          <a:p>
            <a:r>
              <a:rPr lang="en-US" sz="1200" dirty="0">
                <a:solidFill>
                  <a:schemeClr val="bg1"/>
                </a:solidFill>
              </a:rPr>
              <a:t>Silver loyalty members recorded the highest average transaction value, while Gold members completed the highest number of transactions. Bronze customers showed the lowest average spend per transaction. Targeted promotions could encourage higher spending among lower-value customer segments.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3">
    <p:bg>
      <p:bgPr>
        <a:solidFill>
          <a:srgbClr val="0A0E1F"/>
        </a:solidFill>
        <a:effectLst/>
      </p:bgPr>
    </p:bg>
    <p:spTree>
      <p:nvGrpSpPr>
        <p:cNvPr id="1" name=""/>
        <p:cNvGrpSpPr/>
        <p:nvPr/>
      </p:nvGrpSpPr>
      <p:grpSpPr>
        <a:xfrm>
          <a:off x="0" y="0"/>
          <a:ext cx="0" cy="0"/>
          <a:chOff x="0" y="0"/>
          <a:chExt cx="0" cy="0"/>
        </a:xfrm>
      </p:grpSpPr>
      <p:sp>
        <p:nvSpPr>
          <p:cNvPr id="2" name="Text 0"/>
          <p:cNvSpPr/>
          <p:nvPr/>
        </p:nvSpPr>
        <p:spPr>
          <a:xfrm>
            <a:off x="548640" y="365760"/>
            <a:ext cx="1088967" cy="320040"/>
          </a:xfrm>
          <a:prstGeom prst="rect">
            <a:avLst/>
          </a:prstGeom>
          <a:noFill/>
          <a:ln/>
        </p:spPr>
        <p:txBody>
          <a:bodyPr wrap="square" lIns="0" tIns="0" rIns="0" bIns="0" rtlCol="0" anchor="ctr"/>
          <a:lstStyle/>
          <a:p>
            <a:pPr marL="0" indent="0">
              <a:buNone/>
            </a:pPr>
            <a:r>
              <a:rPr lang="en-US" sz="2400" b="1" kern="0" spc="200" dirty="0">
                <a:solidFill>
                  <a:srgbClr val="A78BFA"/>
                </a:solidFill>
                <a:latin typeface="Consolas" pitchFamily="34" charset="0"/>
                <a:ea typeface="Consolas" pitchFamily="34" charset="-122"/>
                <a:cs typeface="Consolas" pitchFamily="34" charset="-120"/>
              </a:rPr>
              <a:t>BQ-07</a:t>
            </a:r>
            <a:endParaRPr lang="en-US" sz="2400" dirty="0"/>
          </a:p>
        </p:txBody>
      </p:sp>
      <p:sp>
        <p:nvSpPr>
          <p:cNvPr id="3" name="Text 1"/>
          <p:cNvSpPr/>
          <p:nvPr/>
        </p:nvSpPr>
        <p:spPr>
          <a:xfrm>
            <a:off x="548640" y="922712"/>
            <a:ext cx="3059084" cy="467175"/>
          </a:xfrm>
          <a:prstGeom prst="rect">
            <a:avLst/>
          </a:prstGeom>
          <a:noFill/>
          <a:ln>
            <a:solidFill>
              <a:srgbClr val="5390DB"/>
            </a:solidFill>
          </a:ln>
        </p:spPr>
        <p:txBody>
          <a:bodyPr wrap="square" lIns="0" tIns="0" rIns="0" bIns="0" rtlCol="0" anchor="ctr"/>
          <a:lstStyle/>
          <a:p>
            <a:pPr marL="0" indent="0" algn="ctr">
              <a:buNone/>
            </a:pPr>
            <a:r>
              <a:rPr lang="en-US" sz="1200" b="1" dirty="0">
                <a:solidFill>
                  <a:srgbClr val="E9ECF8"/>
                </a:solidFill>
                <a:latin typeface="Georgia" pitchFamily="34" charset="0"/>
                <a:ea typeface="Georgia" pitchFamily="34" charset="-122"/>
                <a:cs typeface="Georgia" pitchFamily="34" charset="-120"/>
              </a:rPr>
              <a:t>Quantity sold per category, per store</a:t>
            </a:r>
            <a:endParaRPr lang="en-US" sz="1200" dirty="0"/>
          </a:p>
        </p:txBody>
      </p:sp>
      <p:sp>
        <p:nvSpPr>
          <p:cNvPr id="5" name="Text 3"/>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9098BD"/>
                </a:solidFill>
                <a:latin typeface="Consolas" pitchFamily="34" charset="0"/>
                <a:ea typeface="Consolas" pitchFamily="34" charset="-122"/>
                <a:cs typeface="Consolas" pitchFamily="34" charset="-120"/>
              </a:rPr>
              <a:t>23</a:t>
            </a:r>
            <a:endParaRPr lang="en-US" sz="900" dirty="0"/>
          </a:p>
        </p:txBody>
      </p:sp>
      <p:sp>
        <p:nvSpPr>
          <p:cNvPr id="6" name="Shape 4"/>
          <p:cNvSpPr/>
          <p:nvPr/>
        </p:nvSpPr>
        <p:spPr>
          <a:xfrm>
            <a:off x="360773" y="1545336"/>
            <a:ext cx="5674268" cy="3845468"/>
          </a:xfrm>
          <a:prstGeom prst="roundRect">
            <a:avLst>
              <a:gd name="adj" fmla="val 1610"/>
            </a:avLst>
          </a:prstGeom>
          <a:solidFill>
            <a:srgbClr val="141A33"/>
          </a:solidFill>
          <a:ln w="12700">
            <a:solidFill>
              <a:srgbClr val="60A5FA"/>
            </a:solidFill>
            <a:prstDash val="solid"/>
          </a:ln>
        </p:spPr>
        <p:txBody>
          <a:bodyPr/>
          <a:lstStyle/>
          <a:p>
            <a:endParaRPr lang="en-US"/>
          </a:p>
        </p:txBody>
      </p:sp>
      <p:pic>
        <p:nvPicPr>
          <p:cNvPr id="7" name="Image 0" descr="/home/claude/cropped/BQ_07.png"/>
          <p:cNvPicPr>
            <a:picLocks noChangeAspect="1"/>
          </p:cNvPicPr>
          <p:nvPr/>
        </p:nvPicPr>
        <p:blipFill>
          <a:blip r:embed="rId3"/>
          <a:srcRect t="16776" r="28160"/>
          <a:stretch>
            <a:fillRect/>
          </a:stretch>
        </p:blipFill>
        <p:spPr>
          <a:xfrm>
            <a:off x="415637" y="1645088"/>
            <a:ext cx="5547360" cy="3690851"/>
          </a:xfrm>
          <a:prstGeom prst="rect">
            <a:avLst/>
          </a:prstGeom>
        </p:spPr>
      </p:pic>
      <p:sp>
        <p:nvSpPr>
          <p:cNvPr id="8" name="Shape 5"/>
          <p:cNvSpPr/>
          <p:nvPr/>
        </p:nvSpPr>
        <p:spPr>
          <a:xfrm>
            <a:off x="207819" y="5695882"/>
            <a:ext cx="5968538" cy="1088376"/>
          </a:xfrm>
          <a:prstGeom prst="roundRect">
            <a:avLst>
              <a:gd name="adj" fmla="val 2998"/>
            </a:avLst>
          </a:prstGeom>
          <a:solidFill>
            <a:srgbClr val="141A33"/>
          </a:solidFill>
          <a:ln w="12700">
            <a:solidFill>
              <a:srgbClr val="F472B6"/>
            </a:solidFill>
            <a:prstDash val="solid"/>
          </a:ln>
        </p:spPr>
        <p:txBody>
          <a:bodyPr/>
          <a:lstStyle/>
          <a:p>
            <a:endParaRPr lang="en-US"/>
          </a:p>
        </p:txBody>
      </p:sp>
      <p:sp>
        <p:nvSpPr>
          <p:cNvPr id="9" name="Text 6"/>
          <p:cNvSpPr/>
          <p:nvPr/>
        </p:nvSpPr>
        <p:spPr>
          <a:xfrm>
            <a:off x="857496" y="5835886"/>
            <a:ext cx="5902690" cy="99402"/>
          </a:xfrm>
          <a:prstGeom prst="rect">
            <a:avLst/>
          </a:prstGeom>
          <a:noFill/>
          <a:ln/>
        </p:spPr>
        <p:txBody>
          <a:bodyPr wrap="square" lIns="0" tIns="0" rIns="0" bIns="0" rtlCol="0" anchor="ctr"/>
          <a:lstStyle/>
          <a:p>
            <a:pPr marL="0" indent="0">
              <a:buNone/>
            </a:pPr>
            <a:r>
              <a:rPr lang="en-US" sz="1000" b="1" kern="0" spc="150" dirty="0">
                <a:solidFill>
                  <a:srgbClr val="F472B6"/>
                </a:solidFill>
                <a:latin typeface="Consolas" pitchFamily="34" charset="0"/>
                <a:ea typeface="Consolas" pitchFamily="34" charset="-122"/>
                <a:cs typeface="Consolas" pitchFamily="34" charset="-120"/>
              </a:rPr>
              <a:t>BQ-07 INSIGHT</a:t>
            </a:r>
            <a:endParaRPr lang="en-US" sz="1000" dirty="0"/>
          </a:p>
        </p:txBody>
      </p:sp>
      <p:sp>
        <p:nvSpPr>
          <p:cNvPr id="10" name="Text 7"/>
          <p:cNvSpPr/>
          <p:nvPr/>
        </p:nvSpPr>
        <p:spPr>
          <a:xfrm>
            <a:off x="415637" y="6097634"/>
            <a:ext cx="5306758" cy="624966"/>
          </a:xfrm>
          <a:prstGeom prst="rect">
            <a:avLst/>
          </a:prstGeom>
          <a:noFill/>
          <a:ln/>
        </p:spPr>
        <p:txBody>
          <a:bodyPr wrap="square" lIns="0" tIns="0" rIns="0" bIns="0" rtlCol="0" anchor="t"/>
          <a:lstStyle/>
          <a:p>
            <a:pPr marL="0" indent="0">
              <a:lnSpc>
                <a:spcPct val="118000"/>
              </a:lnSpc>
              <a:buNone/>
            </a:pPr>
            <a:endParaRPr lang="en-US" sz="1150" dirty="0"/>
          </a:p>
        </p:txBody>
      </p:sp>
      <p:sp>
        <p:nvSpPr>
          <p:cNvPr id="12" name="Text 0">
            <a:extLst>
              <a:ext uri="{FF2B5EF4-FFF2-40B4-BE49-F238E27FC236}">
                <a16:creationId xmlns:a16="http://schemas.microsoft.com/office/drawing/2014/main" id="{C40ED682-0780-1A30-68CE-5C44B9BB828A}"/>
              </a:ext>
            </a:extLst>
          </p:cNvPr>
          <p:cNvSpPr/>
          <p:nvPr/>
        </p:nvSpPr>
        <p:spPr>
          <a:xfrm>
            <a:off x="5962997" y="355612"/>
            <a:ext cx="1388225" cy="320040"/>
          </a:xfrm>
          <a:prstGeom prst="rect">
            <a:avLst/>
          </a:prstGeom>
          <a:noFill/>
          <a:ln/>
        </p:spPr>
        <p:txBody>
          <a:bodyPr wrap="square" lIns="0" tIns="0" rIns="0" bIns="0" rtlCol="0" anchor="ctr"/>
          <a:lstStyle/>
          <a:p>
            <a:pPr marL="0" indent="0">
              <a:buNone/>
            </a:pPr>
            <a:r>
              <a:rPr lang="en-US" sz="2400" b="1" kern="0" spc="200" dirty="0">
                <a:solidFill>
                  <a:srgbClr val="A78BFA"/>
                </a:solidFill>
                <a:latin typeface="Consolas" pitchFamily="34" charset="0"/>
                <a:ea typeface="Consolas" pitchFamily="34" charset="-122"/>
                <a:cs typeface="Consolas" pitchFamily="34" charset="-120"/>
              </a:rPr>
              <a:t>BQ-08</a:t>
            </a:r>
            <a:endParaRPr lang="en-US" sz="2400" dirty="0"/>
          </a:p>
        </p:txBody>
      </p:sp>
      <p:sp>
        <p:nvSpPr>
          <p:cNvPr id="14" name="Text 1">
            <a:extLst>
              <a:ext uri="{FF2B5EF4-FFF2-40B4-BE49-F238E27FC236}">
                <a16:creationId xmlns:a16="http://schemas.microsoft.com/office/drawing/2014/main" id="{8B9C4497-7F62-E48F-4D1E-D3FA07F6336A}"/>
              </a:ext>
            </a:extLst>
          </p:cNvPr>
          <p:cNvSpPr/>
          <p:nvPr/>
        </p:nvSpPr>
        <p:spPr>
          <a:xfrm>
            <a:off x="6096000" y="901780"/>
            <a:ext cx="2901142" cy="408986"/>
          </a:xfrm>
          <a:prstGeom prst="rect">
            <a:avLst/>
          </a:prstGeom>
          <a:noFill/>
          <a:ln>
            <a:solidFill>
              <a:srgbClr val="5390DB"/>
            </a:solidFill>
          </a:ln>
        </p:spPr>
        <p:txBody>
          <a:bodyPr wrap="square" lIns="0" tIns="0" rIns="0" bIns="0" rtlCol="0" anchor="ctr"/>
          <a:lstStyle/>
          <a:p>
            <a:pPr marL="0" indent="0" algn="ctr">
              <a:buNone/>
            </a:pPr>
            <a:r>
              <a:rPr lang="en-US" sz="1200" b="1" dirty="0">
                <a:solidFill>
                  <a:srgbClr val="E9ECF8"/>
                </a:solidFill>
                <a:latin typeface="Georgia" pitchFamily="34" charset="0"/>
                <a:ea typeface="Georgia" pitchFamily="34" charset="-122"/>
                <a:cs typeface="Georgia" pitchFamily="34" charset="-120"/>
              </a:rPr>
              <a:t>June stock below reorder threshold</a:t>
            </a:r>
            <a:endParaRPr lang="en-US" sz="1200" dirty="0"/>
          </a:p>
        </p:txBody>
      </p:sp>
      <p:sp>
        <p:nvSpPr>
          <p:cNvPr id="18" name="Shape 4">
            <a:extLst>
              <a:ext uri="{FF2B5EF4-FFF2-40B4-BE49-F238E27FC236}">
                <a16:creationId xmlns:a16="http://schemas.microsoft.com/office/drawing/2014/main" id="{99148286-1821-A48E-F250-4679222D15C3}"/>
              </a:ext>
            </a:extLst>
          </p:cNvPr>
          <p:cNvSpPr/>
          <p:nvPr/>
        </p:nvSpPr>
        <p:spPr>
          <a:xfrm>
            <a:off x="6237455" y="1545336"/>
            <a:ext cx="5649745" cy="3845468"/>
          </a:xfrm>
          <a:prstGeom prst="roundRect">
            <a:avLst>
              <a:gd name="adj" fmla="val 1610"/>
            </a:avLst>
          </a:prstGeom>
          <a:solidFill>
            <a:srgbClr val="141A33"/>
          </a:solidFill>
          <a:ln w="12700">
            <a:solidFill>
              <a:srgbClr val="60A5FA"/>
            </a:solidFill>
            <a:prstDash val="solid"/>
          </a:ln>
        </p:spPr>
        <p:txBody>
          <a:bodyPr/>
          <a:lstStyle/>
          <a:p>
            <a:endParaRPr lang="en-US"/>
          </a:p>
        </p:txBody>
      </p:sp>
      <p:pic>
        <p:nvPicPr>
          <p:cNvPr id="20" name="Image 0" descr="/home/claude/cropped/BQ_08.png">
            <a:extLst>
              <a:ext uri="{FF2B5EF4-FFF2-40B4-BE49-F238E27FC236}">
                <a16:creationId xmlns:a16="http://schemas.microsoft.com/office/drawing/2014/main" id="{BB891ABE-8F94-F679-ACB0-B9A14C5479BC}"/>
              </a:ext>
            </a:extLst>
          </p:cNvPr>
          <p:cNvPicPr>
            <a:picLocks noChangeAspect="1"/>
          </p:cNvPicPr>
          <p:nvPr/>
        </p:nvPicPr>
        <p:blipFill>
          <a:blip r:embed="rId4"/>
          <a:srcRect t="16776" r="33040" b="7526"/>
          <a:stretch>
            <a:fillRect/>
          </a:stretch>
        </p:blipFill>
        <p:spPr>
          <a:xfrm>
            <a:off x="6411884" y="1665872"/>
            <a:ext cx="5170516" cy="3357118"/>
          </a:xfrm>
          <a:prstGeom prst="rect">
            <a:avLst/>
          </a:prstGeom>
        </p:spPr>
      </p:pic>
      <p:sp>
        <p:nvSpPr>
          <p:cNvPr id="24" name="Shape 5">
            <a:extLst>
              <a:ext uri="{FF2B5EF4-FFF2-40B4-BE49-F238E27FC236}">
                <a16:creationId xmlns:a16="http://schemas.microsoft.com/office/drawing/2014/main" id="{185293FC-D229-ED05-E205-5992AD22181F}"/>
              </a:ext>
            </a:extLst>
          </p:cNvPr>
          <p:cNvSpPr/>
          <p:nvPr/>
        </p:nvSpPr>
        <p:spPr>
          <a:xfrm>
            <a:off x="6411884" y="5717005"/>
            <a:ext cx="5475316" cy="1067843"/>
          </a:xfrm>
          <a:prstGeom prst="roundRect">
            <a:avLst>
              <a:gd name="adj" fmla="val 2998"/>
            </a:avLst>
          </a:prstGeom>
          <a:solidFill>
            <a:srgbClr val="141A33"/>
          </a:solidFill>
          <a:ln w="12700">
            <a:solidFill>
              <a:srgbClr val="F472B6"/>
            </a:solidFill>
            <a:prstDash val="solid"/>
          </a:ln>
        </p:spPr>
        <p:txBody>
          <a:bodyPr/>
          <a:lstStyle/>
          <a:p>
            <a:endParaRPr lang="en-US"/>
          </a:p>
        </p:txBody>
      </p:sp>
      <p:sp>
        <p:nvSpPr>
          <p:cNvPr id="26" name="Text 6">
            <a:extLst>
              <a:ext uri="{FF2B5EF4-FFF2-40B4-BE49-F238E27FC236}">
                <a16:creationId xmlns:a16="http://schemas.microsoft.com/office/drawing/2014/main" id="{909E58F1-B810-0820-D9C3-A3CB039C0162}"/>
              </a:ext>
            </a:extLst>
          </p:cNvPr>
          <p:cNvSpPr/>
          <p:nvPr/>
        </p:nvSpPr>
        <p:spPr>
          <a:xfrm>
            <a:off x="6639098" y="5791203"/>
            <a:ext cx="3952322" cy="89366"/>
          </a:xfrm>
          <a:prstGeom prst="rect">
            <a:avLst/>
          </a:prstGeom>
          <a:noFill/>
          <a:ln/>
        </p:spPr>
        <p:txBody>
          <a:bodyPr wrap="square" lIns="0" tIns="0" rIns="0" bIns="0" rtlCol="0" anchor="ctr"/>
          <a:lstStyle/>
          <a:p>
            <a:pPr marL="0" indent="0">
              <a:buNone/>
            </a:pPr>
            <a:r>
              <a:rPr lang="en-US" sz="1000" b="1" kern="0" spc="150" dirty="0">
                <a:solidFill>
                  <a:srgbClr val="F472B6"/>
                </a:solidFill>
                <a:latin typeface="Consolas" pitchFamily="34" charset="0"/>
                <a:ea typeface="Consolas" pitchFamily="34" charset="-122"/>
                <a:cs typeface="Consolas" pitchFamily="34" charset="-120"/>
              </a:rPr>
              <a:t>BQ-08 INSIGHT</a:t>
            </a:r>
            <a:endParaRPr lang="en-US" sz="1000" dirty="0"/>
          </a:p>
        </p:txBody>
      </p:sp>
      <p:sp>
        <p:nvSpPr>
          <p:cNvPr id="28" name="Text 7">
            <a:extLst>
              <a:ext uri="{FF2B5EF4-FFF2-40B4-BE49-F238E27FC236}">
                <a16:creationId xmlns:a16="http://schemas.microsoft.com/office/drawing/2014/main" id="{F9E8AD6F-1C0B-3874-3B57-644EA4166A39}"/>
              </a:ext>
            </a:extLst>
          </p:cNvPr>
          <p:cNvSpPr/>
          <p:nvPr/>
        </p:nvSpPr>
        <p:spPr>
          <a:xfrm>
            <a:off x="6483789" y="5900169"/>
            <a:ext cx="5223163" cy="929362"/>
          </a:xfrm>
          <a:prstGeom prst="rect">
            <a:avLst/>
          </a:prstGeom>
          <a:noFill/>
          <a:ln/>
        </p:spPr>
        <p:txBody>
          <a:bodyPr wrap="square" lIns="0" tIns="0" rIns="0" bIns="0" rtlCol="0" anchor="t"/>
          <a:lstStyle/>
          <a:p>
            <a:pPr>
              <a:lnSpc>
                <a:spcPct val="118000"/>
              </a:lnSpc>
            </a:pPr>
            <a:r>
              <a:rPr lang="en-US" sz="1200" dirty="0">
                <a:solidFill>
                  <a:schemeClr val="bg1"/>
                </a:solidFill>
              </a:rPr>
              <a:t>No products were found below their reorder threshold during the June inventory snapshot. This indicates that stock levels were sufficient to meet customer demand throughout the reporting period. Maintaining proactive inventory monitoring will help sustain product availability.</a:t>
            </a:r>
            <a:endParaRPr lang="en-US" sz="1150" dirty="0">
              <a:solidFill>
                <a:schemeClr val="bg1"/>
              </a:solidFill>
            </a:endParaRPr>
          </a:p>
        </p:txBody>
      </p:sp>
      <p:sp>
        <p:nvSpPr>
          <p:cNvPr id="29" name="TextBox 28">
            <a:extLst>
              <a:ext uri="{FF2B5EF4-FFF2-40B4-BE49-F238E27FC236}">
                <a16:creationId xmlns:a16="http://schemas.microsoft.com/office/drawing/2014/main" id="{79F38CD7-27D7-D599-4277-89AC69E117C7}"/>
              </a:ext>
            </a:extLst>
          </p:cNvPr>
          <p:cNvSpPr txBox="1"/>
          <p:nvPr/>
        </p:nvSpPr>
        <p:spPr>
          <a:xfrm>
            <a:off x="304800" y="5969698"/>
            <a:ext cx="5799652" cy="830997"/>
          </a:xfrm>
          <a:prstGeom prst="rect">
            <a:avLst/>
          </a:prstGeom>
          <a:noFill/>
        </p:spPr>
        <p:txBody>
          <a:bodyPr wrap="square" rtlCol="0">
            <a:spAutoFit/>
          </a:bodyPr>
          <a:lstStyle/>
          <a:p>
            <a:r>
              <a:rPr lang="en-US" sz="1200" dirty="0">
                <a:solidFill>
                  <a:schemeClr val="bg1"/>
                </a:solidFill>
              </a:rPr>
              <a:t>Groceries were the highest-selling product category across all stores, with </a:t>
            </a:r>
            <a:r>
              <a:rPr lang="en-US" sz="1200" dirty="0" err="1">
                <a:solidFill>
                  <a:schemeClr val="bg1"/>
                </a:solidFill>
              </a:rPr>
              <a:t>BrightMart</a:t>
            </a:r>
            <a:r>
              <a:rPr lang="en-US" sz="1200" dirty="0">
                <a:solidFill>
                  <a:schemeClr val="bg1"/>
                </a:solidFill>
              </a:rPr>
              <a:t> Sandton City recording the largest sales volume. Electronics also performed consistently well across multiple locations. These results can guide inventory allocation and merchandising strategies.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5">
    <p:bg>
      <p:bgPr>
        <a:solidFill>
          <a:srgbClr val="0A0E1F"/>
        </a:solidFill>
        <a:effectLst/>
      </p:bgPr>
    </p:bg>
    <p:spTree>
      <p:nvGrpSpPr>
        <p:cNvPr id="1" name=""/>
        <p:cNvGrpSpPr/>
        <p:nvPr/>
      </p:nvGrpSpPr>
      <p:grpSpPr>
        <a:xfrm>
          <a:off x="0" y="0"/>
          <a:ext cx="0" cy="0"/>
          <a:chOff x="0" y="0"/>
          <a:chExt cx="0" cy="0"/>
        </a:xfrm>
      </p:grpSpPr>
      <p:sp>
        <p:nvSpPr>
          <p:cNvPr id="7" name="Text 0">
            <a:extLst>
              <a:ext uri="{FF2B5EF4-FFF2-40B4-BE49-F238E27FC236}">
                <a16:creationId xmlns:a16="http://schemas.microsoft.com/office/drawing/2014/main" id="{D76DBB26-9803-AFDF-0C94-BD6089FCB8B1}"/>
              </a:ext>
            </a:extLst>
          </p:cNvPr>
          <p:cNvSpPr/>
          <p:nvPr/>
        </p:nvSpPr>
        <p:spPr>
          <a:xfrm>
            <a:off x="548640" y="365760"/>
            <a:ext cx="9144000" cy="320040"/>
          </a:xfrm>
          <a:prstGeom prst="rect">
            <a:avLst/>
          </a:prstGeom>
          <a:noFill/>
          <a:ln/>
        </p:spPr>
        <p:txBody>
          <a:bodyPr wrap="square" lIns="0" tIns="0" rIns="0" bIns="0" rtlCol="0" anchor="ctr"/>
          <a:lstStyle/>
          <a:p>
            <a:pPr marL="0" indent="0">
              <a:buNone/>
            </a:pPr>
            <a:r>
              <a:rPr lang="en-US" sz="2400" b="1" kern="0" spc="200" dirty="0">
                <a:solidFill>
                  <a:srgbClr val="A78BFA"/>
                </a:solidFill>
                <a:latin typeface="Consolas" pitchFamily="34" charset="0"/>
                <a:ea typeface="Consolas" pitchFamily="34" charset="-122"/>
                <a:cs typeface="Consolas" pitchFamily="34" charset="-120"/>
              </a:rPr>
              <a:t>03 · BUSINESS RECOMMENDATION</a:t>
            </a:r>
            <a:endParaRPr lang="en-US" sz="2400" dirty="0"/>
          </a:p>
        </p:txBody>
      </p:sp>
      <p:sp>
        <p:nvSpPr>
          <p:cNvPr id="9" name="Shape 5">
            <a:extLst>
              <a:ext uri="{FF2B5EF4-FFF2-40B4-BE49-F238E27FC236}">
                <a16:creationId xmlns:a16="http://schemas.microsoft.com/office/drawing/2014/main" id="{33D14FA2-394D-61C2-4B38-B1424FF96569}"/>
              </a:ext>
            </a:extLst>
          </p:cNvPr>
          <p:cNvSpPr/>
          <p:nvPr/>
        </p:nvSpPr>
        <p:spPr>
          <a:xfrm>
            <a:off x="174568" y="888500"/>
            <a:ext cx="11862262" cy="4913784"/>
          </a:xfrm>
          <a:prstGeom prst="roundRect">
            <a:avLst>
              <a:gd name="adj" fmla="val 2998"/>
            </a:avLst>
          </a:prstGeom>
          <a:solidFill>
            <a:srgbClr val="141A33"/>
          </a:solidFill>
          <a:ln w="12700">
            <a:solidFill>
              <a:srgbClr val="F472B6"/>
            </a:solidFill>
            <a:prstDash val="solid"/>
          </a:ln>
        </p:spPr>
        <p:txBody>
          <a:bodyPr/>
          <a:lstStyle/>
          <a:p>
            <a:endParaRPr lang="en-US"/>
          </a:p>
        </p:txBody>
      </p:sp>
      <p:sp>
        <p:nvSpPr>
          <p:cNvPr id="10" name="TextBox 9">
            <a:extLst>
              <a:ext uri="{FF2B5EF4-FFF2-40B4-BE49-F238E27FC236}">
                <a16:creationId xmlns:a16="http://schemas.microsoft.com/office/drawing/2014/main" id="{EBEA9705-C016-D0D3-0390-D4ABB13FA788}"/>
              </a:ext>
            </a:extLst>
          </p:cNvPr>
          <p:cNvSpPr txBox="1"/>
          <p:nvPr/>
        </p:nvSpPr>
        <p:spPr>
          <a:xfrm>
            <a:off x="382385" y="1083234"/>
            <a:ext cx="11338560" cy="4524315"/>
          </a:xfrm>
          <a:prstGeom prst="rect">
            <a:avLst/>
          </a:prstGeom>
          <a:noFill/>
        </p:spPr>
        <p:txBody>
          <a:bodyPr wrap="square" rtlCol="0">
            <a:spAutoFit/>
          </a:bodyPr>
          <a:lstStyle/>
          <a:p>
            <a:pPr marL="285750" indent="-285750">
              <a:buFont typeface="Arial" panose="020B0604020202020204" pitchFamily="34" charset="0"/>
              <a:buChar char="•"/>
            </a:pPr>
            <a:r>
              <a:rPr lang="en-US" b="1" dirty="0" err="1">
                <a:solidFill>
                  <a:schemeClr val="bg1"/>
                </a:solidFill>
              </a:rPr>
              <a:t>Prioritise</a:t>
            </a:r>
            <a:r>
              <a:rPr lang="en-US" b="1" dirty="0">
                <a:solidFill>
                  <a:schemeClr val="bg1"/>
                </a:solidFill>
              </a:rPr>
              <a:t> high-performing products</a:t>
            </a:r>
            <a:r>
              <a:rPr lang="en-US" dirty="0">
                <a:solidFill>
                  <a:schemeClr val="bg1"/>
                </a:solidFill>
              </a:rPr>
              <a:t> by maintaining adequate inventory levels and increasing marketing efforts for top-selling electronics and clothing items.</a:t>
            </a:r>
          </a:p>
          <a:p>
            <a:pPr marL="285750" indent="-285750">
              <a:buFont typeface="Arial" panose="020B0604020202020204" pitchFamily="34" charset="0"/>
              <a:buChar char="•"/>
            </a:pPr>
            <a:r>
              <a:rPr lang="en-US" b="1" dirty="0">
                <a:solidFill>
                  <a:schemeClr val="bg1"/>
                </a:solidFill>
              </a:rPr>
              <a:t>Replicate successful store strategies</a:t>
            </a:r>
            <a:r>
              <a:rPr lang="en-US" dirty="0">
                <a:solidFill>
                  <a:schemeClr val="bg1"/>
                </a:solidFill>
              </a:rPr>
              <a:t> by </a:t>
            </a:r>
            <a:r>
              <a:rPr lang="en-US" dirty="0" err="1">
                <a:solidFill>
                  <a:schemeClr val="bg1"/>
                </a:solidFill>
              </a:rPr>
              <a:t>analysing</a:t>
            </a:r>
            <a:r>
              <a:rPr lang="en-US" dirty="0">
                <a:solidFill>
                  <a:schemeClr val="bg1"/>
                </a:solidFill>
              </a:rPr>
              <a:t> the practices of high-performing stores, such as </a:t>
            </a:r>
            <a:r>
              <a:rPr lang="en-US" dirty="0" err="1">
                <a:solidFill>
                  <a:schemeClr val="bg1"/>
                </a:solidFill>
              </a:rPr>
              <a:t>BrightMart</a:t>
            </a:r>
            <a:r>
              <a:rPr lang="en-US" dirty="0">
                <a:solidFill>
                  <a:schemeClr val="bg1"/>
                </a:solidFill>
              </a:rPr>
              <a:t> Gateway Mall, and applying them to lower-performing locations. </a:t>
            </a:r>
          </a:p>
          <a:p>
            <a:pPr marL="285750" indent="-285750">
              <a:buFont typeface="Arial" panose="020B0604020202020204" pitchFamily="34" charset="0"/>
              <a:buChar char="•"/>
            </a:pPr>
            <a:r>
              <a:rPr lang="en-US" b="1" dirty="0">
                <a:solidFill>
                  <a:schemeClr val="bg1"/>
                </a:solidFill>
              </a:rPr>
              <a:t>Leverage seasonal sales trends</a:t>
            </a:r>
            <a:r>
              <a:rPr lang="en-US" dirty="0">
                <a:solidFill>
                  <a:schemeClr val="bg1"/>
                </a:solidFill>
              </a:rPr>
              <a:t> by planning promotions and inventory around months with historically high growth, particularly June. </a:t>
            </a:r>
          </a:p>
          <a:p>
            <a:pPr marL="285750" indent="-285750">
              <a:buFont typeface="Arial" panose="020B0604020202020204" pitchFamily="34" charset="0"/>
              <a:buChar char="•"/>
            </a:pPr>
            <a:r>
              <a:rPr lang="en-US" b="1" dirty="0">
                <a:solidFill>
                  <a:schemeClr val="bg1"/>
                </a:solidFill>
              </a:rPr>
              <a:t>Strengthen the loyalty </a:t>
            </a:r>
            <a:r>
              <a:rPr lang="en-US" b="1" dirty="0" err="1">
                <a:solidFill>
                  <a:schemeClr val="bg1"/>
                </a:solidFill>
              </a:rPr>
              <a:t>programme</a:t>
            </a:r>
            <a:r>
              <a:rPr lang="en-US" dirty="0">
                <a:solidFill>
                  <a:schemeClr val="bg1"/>
                </a:solidFill>
              </a:rPr>
              <a:t> by rewarding high-value Gold and Silver members while encouraging Bronze and non-loyalty customers to increase their spending through targeted incentives. </a:t>
            </a:r>
          </a:p>
          <a:p>
            <a:pPr marL="285750" indent="-285750">
              <a:buFont typeface="Arial" panose="020B0604020202020204" pitchFamily="34" charset="0"/>
              <a:buChar char="•"/>
            </a:pPr>
            <a:r>
              <a:rPr lang="en-US" b="1" dirty="0">
                <a:solidFill>
                  <a:schemeClr val="bg1"/>
                </a:solidFill>
              </a:rPr>
              <a:t>Maintain customer engagement</a:t>
            </a:r>
            <a:r>
              <a:rPr lang="en-US" dirty="0">
                <a:solidFill>
                  <a:schemeClr val="bg1"/>
                </a:solidFill>
              </a:rPr>
              <a:t> by continuing </a:t>
            </a:r>
            <a:r>
              <a:rPr lang="en-US" dirty="0" err="1">
                <a:solidFill>
                  <a:schemeClr val="bg1"/>
                </a:solidFill>
              </a:rPr>
              <a:t>personalised</a:t>
            </a:r>
            <a:r>
              <a:rPr lang="en-US" dirty="0">
                <a:solidFill>
                  <a:schemeClr val="bg1"/>
                </a:solidFill>
              </a:rPr>
              <a:t> marketing campaigns, as no active loyalty customers qualified for a win-back campaign during the reporting period. </a:t>
            </a:r>
          </a:p>
          <a:p>
            <a:pPr marL="285750" indent="-285750">
              <a:buFont typeface="Arial" panose="020B0604020202020204" pitchFamily="34" charset="0"/>
              <a:buChar char="•"/>
            </a:pPr>
            <a:r>
              <a:rPr lang="en-US" b="1" dirty="0">
                <a:solidFill>
                  <a:schemeClr val="bg1"/>
                </a:solidFill>
              </a:rPr>
              <a:t>Improve product master data quality</a:t>
            </a:r>
            <a:r>
              <a:rPr lang="en-US" dirty="0">
                <a:solidFill>
                  <a:schemeClr val="bg1"/>
                </a:solidFill>
              </a:rPr>
              <a:t> by assigning categories to products with missing classifications to enhance reporting accuracy and business insights. </a:t>
            </a:r>
          </a:p>
          <a:p>
            <a:pPr marL="285750" indent="-285750">
              <a:buFont typeface="Arial" panose="020B0604020202020204" pitchFamily="34" charset="0"/>
              <a:buChar char="•"/>
            </a:pPr>
            <a:r>
              <a:rPr lang="en-US" b="1" dirty="0" err="1">
                <a:solidFill>
                  <a:schemeClr val="bg1"/>
                </a:solidFill>
              </a:rPr>
              <a:t>Optimise</a:t>
            </a:r>
            <a:r>
              <a:rPr lang="en-US" b="1" dirty="0">
                <a:solidFill>
                  <a:schemeClr val="bg1"/>
                </a:solidFill>
              </a:rPr>
              <a:t> inventory management</a:t>
            </a:r>
            <a:r>
              <a:rPr lang="en-US" dirty="0">
                <a:solidFill>
                  <a:schemeClr val="bg1"/>
                </a:solidFill>
              </a:rPr>
              <a:t> by continuing to monitor stock levels and reorder thresholds to </a:t>
            </a:r>
            <a:r>
              <a:rPr lang="en-US" dirty="0" err="1">
                <a:solidFill>
                  <a:schemeClr val="bg1"/>
                </a:solidFill>
              </a:rPr>
              <a:t>minimise</a:t>
            </a:r>
            <a:r>
              <a:rPr lang="en-US" dirty="0">
                <a:solidFill>
                  <a:schemeClr val="bg1"/>
                </a:solidFill>
              </a:rPr>
              <a:t> the risk of stock shortages while avoiding overstocking. </a:t>
            </a:r>
          </a:p>
          <a:p>
            <a:pPr marL="285750" indent="-285750">
              <a:buFont typeface="Arial" panose="020B0604020202020204" pitchFamily="34" charset="0"/>
              <a:buChar char="•"/>
            </a:pPr>
            <a:r>
              <a:rPr lang="en-US" b="1" dirty="0">
                <a:solidFill>
                  <a:schemeClr val="bg1"/>
                </a:solidFill>
              </a:rPr>
              <a:t>Use data-driven decision making</a:t>
            </a:r>
            <a:r>
              <a:rPr lang="en-US" dirty="0">
                <a:solidFill>
                  <a:schemeClr val="bg1"/>
                </a:solidFill>
              </a:rPr>
              <a:t> by leveraging the data warehouse and business intelligence queries to support strategic planning, sales analysis, and operational performance.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0E1F"/>
        </a:solidFill>
        <a:effectLst/>
      </p:bgPr>
    </p:bg>
    <p:spTree>
      <p:nvGrpSpPr>
        <p:cNvPr id="1" name="">
          <a:extLst>
            <a:ext uri="{FF2B5EF4-FFF2-40B4-BE49-F238E27FC236}">
              <a16:creationId xmlns:a16="http://schemas.microsoft.com/office/drawing/2014/main" id="{D518B0DC-F202-1374-8BBB-69957FE0A09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4304F3B-B502-9611-F1D6-6024B417C80D}"/>
              </a:ext>
            </a:extLst>
          </p:cNvPr>
          <p:cNvSpPr/>
          <p:nvPr/>
        </p:nvSpPr>
        <p:spPr>
          <a:xfrm>
            <a:off x="0" y="3246120"/>
            <a:ext cx="12188952" cy="27432"/>
          </a:xfrm>
          <a:prstGeom prst="rect">
            <a:avLst/>
          </a:prstGeom>
          <a:solidFill>
            <a:srgbClr val="F472B6"/>
          </a:solidFill>
          <a:ln/>
        </p:spPr>
        <p:txBody>
          <a:bodyPr/>
          <a:lstStyle/>
          <a:p>
            <a:endParaRPr lang="en-US"/>
          </a:p>
        </p:txBody>
      </p:sp>
      <p:sp>
        <p:nvSpPr>
          <p:cNvPr id="3" name="Text 1">
            <a:extLst>
              <a:ext uri="{FF2B5EF4-FFF2-40B4-BE49-F238E27FC236}">
                <a16:creationId xmlns:a16="http://schemas.microsoft.com/office/drawing/2014/main" id="{53C6D170-1B9F-64DC-DEF3-5A1AACD3EBE9}"/>
              </a:ext>
            </a:extLst>
          </p:cNvPr>
          <p:cNvSpPr/>
          <p:nvPr/>
        </p:nvSpPr>
        <p:spPr>
          <a:xfrm>
            <a:off x="822960" y="1346662"/>
            <a:ext cx="9144000" cy="914400"/>
          </a:xfrm>
          <a:prstGeom prst="rect">
            <a:avLst/>
          </a:prstGeom>
          <a:noFill/>
          <a:ln/>
        </p:spPr>
        <p:txBody>
          <a:bodyPr wrap="square" lIns="0" tIns="0" rIns="0" bIns="0" rtlCol="0" anchor="ctr"/>
          <a:lstStyle/>
          <a:p>
            <a:pPr marL="0" indent="0" algn="ctr">
              <a:buNone/>
            </a:pPr>
            <a:r>
              <a:rPr lang="en-US" sz="6600" b="1" dirty="0">
                <a:solidFill>
                  <a:srgbClr val="E9ECF8"/>
                </a:solidFill>
                <a:latin typeface="Georgia" pitchFamily="34" charset="0"/>
                <a:ea typeface="Georgia" pitchFamily="34" charset="-122"/>
                <a:cs typeface="Georgia" pitchFamily="34" charset="-120"/>
              </a:rPr>
              <a:t>Thank you</a:t>
            </a:r>
            <a:endParaRPr lang="en-US" sz="6600" dirty="0"/>
          </a:p>
        </p:txBody>
      </p:sp>
      <p:sp>
        <p:nvSpPr>
          <p:cNvPr id="4" name="Text 2">
            <a:extLst>
              <a:ext uri="{FF2B5EF4-FFF2-40B4-BE49-F238E27FC236}">
                <a16:creationId xmlns:a16="http://schemas.microsoft.com/office/drawing/2014/main" id="{B42993C9-0AD0-4805-A819-D98A1D6AFCF9}"/>
              </a:ext>
            </a:extLst>
          </p:cNvPr>
          <p:cNvSpPr/>
          <p:nvPr/>
        </p:nvSpPr>
        <p:spPr>
          <a:xfrm>
            <a:off x="822960" y="3429000"/>
            <a:ext cx="9601200" cy="457200"/>
          </a:xfrm>
          <a:prstGeom prst="rect">
            <a:avLst/>
          </a:prstGeom>
          <a:noFill/>
          <a:ln/>
        </p:spPr>
        <p:txBody>
          <a:bodyPr wrap="square" lIns="0" tIns="0" rIns="0" bIns="0" rtlCol="0" anchor="ctr"/>
          <a:lstStyle/>
          <a:p>
            <a:pPr marL="0" indent="0">
              <a:buNone/>
            </a:pPr>
            <a:r>
              <a:rPr lang="en-US" sz="1400" i="1" dirty="0">
                <a:solidFill>
                  <a:srgbClr val="9098BD"/>
                </a:solidFill>
                <a:latin typeface="Georgia" pitchFamily="34" charset="0"/>
                <a:ea typeface="Georgia" pitchFamily="34" charset="-122"/>
                <a:cs typeface="Georgia" pitchFamily="34" charset="-120"/>
              </a:rPr>
              <a:t>BrightLearn Data Warehouse Build ,  Data Analyst &amp; Junior Data Engineer portfolio project</a:t>
            </a:r>
            <a:endParaRPr lang="en-US" sz="1400" dirty="0"/>
          </a:p>
        </p:txBody>
      </p:sp>
      <p:sp>
        <p:nvSpPr>
          <p:cNvPr id="5" name="Text 3">
            <a:extLst>
              <a:ext uri="{FF2B5EF4-FFF2-40B4-BE49-F238E27FC236}">
                <a16:creationId xmlns:a16="http://schemas.microsoft.com/office/drawing/2014/main" id="{50E79E61-3F80-9EED-35DC-60939803ED53}"/>
              </a:ext>
            </a:extLst>
          </p:cNvPr>
          <p:cNvSpPr/>
          <p:nvPr/>
        </p:nvSpPr>
        <p:spPr>
          <a:xfrm>
            <a:off x="822960" y="6035040"/>
            <a:ext cx="7315200" cy="365760"/>
          </a:xfrm>
          <a:prstGeom prst="rect">
            <a:avLst/>
          </a:prstGeom>
          <a:noFill/>
          <a:ln/>
        </p:spPr>
        <p:txBody>
          <a:bodyPr wrap="square" lIns="0" tIns="0" rIns="0" bIns="0" rtlCol="0" anchor="ctr"/>
          <a:lstStyle/>
          <a:p>
            <a:pPr marL="0" indent="0">
              <a:buNone/>
            </a:pPr>
            <a:r>
              <a:rPr lang="en-US" sz="1200" dirty="0">
                <a:solidFill>
                  <a:srgbClr val="9098BD"/>
                </a:solidFill>
                <a:latin typeface="Consolas" pitchFamily="34" charset="0"/>
                <a:ea typeface="Consolas" pitchFamily="34" charset="-122"/>
                <a:cs typeface="Consolas" pitchFamily="34" charset="-120"/>
              </a:rPr>
              <a:t>Tshifhiwa Tshikosi</a:t>
            </a:r>
            <a:endParaRPr lang="en-US" sz="1200" dirty="0"/>
          </a:p>
        </p:txBody>
      </p:sp>
    </p:spTree>
    <p:extLst>
      <p:ext uri="{BB962C8B-B14F-4D97-AF65-F5344CB8AC3E}">
        <p14:creationId xmlns:p14="http://schemas.microsoft.com/office/powerpoint/2010/main" val="28315901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235</TotalTime>
  <Words>1404</Words>
  <Application>Microsoft Office PowerPoint</Application>
  <PresentationFormat>Widescreen</PresentationFormat>
  <Paragraphs>205</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PHILELO MPHAGA</cp:lastModifiedBy>
  <cp:revision>2</cp:revision>
  <dcterms:created xsi:type="dcterms:W3CDTF">2026-07-24T08:59:45Z</dcterms:created>
  <dcterms:modified xsi:type="dcterms:W3CDTF">2026-07-24T12:58:48Z</dcterms:modified>
</cp:coreProperties>
</file>